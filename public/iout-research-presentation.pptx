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72"/>
      </p:cViewPr>
      <p:guideLst/>
    </p:cSldViewPr>
  </p:slideViewPr>
  <p:notesTextViewPr>
    <p:cViewPr>
      <p:scale>
        <a:sx n="1" d="1"/>
        <a:sy n="1" d="1"/>
      </p:scale>
      <p:origin x="0" y="0"/>
    </p:cViewPr>
  </p:notesTextViewPr>
  <p:sorterViewPr>
    <p:cViewPr>
      <p:scale>
        <a:sx n="100" d="100"/>
        <a:sy n="100" d="100"/>
      </p:scale>
      <p:origin x="0" y="-56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3272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opens by introducing the topic as an information security research review focused on underwater networks. Explain that this presentation does not propose a new spoofing detection algorithm. It reviews and compares ten representative physical-layer authentication studies. Emphasize the key idea: underwater nodes may be logically impersonated, but their acoustic channel behavior can provide evidence of their physical origin. The deck moves step by step from IoUT basics to spoofing attacks, PLA, method families, comparison, challenges, recommendations, and social usefulness.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topic matters beyond theory. IoUT systems can support environmental observation, disaster-warning systems, underwater surveillance, and infrastructure monitoring. If a malicious node injects false data, the system may make decisions using incorrect information. That means spoofing is not just a network attack; it can affect monitoring accuracy, trust, and operational safety. The main motivation of the paper is to understand how physical-layer authentication can help detect and reject such false transmissions in the difficult underwater environment.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IoUT can be explained as the underwater version of networked sensing and communication. The basic architecture includes underwater sensors, mobile devices such as AUVs, surface sinks, and monitoring stations. Data normally starts at underwater sensors, travels through acoustic links, reaches a surface sink, and then moves to a terrestrial or cloud-based monitoring system. This architecture creates many useful applications, but it also creates a difficult authentication problem because the communication channel is underwater, mobile, noisy, and resource-constrained.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IoT security assumptions do not transfer directly to underwater networks. In water, RF signals attenuate quickly, so acoustic communication is commonly used. Acoustic links are slow, narrow-band, noisy, and affected by multipath and Doppler effects. Many underwater nodes also run on batteries that are difficult to replace. This means long handshakes, frequent retransmissions, and heavy cryptographic exchanges can become expensive. The paper argues that IoUT authentication must respect both security goals and underwater communication constraints.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Spoofing in IoUT is an identity-deception attack. A malicious transmitter may use a legitimate node identifier or imitate its packet format. If the receiver trusts that packet, false data can enter the monitoring or routing process. The paper treats spoofing and impersonation as closely related because both involve a mismatch between the claimed logical identity and the real physical origin of the signal. This mismatch is the opportunity that physical-layer authentication tries to detect using channel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Spoofing defense is hard because the underwater channel itself is unstable. A legitimate sensor or AUV may move, the water environment may change, and the multipath structure may vary over time. If authentication relies on a fixed channel fingerprint, a real node may be falsely rejected. At the same time, underwater nodes cannot afford repeated retransmissions or expensive authentication traffic. This creates the central challenge: the defense must detect spoofing while avoiding false alarms caused by normal underwater dynamics.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clarifies the academic aim of the work. The paper is not proposing a new model, algorithm, dataset, or experimental implementation. Instead, it reviews ten representative studies to answer four research questions. These questions guide the full presentation: which physical-layer features are used, how learning-based PLA methods differ, which practical assumptions each method depends on, and what gaps still block real deployment. The contribution is the structured comparison, taxonomy, and research direction for practical IoUT spoofing defense.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Physical-layer authentication uses the communication link itself as an authentication source. A malicious node can copy a packet ID, but it cannot easily recreate the exact acoustic path between a legitimate transmitter and receiver. The receiver can therefore compare claimed identity with physical evidence such as CIR, PDP, delay behavior, time-reversal response, or location consistency. The key point is that PLA works as a complementary defense. It improves identity verification, but it still has practical limits such as channel drift, training needs, and deployment assumptions.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describes PLA as a pipeline. First, the receiver obtains a packet or acoustic observation. Second, it extracts channel-dependent features such as CIR, PDP, arrival delay, location estimates, or historical fingerprint differences. Third, a decision method compares, classifies, predicts, or fuses the evidence. Fourth, the packet or node is marked legitimate, suspicious, or unauthenticated. Finally, the security action happens: accept, reject, flag, isolate, ignore, or ask for re-authentication. This is how detection becomes operational prevention.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audience the map of the reviewed literature. The ten studies are not all solving the same subproblem. Some learn adaptive thresholds, some classify channel fingerprints, some predict mobile channel evolution, some use location consistency, and others fuse evidence from trusted nodes. Time-reversal and historical CIR methods use multipath and stored channel behavior as security evidence. The purpose of the review is to compare these families carefully rather than claim that one method is universally best.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and DRL authentication are useful when the correct threshold is uncertain. Xiao et al. use PDP evidence and adjust authentication decisions through learning. This helps in dynamic settings but may increase computation and training cost. The SVM-based direction in Zhao et al. addresses a different practical issue: real attacker data may be difficult to collect underwater. It uses CIR-related features and avoids requiring real adversary training samples. This makes it attractive for resource-constrained networks, although the legitimate channel database still has to remain useful.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can begin here by explaining that mobility is one of the biggest differences between underwater authentication and simple static fingerprinting. AUVs, drifting nodes, and mobile relays naturally change their channel behavior. If a method assumes the channel is fixed, it may reject a valid mobile node. RNN/LSTM methods predict the evolution of channel features, while location-tracking approaches estimate and predict a node path. The common goal is to treat legitimate movement as expected behavior while still detecting abnormal deviations.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use physical diversity and channel history. Cooperative authentication uses trusted nodes so that the sink does not depend on one receiver only. Time-reversal authentication uses multipath focusing behavior as a link signature, which is interesting because multipath becomes useful security evidence instead of only a communication problem. Database-based and differential CIR methods compare present channel observations with historical link fingerprints. They are suitable for dynamic channels, but they introduce database aging, update, and storage challenges.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synthesizes the literature instead of listing papers one by one. The review groups the studies into six research directions. Aman et al. provide an underwater impersonation baseline using hypothesis testing. Xiao et al. focus on learning adaptive authentication parameters. Zhao et al. address adversary-data scarcity. Casari, Ardizzon, and Ventura handle mobility and location consistency. Diamant et al. use cooperative verification. Other Zhao and Shi works use time-reversal, database, and differential CIR logic. This grouping makes the review more viva-defensible.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comparison dimensions used in the review. The paper does not copy results into a direct accuracy ranking, because the studies use different models, physical features, metrics, and validation settings. Instead, the review compares three types of evidence. The technical view covers attack model, PLA feature, and decision method. The deployment view covers adversary data, mobility support, and evaluation type. The practical view covers strength, limitation, and deployment assumption. This makes the comparison fairer and more academically defensible.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qualitative comparison, not a direct accuracy ranking. The reviewed studies use different channel models, attack assumptions, datasets, metrics, and validation settings, so ranking them numerically would be misleading. The table compares method families using adaptability, energy or computation cost, mobility support, and deployment concern. RL and deep learning methods are adaptive but heavier. SVM is practical when attacker samples are unavailable. Mobility-aware methods are strong for moving nodes. Cooperative, time-reversal, database, and differential CIR methods are useful, but each depends on specific deployment assumptions.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multidimensional because one method can belong to more than one category. For example, a method may use CIR as a physical feature but SVM as its decision mechanism. Another may use location behavior with CNN localization and mobility prediction. The taxonomy separates feature source, decision mechanism, and deployment condition. This helps the audience understand that PLA is not one single technique. It is a family of authentication designs built around different channel evidence and different operational assumptions.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emphasizes that PLA is promising, but not deployment-ready in every setting. There are few common benchmarks, so fair comparison is difficult. Mobility can make legitimate nodes look suspicious. False acceptance and false rejection must be balanced carefully because retransmission is costly underwater. Real attacker data is scarce, and deep learning or cooperative methods may increase computation and communication overhead. Historical databases can age, localization may be inaccurate, and trusted helper nodes may not always exist. These challenges explain why no method dominates all scenarios.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merged slide connects recommendations with future research. The recommendations follow directly from the identified gaps: lightweight models for energy limits, adaptive thresholds for dynamic channels, mobility-aware prediction for AUVs and drifting nodes, adversary-data-free approaches when attacker samples are unavailable, and better benchmarking for fair comparison. Future work should also study online learning carefully, because models must adapt without learning attacker behavior as normal. Transfer learning, federated learning, hybrid authentication, model compression, robustness, and explainability are important directions, but they should be treated as future directions rather than already proven deployment results.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content slide connects the research to learning and social value. For students, the paper is useful because it shows how information security changes when the network environment changes. It connects security, machine learning, signal processing, and networking. It also teaches how to compare research honestly without overstating results. For society, secure IoUT can support safer monitoring, disaster warning, environmental sensing, and underwater infrastructure protection. The closing message is that securing underwater communication protects the trustworthiness of future ocean systems.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is included for academic completeness and should not be treated as part of the main 20-minute content. It helps the presenters answer viva questions about where each method family came from. Keep the slide compact and avoid reading every reference aloud. Instead, use it as a backup if the instructor asks which papers support a specific method. The main presentation should end clearly on Slide 20, and this reference key should remain available afterward.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Shape 11"/>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14" name="Shape 12"/>
          <p:cNvSpPr/>
          <p:nvPr/>
        </p:nvSpPr>
        <p:spPr>
          <a:xfrm>
            <a:off x="6583680" y="1097280"/>
            <a:ext cx="4114800" cy="1828800"/>
          </a:xfrm>
          <a:prstGeom prst="arc">
            <a:avLst/>
          </a:prstGeom>
          <a:noFill/>
          <a:ln w="16510">
            <a:solidFill>
              <a:srgbClr val="65E4F5">
                <a:alpha val="90000"/>
              </a:srgbClr>
            </a:solidFill>
            <a:prstDash val="solid"/>
          </a:ln>
        </p:spPr>
        <p:txBody>
          <a:bodyPr/>
          <a:lstStyle/>
          <a:p>
            <a:endParaRPr lang="en-US"/>
          </a:p>
        </p:txBody>
      </p:sp>
      <p:sp>
        <p:nvSpPr>
          <p:cNvPr id="15" name="Shape 13"/>
          <p:cNvSpPr/>
          <p:nvPr/>
        </p:nvSpPr>
        <p:spPr>
          <a:xfrm>
            <a:off x="7086600" y="1417320"/>
            <a:ext cx="3154680" cy="1234440"/>
          </a:xfrm>
          <a:prstGeom prst="arc">
            <a:avLst/>
          </a:prstGeom>
          <a:noFill/>
          <a:ln w="12700">
            <a:solidFill>
              <a:srgbClr val="00A7B5">
                <a:alpha val="75000"/>
              </a:srgbClr>
            </a:solidFill>
            <a:prstDash val="solid"/>
          </a:ln>
        </p:spPr>
        <p:txBody>
          <a:bodyPr/>
          <a:lstStyle/>
          <a:p>
            <a:endParaRPr lang="en-US"/>
          </a:p>
        </p:txBody>
      </p:sp>
      <p:sp>
        <p:nvSpPr>
          <p:cNvPr id="16" name="Shape 14"/>
          <p:cNvSpPr/>
          <p:nvPr/>
        </p:nvSpPr>
        <p:spPr>
          <a:xfrm>
            <a:off x="7955280" y="4160520"/>
            <a:ext cx="2011680" cy="0"/>
          </a:xfrm>
          <a:prstGeom prst="line">
            <a:avLst/>
          </a:prstGeom>
          <a:noFill/>
          <a:ln w="15240">
            <a:solidFill>
              <a:srgbClr val="65E4F5">
                <a:alpha val="85000"/>
              </a:srgbClr>
            </a:solidFill>
            <a:prstDash val="solid"/>
          </a:ln>
        </p:spPr>
        <p:txBody>
          <a:bodyPr/>
          <a:lstStyle/>
          <a:p>
            <a:endParaRPr lang="en-US"/>
          </a:p>
        </p:txBody>
      </p:sp>
      <p:sp>
        <p:nvSpPr>
          <p:cNvPr id="17" name="Shape 15"/>
          <p:cNvSpPr/>
          <p:nvPr/>
        </p:nvSpPr>
        <p:spPr>
          <a:xfrm>
            <a:off x="7315200" y="3977640"/>
            <a:ext cx="347472" cy="347472"/>
          </a:xfrm>
          <a:prstGeom prst="ellipse">
            <a:avLst/>
          </a:prstGeom>
          <a:solidFill>
            <a:srgbClr val="00A7B5"/>
          </a:solidFill>
          <a:ln w="12700">
            <a:solidFill>
              <a:srgbClr val="65E4F5"/>
            </a:solidFill>
            <a:prstDash val="solid"/>
          </a:ln>
        </p:spPr>
        <p:txBody>
          <a:bodyPr/>
          <a:lstStyle/>
          <a:p>
            <a:endParaRPr lang="en-US"/>
          </a:p>
        </p:txBody>
      </p:sp>
      <p:sp>
        <p:nvSpPr>
          <p:cNvPr id="18" name="Shape 16"/>
          <p:cNvSpPr/>
          <p:nvPr/>
        </p:nvSpPr>
        <p:spPr>
          <a:xfrm>
            <a:off x="10058400" y="3977640"/>
            <a:ext cx="347472" cy="347472"/>
          </a:xfrm>
          <a:prstGeom prst="ellipse">
            <a:avLst/>
          </a:prstGeom>
          <a:solidFill>
            <a:srgbClr val="00A7B5"/>
          </a:solidFill>
          <a:ln w="12700">
            <a:solidFill>
              <a:srgbClr val="65E4F5"/>
            </a:solidFill>
            <a:prstDash val="solid"/>
          </a:ln>
        </p:spPr>
        <p:txBody>
          <a:bodyPr/>
          <a:lstStyle/>
          <a:p>
            <a:endParaRPr lang="en-US"/>
          </a:p>
        </p:txBody>
      </p:sp>
      <p:sp>
        <p:nvSpPr>
          <p:cNvPr id="19" name="Text 17"/>
          <p:cNvSpPr/>
          <p:nvPr/>
        </p:nvSpPr>
        <p:spPr>
          <a:xfrm>
            <a:off x="594360" y="960120"/>
            <a:ext cx="6583680" cy="1234440"/>
          </a:xfrm>
          <a:prstGeom prst="rect">
            <a:avLst/>
          </a:prstGeom>
          <a:noFill/>
          <a:ln/>
        </p:spPr>
        <p:txBody>
          <a:bodyPr wrap="square" lIns="0" tIns="0" rIns="0" bIns="0" rtlCol="0" anchor="ctr">
            <a:normAutofit lnSpcReduction="10000"/>
          </a:bodyPr>
          <a:lstStyle/>
          <a:p>
            <a:pPr marL="0" indent="0">
              <a:buNone/>
            </a:pPr>
            <a:r>
              <a:rPr lang="en-US" sz="2850" b="1" dirty="0">
                <a:solidFill>
                  <a:srgbClr val="FFFFFF"/>
                </a:solidFill>
                <a:latin typeface="Aptos Display" pitchFamily="34" charset="0"/>
                <a:ea typeface="Aptos Display" pitchFamily="34" charset="-122"/>
                <a:cs typeface="Aptos Display" pitchFamily="34" charset="-120"/>
              </a:rPr>
              <a:t>Detection and Prevention of</a:t>
            </a:r>
            <a:endParaRPr lang="en-US" sz="2850" dirty="0"/>
          </a:p>
          <a:p>
            <a:pPr marL="0" indent="0">
              <a:buNone/>
            </a:pPr>
            <a:r>
              <a:rPr lang="en-US" sz="2850" b="1" dirty="0">
                <a:solidFill>
                  <a:srgbClr val="FFFFFF"/>
                </a:solidFill>
                <a:latin typeface="Aptos Display" pitchFamily="34" charset="0"/>
                <a:ea typeface="Aptos Display" pitchFamily="34" charset="-122"/>
                <a:cs typeface="Aptos Display" pitchFamily="34" charset="-120"/>
              </a:rPr>
              <a:t>Spoofing Attacks in the</a:t>
            </a:r>
            <a:endParaRPr lang="en-US" sz="2850" dirty="0"/>
          </a:p>
          <a:p>
            <a:pPr marL="0" indent="0">
              <a:buNone/>
            </a:pPr>
            <a:r>
              <a:rPr lang="en-US" sz="2850" b="1" dirty="0">
                <a:solidFill>
                  <a:srgbClr val="FFFFFF"/>
                </a:solidFill>
                <a:latin typeface="Aptos Display" pitchFamily="34" charset="0"/>
                <a:ea typeface="Aptos Display" pitchFamily="34" charset="-122"/>
                <a:cs typeface="Aptos Display" pitchFamily="34" charset="-120"/>
              </a:rPr>
              <a:t>Internet of Underwater Things</a:t>
            </a:r>
            <a:endParaRPr lang="en-US" sz="2850" dirty="0"/>
          </a:p>
        </p:txBody>
      </p:sp>
      <p:sp>
        <p:nvSpPr>
          <p:cNvPr id="20" name="Text 18"/>
          <p:cNvSpPr/>
          <p:nvPr/>
        </p:nvSpPr>
        <p:spPr>
          <a:xfrm>
            <a:off x="612648" y="2468880"/>
            <a:ext cx="6766560" cy="329184"/>
          </a:xfrm>
          <a:prstGeom prst="rect">
            <a:avLst/>
          </a:prstGeom>
          <a:noFill/>
          <a:ln/>
        </p:spPr>
        <p:txBody>
          <a:bodyPr wrap="square" lIns="0" tIns="0" rIns="0" bIns="0" rtlCol="0" anchor="ctr"/>
          <a:lstStyle/>
          <a:p>
            <a:pPr marL="0" indent="0">
              <a:buNone/>
            </a:pPr>
            <a:r>
              <a:rPr lang="en-US" sz="1430" dirty="0">
                <a:solidFill>
                  <a:srgbClr val="B9F7FF"/>
                </a:solidFill>
                <a:latin typeface="Aptos" pitchFamily="34" charset="0"/>
                <a:ea typeface="Aptos" pitchFamily="34" charset="-122"/>
                <a:cs typeface="Aptos" pitchFamily="34" charset="-120"/>
              </a:rPr>
              <a:t>A Comparative Review of Learning-Based Physical-Layer Authentication Techniques</a:t>
            </a:r>
            <a:endParaRPr lang="en-US" sz="1430" dirty="0"/>
          </a:p>
        </p:txBody>
      </p:sp>
      <p:sp>
        <p:nvSpPr>
          <p:cNvPr id="21" name="Shape 19"/>
          <p:cNvSpPr/>
          <p:nvPr/>
        </p:nvSpPr>
        <p:spPr>
          <a:xfrm>
            <a:off x="612648" y="2999232"/>
            <a:ext cx="5029200" cy="0"/>
          </a:xfrm>
          <a:prstGeom prst="line">
            <a:avLst/>
          </a:prstGeom>
          <a:noFill/>
          <a:ln w="25400">
            <a:solidFill>
              <a:srgbClr val="00A7B5"/>
            </a:solidFill>
            <a:prstDash val="solid"/>
          </a:ln>
        </p:spPr>
        <p:txBody>
          <a:bodyPr/>
          <a:lstStyle/>
          <a:p>
            <a:endParaRPr lang="en-US"/>
          </a:p>
        </p:txBody>
      </p:sp>
      <p:sp>
        <p:nvSpPr>
          <p:cNvPr id="22" name="Text 20"/>
          <p:cNvSpPr/>
          <p:nvPr/>
        </p:nvSpPr>
        <p:spPr>
          <a:xfrm>
            <a:off x="621792" y="3337560"/>
            <a:ext cx="5303520" cy="822960"/>
          </a:xfrm>
          <a:prstGeom prst="rect">
            <a:avLst/>
          </a:prstGeom>
          <a:noFill/>
          <a:ln/>
        </p:spPr>
        <p:txBody>
          <a:bodyPr wrap="square" lIns="0" tIns="0" rIns="0" bIns="0" rtlCol="0" anchor="ctr"/>
          <a:lstStyle/>
          <a:p>
            <a:pPr marL="0" indent="0">
              <a:buNone/>
            </a:pPr>
            <a:r>
              <a:rPr lang="en-US" sz="1400" dirty="0">
                <a:solidFill>
                  <a:srgbClr val="EAF7FB"/>
                </a:solidFill>
                <a:latin typeface="Aptos" pitchFamily="34" charset="0"/>
                <a:ea typeface="Aptos" pitchFamily="34" charset="-122"/>
                <a:cs typeface="Aptos" pitchFamily="34" charset="-120"/>
              </a:rPr>
              <a:t>Sehrish Siddique and Tatheer Zahra</a:t>
            </a:r>
            <a:endParaRPr lang="en-US" sz="1400" dirty="0"/>
          </a:p>
          <a:p>
            <a:pPr marL="0" indent="0">
              <a:buNone/>
            </a:pPr>
            <a:r>
              <a:rPr lang="en-US" sz="1400" dirty="0">
                <a:solidFill>
                  <a:srgbClr val="EAF7FB"/>
                </a:solidFill>
                <a:latin typeface="Aptos" pitchFamily="34" charset="0"/>
                <a:ea typeface="Aptos" pitchFamily="34" charset="-122"/>
                <a:cs typeface="Aptos" pitchFamily="34" charset="-120"/>
              </a:rPr>
              <a:t>Introduction to Information Security</a:t>
            </a:r>
            <a:endParaRPr lang="en-US" sz="1400" dirty="0"/>
          </a:p>
          <a:p>
            <a:pPr marL="0" indent="0">
              <a:buNone/>
            </a:pPr>
            <a:r>
              <a:rPr lang="en-US" sz="1400" dirty="0">
                <a:solidFill>
                  <a:srgbClr val="EAF7FB"/>
                </a:solidFill>
                <a:latin typeface="Aptos" pitchFamily="34" charset="0"/>
                <a:ea typeface="Aptos" pitchFamily="34" charset="-122"/>
                <a:cs typeface="Aptos" pitchFamily="34" charset="-120"/>
              </a:rPr>
              <a:t>Semester Research Project</a:t>
            </a:r>
            <a:endParaRPr lang="en-US" sz="1400" dirty="0"/>
          </a:p>
        </p:txBody>
      </p:sp>
      <p:sp>
        <p:nvSpPr>
          <p:cNvPr id="23" name="Shape 21"/>
          <p:cNvSpPr/>
          <p:nvPr/>
        </p:nvSpPr>
        <p:spPr>
          <a:xfrm>
            <a:off x="621792" y="4572000"/>
            <a:ext cx="2286000" cy="841248"/>
          </a:xfrm>
          <a:prstGeom prst="roundRect">
            <a:avLst>
              <a:gd name="adj" fmla="val 16923"/>
            </a:avLst>
          </a:prstGeom>
          <a:solidFill>
            <a:srgbClr val="0A243D"/>
          </a:solidFill>
          <a:ln w="12700">
            <a:solidFill>
              <a:srgbClr val="1B5676">
                <a:alpha val="95000"/>
              </a:srgbClr>
            </a:solidFill>
            <a:prstDash val="solid"/>
          </a:ln>
        </p:spPr>
        <p:txBody>
          <a:bodyPr/>
          <a:lstStyle/>
          <a:p>
            <a:endParaRPr lang="en-US"/>
          </a:p>
        </p:txBody>
      </p:sp>
      <p:sp>
        <p:nvSpPr>
          <p:cNvPr id="24" name="Text 22"/>
          <p:cNvSpPr/>
          <p:nvPr/>
        </p:nvSpPr>
        <p:spPr>
          <a:xfrm>
            <a:off x="786384" y="4718304"/>
            <a:ext cx="195681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Comparative Review</a:t>
            </a:r>
            <a:endParaRPr lang="en-US" sz="1250" dirty="0"/>
          </a:p>
        </p:txBody>
      </p:sp>
      <p:sp>
        <p:nvSpPr>
          <p:cNvPr id="25" name="Text 23"/>
          <p:cNvSpPr/>
          <p:nvPr/>
        </p:nvSpPr>
        <p:spPr>
          <a:xfrm>
            <a:off x="804672" y="5074920"/>
            <a:ext cx="1938528" cy="9144"/>
          </a:xfrm>
          <a:prstGeom prst="rect">
            <a:avLst/>
          </a:prstGeom>
          <a:noFill/>
          <a:ln/>
        </p:spPr>
        <p:txBody>
          <a:bodyPr wrap="square" lIns="254" tIns="254" rIns="254" bIns="254" rtlCol="0" anchor="t">
            <a:normAutofit fontScale="25000" lnSpcReduction="20000"/>
          </a:bodyPr>
          <a:lstStyle/>
          <a:p>
            <a:pPr marL="0" indent="0">
              <a:buNone/>
            </a:pPr>
            <a:r>
              <a:rPr lang="en-US" sz="950" dirty="0">
                <a:solidFill>
                  <a:srgbClr val="EAF7FB"/>
                </a:solidFill>
                <a:latin typeface="Aptos" pitchFamily="34" charset="0"/>
                <a:ea typeface="Aptos" pitchFamily="34" charset="-122"/>
                <a:cs typeface="Aptos" pitchFamily="34" charset="-120"/>
              </a:rPr>
              <a:t>Ten representative PLA studies</a:t>
            </a:r>
            <a:endParaRPr lang="en-US" sz="950" dirty="0"/>
          </a:p>
        </p:txBody>
      </p:sp>
      <p:sp>
        <p:nvSpPr>
          <p:cNvPr id="26" name="Shape 24"/>
          <p:cNvSpPr/>
          <p:nvPr/>
        </p:nvSpPr>
        <p:spPr>
          <a:xfrm>
            <a:off x="3154680" y="4572000"/>
            <a:ext cx="1920240" cy="822960"/>
          </a:xfrm>
          <a:prstGeom prst="roundRect">
            <a:avLst>
              <a:gd name="adj" fmla="val 16923"/>
            </a:avLst>
          </a:prstGeom>
          <a:solidFill>
            <a:srgbClr val="0A243D"/>
          </a:solidFill>
          <a:ln w="12700">
            <a:solidFill>
              <a:srgbClr val="1B5676">
                <a:alpha val="95000"/>
              </a:srgbClr>
            </a:solidFill>
            <a:prstDash val="solid"/>
          </a:ln>
        </p:spPr>
        <p:txBody>
          <a:bodyPr/>
          <a:lstStyle/>
          <a:p>
            <a:endParaRPr lang="en-US"/>
          </a:p>
        </p:txBody>
      </p:sp>
      <p:sp>
        <p:nvSpPr>
          <p:cNvPr id="27" name="Text 25"/>
          <p:cNvSpPr/>
          <p:nvPr/>
        </p:nvSpPr>
        <p:spPr>
          <a:xfrm>
            <a:off x="3319272" y="4718304"/>
            <a:ext cx="15910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IoUT Security</a:t>
            </a:r>
            <a:endParaRPr lang="en-US" sz="1250" dirty="0"/>
          </a:p>
        </p:txBody>
      </p:sp>
      <p:sp>
        <p:nvSpPr>
          <p:cNvPr id="28" name="Text 26"/>
          <p:cNvSpPr/>
          <p:nvPr/>
        </p:nvSpPr>
        <p:spPr>
          <a:xfrm>
            <a:off x="3337560" y="5074920"/>
            <a:ext cx="1572768" cy="9144"/>
          </a:xfrm>
          <a:prstGeom prst="rect">
            <a:avLst/>
          </a:prstGeom>
          <a:noFill/>
          <a:ln/>
        </p:spPr>
        <p:txBody>
          <a:bodyPr wrap="square" lIns="254" tIns="254" rIns="254" bIns="254" rtlCol="0" anchor="t">
            <a:normAutofit fontScale="25000" lnSpcReduction="20000"/>
          </a:bodyPr>
          <a:lstStyle/>
          <a:p>
            <a:pPr marL="0" indent="0">
              <a:buNone/>
            </a:pPr>
            <a:r>
              <a:rPr lang="en-US" sz="950" dirty="0">
                <a:solidFill>
                  <a:srgbClr val="EAF7FB"/>
                </a:solidFill>
                <a:latin typeface="Aptos" pitchFamily="34" charset="0"/>
                <a:ea typeface="Aptos" pitchFamily="34" charset="-122"/>
                <a:cs typeface="Aptos" pitchFamily="34" charset="-120"/>
              </a:rPr>
              <a:t>Spoofing + impersonation</a:t>
            </a:r>
            <a:endParaRPr lang="en-US" sz="950" dirty="0"/>
          </a:p>
        </p:txBody>
      </p:sp>
      <p:sp>
        <p:nvSpPr>
          <p:cNvPr id="29" name="Shape 27"/>
          <p:cNvSpPr/>
          <p:nvPr/>
        </p:nvSpPr>
        <p:spPr>
          <a:xfrm>
            <a:off x="5303520" y="4572000"/>
            <a:ext cx="2560320" cy="868680"/>
          </a:xfrm>
          <a:prstGeom prst="roundRect">
            <a:avLst>
              <a:gd name="adj" fmla="val 16923"/>
            </a:avLst>
          </a:prstGeom>
          <a:solidFill>
            <a:srgbClr val="0A243D"/>
          </a:solidFill>
          <a:ln w="12700">
            <a:solidFill>
              <a:srgbClr val="1B5676">
                <a:alpha val="95000"/>
              </a:srgbClr>
            </a:solidFill>
            <a:prstDash val="solid"/>
          </a:ln>
        </p:spPr>
        <p:txBody>
          <a:bodyPr/>
          <a:lstStyle/>
          <a:p>
            <a:endParaRPr lang="en-US"/>
          </a:p>
        </p:txBody>
      </p:sp>
      <p:sp>
        <p:nvSpPr>
          <p:cNvPr id="30" name="Text 28"/>
          <p:cNvSpPr/>
          <p:nvPr/>
        </p:nvSpPr>
        <p:spPr>
          <a:xfrm>
            <a:off x="5468112" y="4718304"/>
            <a:ext cx="22311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PLA-Based Defense</a:t>
            </a:r>
            <a:endParaRPr lang="en-US" sz="1250" dirty="0"/>
          </a:p>
        </p:txBody>
      </p:sp>
      <p:sp>
        <p:nvSpPr>
          <p:cNvPr id="31" name="Text 29"/>
          <p:cNvSpPr/>
          <p:nvPr/>
        </p:nvSpPr>
        <p:spPr>
          <a:xfrm>
            <a:off x="5486400" y="5074920"/>
            <a:ext cx="2212848" cy="9144"/>
          </a:xfrm>
          <a:prstGeom prst="rect">
            <a:avLst/>
          </a:prstGeom>
          <a:noFill/>
          <a:ln/>
        </p:spPr>
        <p:txBody>
          <a:bodyPr wrap="square" lIns="254" tIns="254" rIns="254" bIns="254" rtlCol="0" anchor="t">
            <a:normAutofit fontScale="25000" lnSpcReduction="20000"/>
          </a:bodyPr>
          <a:lstStyle/>
          <a:p>
            <a:pPr marL="0" indent="0">
              <a:buNone/>
            </a:pPr>
            <a:r>
              <a:rPr lang="en-US" sz="950" dirty="0">
                <a:solidFill>
                  <a:srgbClr val="EAF7FB"/>
                </a:solidFill>
                <a:latin typeface="Aptos" pitchFamily="34" charset="0"/>
                <a:ea typeface="Aptos" pitchFamily="34" charset="-122"/>
                <a:cs typeface="Aptos" pitchFamily="34" charset="-120"/>
              </a:rPr>
              <a:t>Channel evidence for trust</a:t>
            </a:r>
            <a:endParaRPr lang="en-US" sz="950" dirty="0"/>
          </a:p>
        </p:txBody>
      </p:sp>
      <p:sp>
        <p:nvSpPr>
          <p:cNvPr id="32" name="Text 30"/>
          <p:cNvSpPr/>
          <p:nvPr/>
        </p:nvSpPr>
        <p:spPr>
          <a:xfrm>
            <a:off x="9326880" y="2240280"/>
            <a:ext cx="1143000" cy="914400"/>
          </a:xfrm>
          <a:prstGeom prst="rect">
            <a:avLst/>
          </a:prstGeom>
          <a:noFill/>
          <a:ln/>
        </p:spPr>
        <p:txBody>
          <a:bodyPr wrap="square" lIns="0" tIns="0" rIns="0" bIns="0" rtlCol="0" anchor="ctr"/>
          <a:lstStyle/>
          <a:p>
            <a:pPr marL="0" indent="0" algn="ctr">
              <a:buNone/>
            </a:pPr>
            <a:r>
              <a:rPr lang="en-US" sz="4300" dirty="0">
                <a:solidFill>
                  <a:srgbClr val="000000"/>
                </a:solidFill>
              </a:rPr>
              <a:t>🛡</a:t>
            </a:r>
            <a:endParaRPr lang="en-US" sz="4300" dirty="0"/>
          </a:p>
        </p:txBody>
      </p:sp>
      <p:sp>
        <p:nvSpPr>
          <p:cNvPr id="33" name="Text 31"/>
          <p:cNvSpPr/>
          <p:nvPr/>
        </p:nvSpPr>
        <p:spPr>
          <a:xfrm>
            <a:off x="7479792" y="3154680"/>
            <a:ext cx="3657600" cy="274320"/>
          </a:xfrm>
          <a:prstGeom prst="rect">
            <a:avLst/>
          </a:prstGeom>
          <a:noFill/>
          <a:ln/>
        </p:spPr>
        <p:txBody>
          <a:bodyPr wrap="square" lIns="0" tIns="0" rIns="0" bIns="0" rtlCol="0" anchor="ctr"/>
          <a:lstStyle/>
          <a:p>
            <a:pPr marL="0" indent="0" algn="ctr">
              <a:buNone/>
            </a:pPr>
            <a:r>
              <a:rPr lang="en-US" sz="1400" b="1" dirty="0">
                <a:solidFill>
                  <a:srgbClr val="B9F7FF"/>
                </a:solidFill>
              </a:rPr>
              <a:t>Acoustic fingerprint ≠ copied identity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2</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Why This Topic Matters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Security failure affects trust in underwater decisions</a:t>
            </a:r>
            <a:endParaRPr lang="en-US" sz="1050" dirty="0"/>
          </a:p>
        </p:txBody>
      </p:sp>
      <p:sp>
        <p:nvSpPr>
          <p:cNvPr id="18" name="Shape 16"/>
          <p:cNvSpPr/>
          <p:nvPr/>
        </p:nvSpPr>
        <p:spPr>
          <a:xfrm>
            <a:off x="777240" y="1600200"/>
            <a:ext cx="960120" cy="960120"/>
          </a:xfrm>
          <a:prstGeom prst="ellipse">
            <a:avLst/>
          </a:prstGeom>
          <a:solidFill>
            <a:srgbClr val="102E4C"/>
          </a:solidFill>
          <a:ln w="15240">
            <a:solidFill>
              <a:srgbClr val="00A7B5"/>
            </a:solidFill>
            <a:prstDash val="solid"/>
          </a:ln>
        </p:spPr>
        <p:txBody>
          <a:bodyPr/>
          <a:lstStyle/>
          <a:p>
            <a:endParaRPr lang="en-US"/>
          </a:p>
        </p:txBody>
      </p:sp>
      <p:sp>
        <p:nvSpPr>
          <p:cNvPr id="19" name="Text 17"/>
          <p:cNvSpPr/>
          <p:nvPr/>
        </p:nvSpPr>
        <p:spPr>
          <a:xfrm>
            <a:off x="822960" y="1709928"/>
            <a:ext cx="868680" cy="256032"/>
          </a:xfrm>
          <a:prstGeom prst="rect">
            <a:avLst/>
          </a:prstGeom>
          <a:noFill/>
          <a:ln/>
        </p:spPr>
        <p:txBody>
          <a:bodyPr wrap="square" lIns="0" tIns="0" rIns="0" bIns="0" rtlCol="0" anchor="ctr"/>
          <a:lstStyle/>
          <a:p>
            <a:pPr marL="0" indent="0" algn="ctr">
              <a:buNone/>
            </a:pPr>
            <a:r>
              <a:rPr lang="en-US" sz="1700" dirty="0">
                <a:solidFill>
                  <a:srgbClr val="FFFFFF"/>
                </a:solidFill>
              </a:rPr>
              <a:t>🌊</a:t>
            </a:r>
            <a:endParaRPr lang="en-US" sz="1700" dirty="0"/>
          </a:p>
        </p:txBody>
      </p:sp>
      <p:sp>
        <p:nvSpPr>
          <p:cNvPr id="20" name="Text 18"/>
          <p:cNvSpPr/>
          <p:nvPr/>
        </p:nvSpPr>
        <p:spPr>
          <a:xfrm>
            <a:off x="640080" y="2130552"/>
            <a:ext cx="1234440" cy="292608"/>
          </a:xfrm>
          <a:prstGeom prst="rect">
            <a:avLst/>
          </a:prstGeom>
          <a:noFill/>
          <a:ln/>
        </p:spPr>
        <p:txBody>
          <a:bodyPr wrap="square" lIns="0" tIns="0" rIns="0" bIns="0" rtlCol="0" anchor="ctr">
            <a:normAutofit/>
          </a:bodyPr>
          <a:lstStyle/>
          <a:p>
            <a:pPr marL="0" indent="0" algn="ctr">
              <a:buNone/>
            </a:pPr>
            <a:r>
              <a:rPr lang="en-US" sz="850" b="1" dirty="0">
                <a:solidFill>
                  <a:srgbClr val="EAF7FB"/>
                </a:solidFill>
                <a:latin typeface="Aptos" pitchFamily="34" charset="0"/>
                <a:ea typeface="Aptos" pitchFamily="34" charset="-122"/>
                <a:cs typeface="Aptos" pitchFamily="34" charset="-120"/>
              </a:rPr>
              <a:t>Marine</a:t>
            </a:r>
            <a:endParaRPr lang="en-US" sz="850" dirty="0"/>
          </a:p>
          <a:p>
            <a:pPr marL="0" indent="0" algn="ctr">
              <a:buNone/>
            </a:pPr>
            <a:r>
              <a:rPr lang="en-US" sz="850" b="1" dirty="0">
                <a:solidFill>
                  <a:srgbClr val="EAF7FB"/>
                </a:solidFill>
                <a:latin typeface="Aptos" pitchFamily="34" charset="0"/>
                <a:ea typeface="Aptos" pitchFamily="34" charset="-122"/>
                <a:cs typeface="Aptos" pitchFamily="34" charset="-120"/>
              </a:rPr>
              <a:t>monitoring</a:t>
            </a:r>
            <a:endParaRPr lang="en-US" sz="850" dirty="0"/>
          </a:p>
        </p:txBody>
      </p:sp>
      <p:sp>
        <p:nvSpPr>
          <p:cNvPr id="21" name="Shape 19"/>
          <p:cNvSpPr/>
          <p:nvPr/>
        </p:nvSpPr>
        <p:spPr>
          <a:xfrm>
            <a:off x="2148840" y="1600200"/>
            <a:ext cx="960120" cy="960120"/>
          </a:xfrm>
          <a:prstGeom prst="ellipse">
            <a:avLst/>
          </a:prstGeom>
          <a:solidFill>
            <a:srgbClr val="102E4C"/>
          </a:solidFill>
          <a:ln w="15240">
            <a:solidFill>
              <a:srgbClr val="00A7B5"/>
            </a:solidFill>
            <a:prstDash val="solid"/>
          </a:ln>
        </p:spPr>
        <p:txBody>
          <a:bodyPr/>
          <a:lstStyle/>
          <a:p>
            <a:endParaRPr lang="en-US"/>
          </a:p>
        </p:txBody>
      </p:sp>
      <p:sp>
        <p:nvSpPr>
          <p:cNvPr id="22" name="Text 20"/>
          <p:cNvSpPr/>
          <p:nvPr/>
        </p:nvSpPr>
        <p:spPr>
          <a:xfrm>
            <a:off x="2194560" y="1709928"/>
            <a:ext cx="868680" cy="256032"/>
          </a:xfrm>
          <a:prstGeom prst="rect">
            <a:avLst/>
          </a:prstGeom>
          <a:noFill/>
          <a:ln/>
        </p:spPr>
        <p:txBody>
          <a:bodyPr wrap="square" lIns="0" tIns="0" rIns="0" bIns="0" rtlCol="0" anchor="ctr"/>
          <a:lstStyle/>
          <a:p>
            <a:pPr marL="0" indent="0" algn="ctr">
              <a:buNone/>
            </a:pPr>
            <a:r>
              <a:rPr lang="en-US" sz="1700" dirty="0">
                <a:solidFill>
                  <a:srgbClr val="FFFFFF"/>
                </a:solidFill>
              </a:rPr>
              <a:t>⚠</a:t>
            </a:r>
            <a:endParaRPr lang="en-US" sz="1700" dirty="0"/>
          </a:p>
        </p:txBody>
      </p:sp>
      <p:sp>
        <p:nvSpPr>
          <p:cNvPr id="23" name="Text 21"/>
          <p:cNvSpPr/>
          <p:nvPr/>
        </p:nvSpPr>
        <p:spPr>
          <a:xfrm>
            <a:off x="2011680" y="2130552"/>
            <a:ext cx="1234440" cy="292608"/>
          </a:xfrm>
          <a:prstGeom prst="rect">
            <a:avLst/>
          </a:prstGeom>
          <a:noFill/>
          <a:ln/>
        </p:spPr>
        <p:txBody>
          <a:bodyPr wrap="square" lIns="0" tIns="0" rIns="0" bIns="0" rtlCol="0" anchor="ctr">
            <a:normAutofit/>
          </a:bodyPr>
          <a:lstStyle/>
          <a:p>
            <a:pPr marL="0" indent="0" algn="ctr">
              <a:buNone/>
            </a:pPr>
            <a:r>
              <a:rPr lang="en-US" sz="850" b="1" dirty="0">
                <a:solidFill>
                  <a:srgbClr val="EAF7FB"/>
                </a:solidFill>
                <a:latin typeface="Aptos" pitchFamily="34" charset="0"/>
                <a:ea typeface="Aptos" pitchFamily="34" charset="-122"/>
                <a:cs typeface="Aptos" pitchFamily="34" charset="-120"/>
              </a:rPr>
              <a:t>Disaster</a:t>
            </a:r>
            <a:endParaRPr lang="en-US" sz="850" dirty="0"/>
          </a:p>
          <a:p>
            <a:pPr marL="0" indent="0" algn="ctr">
              <a:buNone/>
            </a:pPr>
            <a:r>
              <a:rPr lang="en-US" sz="850" b="1" dirty="0">
                <a:solidFill>
                  <a:srgbClr val="EAF7FB"/>
                </a:solidFill>
                <a:latin typeface="Aptos" pitchFamily="34" charset="0"/>
                <a:ea typeface="Aptos" pitchFamily="34" charset="-122"/>
                <a:cs typeface="Aptos" pitchFamily="34" charset="-120"/>
              </a:rPr>
              <a:t>warning</a:t>
            </a:r>
            <a:endParaRPr lang="en-US" sz="850" dirty="0"/>
          </a:p>
        </p:txBody>
      </p:sp>
      <p:sp>
        <p:nvSpPr>
          <p:cNvPr id="24" name="Shape 22"/>
          <p:cNvSpPr/>
          <p:nvPr/>
        </p:nvSpPr>
        <p:spPr>
          <a:xfrm>
            <a:off x="3520440" y="1600200"/>
            <a:ext cx="960120" cy="960120"/>
          </a:xfrm>
          <a:prstGeom prst="ellipse">
            <a:avLst/>
          </a:prstGeom>
          <a:solidFill>
            <a:srgbClr val="102E4C"/>
          </a:solidFill>
          <a:ln w="15240">
            <a:solidFill>
              <a:srgbClr val="00A7B5"/>
            </a:solidFill>
            <a:prstDash val="solid"/>
          </a:ln>
        </p:spPr>
        <p:txBody>
          <a:bodyPr/>
          <a:lstStyle/>
          <a:p>
            <a:endParaRPr lang="en-US"/>
          </a:p>
        </p:txBody>
      </p:sp>
      <p:sp>
        <p:nvSpPr>
          <p:cNvPr id="25" name="Text 23"/>
          <p:cNvSpPr/>
          <p:nvPr/>
        </p:nvSpPr>
        <p:spPr>
          <a:xfrm>
            <a:off x="3566160" y="1709928"/>
            <a:ext cx="868680" cy="256032"/>
          </a:xfrm>
          <a:prstGeom prst="rect">
            <a:avLst/>
          </a:prstGeom>
          <a:noFill/>
          <a:ln/>
        </p:spPr>
        <p:txBody>
          <a:bodyPr wrap="square" lIns="0" tIns="0" rIns="0" bIns="0" rtlCol="0" anchor="ctr"/>
          <a:lstStyle/>
          <a:p>
            <a:pPr marL="0" indent="0" algn="ctr">
              <a:buNone/>
            </a:pPr>
            <a:r>
              <a:rPr lang="en-US" sz="1700" dirty="0">
                <a:solidFill>
                  <a:srgbClr val="FFFFFF"/>
                </a:solidFill>
              </a:rPr>
              <a:t>⚙</a:t>
            </a:r>
            <a:endParaRPr lang="en-US" sz="1700" dirty="0"/>
          </a:p>
        </p:txBody>
      </p:sp>
      <p:sp>
        <p:nvSpPr>
          <p:cNvPr id="26" name="Text 24"/>
          <p:cNvSpPr/>
          <p:nvPr/>
        </p:nvSpPr>
        <p:spPr>
          <a:xfrm>
            <a:off x="3383280" y="2130552"/>
            <a:ext cx="1234440" cy="292608"/>
          </a:xfrm>
          <a:prstGeom prst="rect">
            <a:avLst/>
          </a:prstGeom>
          <a:noFill/>
          <a:ln/>
        </p:spPr>
        <p:txBody>
          <a:bodyPr wrap="square" lIns="0" tIns="0" rIns="0" bIns="0" rtlCol="0" anchor="ctr">
            <a:normAutofit/>
          </a:bodyPr>
          <a:lstStyle/>
          <a:p>
            <a:pPr marL="0" indent="0" algn="ctr">
              <a:buNone/>
            </a:pPr>
            <a:r>
              <a:rPr lang="en-US" sz="850" b="1" dirty="0">
                <a:solidFill>
                  <a:srgbClr val="EAF7FB"/>
                </a:solidFill>
                <a:latin typeface="Aptos" pitchFamily="34" charset="0"/>
                <a:ea typeface="Aptos" pitchFamily="34" charset="-122"/>
                <a:cs typeface="Aptos" pitchFamily="34" charset="-120"/>
              </a:rPr>
              <a:t>Offshore</a:t>
            </a:r>
            <a:endParaRPr lang="en-US" sz="850" dirty="0"/>
          </a:p>
          <a:p>
            <a:pPr marL="0" indent="0" algn="ctr">
              <a:buNone/>
            </a:pPr>
            <a:r>
              <a:rPr lang="en-US" sz="850" b="1" dirty="0">
                <a:solidFill>
                  <a:srgbClr val="EAF7FB"/>
                </a:solidFill>
                <a:latin typeface="Aptos" pitchFamily="34" charset="0"/>
                <a:ea typeface="Aptos" pitchFamily="34" charset="-122"/>
                <a:cs typeface="Aptos" pitchFamily="34" charset="-120"/>
              </a:rPr>
              <a:t>infrastructure</a:t>
            </a:r>
            <a:endParaRPr lang="en-US" sz="850" dirty="0"/>
          </a:p>
        </p:txBody>
      </p:sp>
      <p:sp>
        <p:nvSpPr>
          <p:cNvPr id="27" name="Shape 25"/>
          <p:cNvSpPr/>
          <p:nvPr/>
        </p:nvSpPr>
        <p:spPr>
          <a:xfrm>
            <a:off x="4892040" y="1600200"/>
            <a:ext cx="960120" cy="960120"/>
          </a:xfrm>
          <a:prstGeom prst="ellipse">
            <a:avLst/>
          </a:prstGeom>
          <a:solidFill>
            <a:srgbClr val="102E4C"/>
          </a:solidFill>
          <a:ln w="15240">
            <a:solidFill>
              <a:srgbClr val="00A7B5"/>
            </a:solidFill>
            <a:prstDash val="solid"/>
          </a:ln>
        </p:spPr>
        <p:txBody>
          <a:bodyPr/>
          <a:lstStyle/>
          <a:p>
            <a:endParaRPr lang="en-US"/>
          </a:p>
        </p:txBody>
      </p:sp>
      <p:sp>
        <p:nvSpPr>
          <p:cNvPr id="28" name="Text 26"/>
          <p:cNvSpPr/>
          <p:nvPr/>
        </p:nvSpPr>
        <p:spPr>
          <a:xfrm>
            <a:off x="4937760" y="1709928"/>
            <a:ext cx="868680" cy="256032"/>
          </a:xfrm>
          <a:prstGeom prst="rect">
            <a:avLst/>
          </a:prstGeom>
          <a:noFill/>
          <a:ln/>
        </p:spPr>
        <p:txBody>
          <a:bodyPr wrap="square" lIns="0" tIns="0" rIns="0" bIns="0" rtlCol="0" anchor="ctr"/>
          <a:lstStyle/>
          <a:p>
            <a:pPr marL="0" indent="0" algn="ctr">
              <a:buNone/>
            </a:pPr>
            <a:r>
              <a:rPr lang="en-US" sz="1700" dirty="0">
                <a:solidFill>
                  <a:srgbClr val="FFFFFF"/>
                </a:solidFill>
              </a:rPr>
              <a:t>🛡</a:t>
            </a:r>
            <a:endParaRPr lang="en-US" sz="1700" dirty="0"/>
          </a:p>
        </p:txBody>
      </p:sp>
      <p:sp>
        <p:nvSpPr>
          <p:cNvPr id="29" name="Text 27"/>
          <p:cNvSpPr/>
          <p:nvPr/>
        </p:nvSpPr>
        <p:spPr>
          <a:xfrm>
            <a:off x="4754880" y="2130552"/>
            <a:ext cx="1234440" cy="292608"/>
          </a:xfrm>
          <a:prstGeom prst="rect">
            <a:avLst/>
          </a:prstGeom>
          <a:noFill/>
          <a:ln/>
        </p:spPr>
        <p:txBody>
          <a:bodyPr wrap="square" lIns="0" tIns="0" rIns="0" bIns="0" rtlCol="0" anchor="ctr">
            <a:normAutofit/>
          </a:bodyPr>
          <a:lstStyle/>
          <a:p>
            <a:pPr marL="0" indent="0" algn="ctr">
              <a:buNone/>
            </a:pPr>
            <a:r>
              <a:rPr lang="en-US" sz="850" b="1" dirty="0">
                <a:solidFill>
                  <a:srgbClr val="EAF7FB"/>
                </a:solidFill>
                <a:latin typeface="Aptos" pitchFamily="34" charset="0"/>
                <a:ea typeface="Aptos" pitchFamily="34" charset="-122"/>
                <a:cs typeface="Aptos" pitchFamily="34" charset="-120"/>
              </a:rPr>
              <a:t>Security</a:t>
            </a:r>
            <a:endParaRPr lang="en-US" sz="850" dirty="0"/>
          </a:p>
          <a:p>
            <a:pPr marL="0" indent="0" algn="ctr">
              <a:buNone/>
            </a:pPr>
            <a:r>
              <a:rPr lang="en-US" sz="850" b="1" dirty="0">
                <a:solidFill>
                  <a:srgbClr val="EAF7FB"/>
                </a:solidFill>
                <a:latin typeface="Aptos" pitchFamily="34" charset="0"/>
                <a:ea typeface="Aptos" pitchFamily="34" charset="-122"/>
                <a:cs typeface="Aptos" pitchFamily="34" charset="-120"/>
              </a:rPr>
              <a:t>trust</a:t>
            </a:r>
            <a:endParaRPr lang="en-US" sz="850" dirty="0"/>
          </a:p>
        </p:txBody>
      </p:sp>
      <p:sp>
        <p:nvSpPr>
          <p:cNvPr id="30" name="Shape 28"/>
          <p:cNvSpPr/>
          <p:nvPr/>
        </p:nvSpPr>
        <p:spPr>
          <a:xfrm>
            <a:off x="6629400" y="1371600"/>
            <a:ext cx="4480560" cy="2625634"/>
          </a:xfrm>
          <a:prstGeom prst="roundRect">
            <a:avLst>
              <a:gd name="adj" fmla="val 2785"/>
            </a:avLst>
          </a:prstGeom>
          <a:solidFill>
            <a:srgbClr val="0A243D"/>
          </a:solidFill>
          <a:ln w="12700">
            <a:solidFill>
              <a:srgbClr val="1B5676">
                <a:alpha val="95000"/>
              </a:srgbClr>
            </a:solidFill>
            <a:prstDash val="solid"/>
          </a:ln>
        </p:spPr>
        <p:txBody>
          <a:bodyPr/>
          <a:lstStyle/>
          <a:p>
            <a:endParaRPr lang="en-US"/>
          </a:p>
        </p:txBody>
      </p:sp>
      <p:sp>
        <p:nvSpPr>
          <p:cNvPr id="31" name="Text 29"/>
          <p:cNvSpPr/>
          <p:nvPr/>
        </p:nvSpPr>
        <p:spPr>
          <a:xfrm>
            <a:off x="6793992" y="1517904"/>
            <a:ext cx="415137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Why spoofing matters</a:t>
            </a:r>
            <a:endParaRPr lang="en-US" sz="1250" dirty="0"/>
          </a:p>
        </p:txBody>
      </p:sp>
      <p:sp>
        <p:nvSpPr>
          <p:cNvPr id="32" name="Text 30"/>
          <p:cNvSpPr/>
          <p:nvPr/>
        </p:nvSpPr>
        <p:spPr>
          <a:xfrm>
            <a:off x="6812280" y="1883664"/>
            <a:ext cx="4133088" cy="3017520"/>
          </a:xfrm>
          <a:prstGeom prst="rect">
            <a:avLst/>
          </a:prstGeom>
          <a:noFill/>
          <a:ln/>
        </p:spPr>
        <p:txBody>
          <a:bodyPr wrap="square" lIns="508" tIns="508" rIns="508" bIns="508" rtlCol="0" anchor="t">
            <a:normAutofit/>
          </a:bodyPr>
          <a:lstStyle/>
          <a:p>
            <a:r>
              <a:rPr lang="en-US" sz="1150" dirty="0">
                <a:solidFill>
                  <a:srgbClr val="EAF7FB"/>
                </a:solidFill>
                <a:latin typeface="Aptos" pitchFamily="34" charset="0"/>
                <a:ea typeface="Aptos" pitchFamily="34" charset="-122"/>
                <a:cs typeface="Aptos" pitchFamily="34" charset="-120"/>
              </a:rPr>
              <a:t>IoUT supports marine monitoring, disaster warning, offshore infrastructure, surveillance, and underwater data collection.</a:t>
            </a:r>
            <a:endParaRPr lang="en-US" sz="1150" dirty="0"/>
          </a:p>
          <a:p>
            <a:r>
              <a:rPr lang="en-US" sz="1150" dirty="0">
                <a:solidFill>
                  <a:srgbClr val="EAF7FB"/>
                </a:solidFill>
                <a:latin typeface="Aptos" pitchFamily="34" charset="0"/>
                <a:ea typeface="Aptos" pitchFamily="34" charset="-122"/>
                <a:cs typeface="Aptos" pitchFamily="34" charset="-120"/>
              </a:rPr>
              <a:t>Security failures can damage trust in monitoring and decision-making.</a:t>
            </a:r>
            <a:endParaRPr lang="en-US" sz="1150" dirty="0"/>
          </a:p>
          <a:p>
            <a:r>
              <a:rPr lang="en-US" sz="1150" dirty="0">
                <a:solidFill>
                  <a:srgbClr val="EAF7FB"/>
                </a:solidFill>
                <a:latin typeface="Aptos" pitchFamily="34" charset="0"/>
                <a:ea typeface="Aptos" pitchFamily="34" charset="-122"/>
                <a:cs typeface="Aptos" pitchFamily="34" charset="-120"/>
              </a:rPr>
              <a:t>Spoofed data may be accepted as legitimate if authentication fails.</a:t>
            </a:r>
            <a:endParaRPr lang="en-US" sz="1150" dirty="0"/>
          </a:p>
          <a:p>
            <a:r>
              <a:rPr lang="en-US" sz="1150" dirty="0">
                <a:solidFill>
                  <a:srgbClr val="EAF7FB"/>
                </a:solidFill>
                <a:latin typeface="Aptos" pitchFamily="34" charset="0"/>
                <a:ea typeface="Aptos" pitchFamily="34" charset="-122"/>
                <a:cs typeface="Aptos" pitchFamily="34" charset="-120"/>
              </a:rPr>
              <a:t>Underwater security affects both technical reliability and real-world safety.</a:t>
            </a:r>
            <a:endParaRPr lang="en-US" sz="1150" dirty="0"/>
          </a:p>
        </p:txBody>
      </p:sp>
      <p:sp>
        <p:nvSpPr>
          <p:cNvPr id="33" name="Text 31"/>
          <p:cNvSpPr/>
          <p:nvPr/>
        </p:nvSpPr>
        <p:spPr>
          <a:xfrm>
            <a:off x="685800" y="5943600"/>
            <a:ext cx="10698480" cy="237744"/>
          </a:xfrm>
          <a:prstGeom prst="rect">
            <a:avLst/>
          </a:prstGeom>
          <a:noFill/>
          <a:ln/>
        </p:spPr>
        <p:txBody>
          <a:bodyPr wrap="square" lIns="0" tIns="0" rIns="0" bIns="0" rtlCol="0" anchor="ctr">
            <a:normAutofit/>
          </a:bodyPr>
          <a:lstStyle/>
          <a:p>
            <a:pPr marL="0" indent="0">
              <a:buNone/>
            </a:pPr>
            <a:r>
              <a:rPr lang="en-US" sz="820" dirty="0">
                <a:solidFill>
                  <a:srgbClr val="AFC8D8"/>
                </a:solidFill>
              </a:rPr>
              <a:t>Supported by: Aman et al. [9] — LoS impersonation detection; Xiao et al. [4] — RL/DRL learning-based PHY-layer authentication</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27432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3</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What is IoUT?</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Underwater sensors, mobile devices, surface sinks, and monitoring stations</a:t>
            </a:r>
            <a:endParaRPr lang="en-US" sz="1050" dirty="0"/>
          </a:p>
        </p:txBody>
      </p:sp>
      <p:sp>
        <p:nvSpPr>
          <p:cNvPr id="18" name="Shape 16"/>
          <p:cNvSpPr/>
          <p:nvPr/>
        </p:nvSpPr>
        <p:spPr>
          <a:xfrm>
            <a:off x="594360" y="1417320"/>
            <a:ext cx="3383280" cy="1965960"/>
          </a:xfrm>
          <a:prstGeom prst="roundRect">
            <a:avLst>
              <a:gd name="adj" fmla="val 5116"/>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758952" y="1563624"/>
            <a:ext cx="305409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Definition</a:t>
            </a:r>
            <a:endParaRPr lang="en-US" sz="1250" dirty="0"/>
          </a:p>
        </p:txBody>
      </p:sp>
      <p:sp>
        <p:nvSpPr>
          <p:cNvPr id="20" name="Text 18"/>
          <p:cNvSpPr/>
          <p:nvPr/>
        </p:nvSpPr>
        <p:spPr>
          <a:xfrm>
            <a:off x="777240" y="1929384"/>
            <a:ext cx="3035808" cy="1371600"/>
          </a:xfrm>
          <a:prstGeom prst="rect">
            <a:avLst/>
          </a:prstGeom>
          <a:noFill/>
          <a:ln/>
        </p:spPr>
        <p:txBody>
          <a:bodyPr wrap="square" lIns="508" tIns="508" rIns="508" bIns="508" rtlCol="0" anchor="t">
            <a:normAutofit/>
          </a:bodyPr>
          <a:lstStyle/>
          <a:p>
            <a:r>
              <a:rPr lang="en-US" sz="1030" dirty="0">
                <a:solidFill>
                  <a:srgbClr val="EAF7FB"/>
                </a:solidFill>
                <a:latin typeface="Aptos" pitchFamily="34" charset="0"/>
                <a:ea typeface="Aptos" pitchFamily="34" charset="-122"/>
                <a:cs typeface="Aptos" pitchFamily="34" charset="-120"/>
              </a:rPr>
              <a:t>IoUT extends networked sensing and communication into underwater environments.</a:t>
            </a:r>
            <a:endParaRPr lang="en-US" sz="1030" dirty="0"/>
          </a:p>
          <a:p>
            <a:r>
              <a:rPr lang="en-US" sz="1030" dirty="0">
                <a:solidFill>
                  <a:srgbClr val="EAF7FB"/>
                </a:solidFill>
                <a:latin typeface="Aptos" pitchFamily="34" charset="0"/>
                <a:ea typeface="Aptos" pitchFamily="34" charset="-122"/>
                <a:cs typeface="Aptos" pitchFamily="34" charset="-120"/>
              </a:rPr>
              <a:t>Sensors collect physical or environmental data.</a:t>
            </a:r>
            <a:endParaRPr lang="en-US" sz="1030" dirty="0"/>
          </a:p>
          <a:p>
            <a:r>
              <a:rPr lang="en-US" sz="1030" dirty="0">
                <a:solidFill>
                  <a:srgbClr val="EAF7FB"/>
                </a:solidFill>
                <a:latin typeface="Aptos" pitchFamily="34" charset="0"/>
                <a:ea typeface="Aptos" pitchFamily="34" charset="-122"/>
                <a:cs typeface="Aptos" pitchFamily="34" charset="-120"/>
              </a:rPr>
              <a:t>AUVs/mobile nodes inspect, relay, or collect data.</a:t>
            </a:r>
            <a:endParaRPr lang="en-US" sz="1030" dirty="0"/>
          </a:p>
          <a:p>
            <a:r>
              <a:rPr lang="en-US" sz="1030" dirty="0">
                <a:solidFill>
                  <a:srgbClr val="EAF7FB"/>
                </a:solidFill>
                <a:latin typeface="Aptos" pitchFamily="34" charset="0"/>
                <a:ea typeface="Aptos" pitchFamily="34" charset="-122"/>
                <a:cs typeface="Aptos" pitchFamily="34" charset="-120"/>
              </a:rPr>
              <a:t>Surface sinks forward data to remote monitoring systems.</a:t>
            </a:r>
            <a:endParaRPr lang="en-US" sz="1030" dirty="0"/>
          </a:p>
        </p:txBody>
      </p:sp>
      <p:sp>
        <p:nvSpPr>
          <p:cNvPr id="21" name="Shape 19"/>
          <p:cNvSpPr/>
          <p:nvPr/>
        </p:nvSpPr>
        <p:spPr>
          <a:xfrm>
            <a:off x="4526280" y="1965960"/>
            <a:ext cx="1417320" cy="960120"/>
          </a:xfrm>
          <a:prstGeom prst="roundRect">
            <a:avLst>
              <a:gd name="adj" fmla="val 11429"/>
            </a:avLst>
          </a:prstGeom>
          <a:solidFill>
            <a:srgbClr val="102E4C"/>
          </a:solidFill>
          <a:ln w="15240">
            <a:solidFill>
              <a:srgbClr val="00A7B5"/>
            </a:solidFill>
            <a:prstDash val="solid"/>
          </a:ln>
        </p:spPr>
        <p:txBody>
          <a:bodyPr/>
          <a:lstStyle/>
          <a:p>
            <a:endParaRPr lang="en-US"/>
          </a:p>
        </p:txBody>
      </p:sp>
      <p:sp>
        <p:nvSpPr>
          <p:cNvPr id="22" name="Text 20"/>
          <p:cNvSpPr/>
          <p:nvPr/>
        </p:nvSpPr>
        <p:spPr>
          <a:xfrm>
            <a:off x="4526280" y="2057400"/>
            <a:ext cx="1417320" cy="228600"/>
          </a:xfrm>
          <a:prstGeom prst="rect">
            <a:avLst/>
          </a:prstGeom>
          <a:noFill/>
          <a:ln/>
        </p:spPr>
        <p:txBody>
          <a:bodyPr wrap="square" lIns="0" tIns="0" rIns="0" bIns="0" rtlCol="0" anchor="ctr"/>
          <a:lstStyle/>
          <a:p>
            <a:pPr marL="0" indent="0" algn="ctr">
              <a:buNone/>
            </a:pPr>
            <a:r>
              <a:rPr lang="en-US" sz="1500" dirty="0">
                <a:solidFill>
                  <a:srgbClr val="65E4F5"/>
                </a:solidFill>
              </a:rPr>
              <a:t>●</a:t>
            </a:r>
            <a:endParaRPr lang="en-US" sz="1500" dirty="0"/>
          </a:p>
        </p:txBody>
      </p:sp>
      <p:sp>
        <p:nvSpPr>
          <p:cNvPr id="23" name="Text 21"/>
          <p:cNvSpPr/>
          <p:nvPr/>
        </p:nvSpPr>
        <p:spPr>
          <a:xfrm>
            <a:off x="4599432" y="2350008"/>
            <a:ext cx="1271016" cy="365760"/>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Underwater</a:t>
            </a:r>
            <a:endParaRPr lang="en-US" sz="880" dirty="0"/>
          </a:p>
          <a:p>
            <a:pPr marL="0" indent="0" algn="ctr">
              <a:buNone/>
            </a:pPr>
            <a:r>
              <a:rPr lang="en-US" sz="880" b="1" dirty="0">
                <a:solidFill>
                  <a:srgbClr val="FFFFFF"/>
                </a:solidFill>
              </a:rPr>
              <a:t>Sensors</a:t>
            </a:r>
            <a:endParaRPr lang="en-US" sz="880" dirty="0"/>
          </a:p>
        </p:txBody>
      </p:sp>
      <p:sp>
        <p:nvSpPr>
          <p:cNvPr id="24" name="Shape 22"/>
          <p:cNvSpPr/>
          <p:nvPr/>
        </p:nvSpPr>
        <p:spPr>
          <a:xfrm>
            <a:off x="6172200" y="1965960"/>
            <a:ext cx="1417320" cy="960120"/>
          </a:xfrm>
          <a:prstGeom prst="roundRect">
            <a:avLst>
              <a:gd name="adj" fmla="val 11429"/>
            </a:avLst>
          </a:prstGeom>
          <a:solidFill>
            <a:srgbClr val="102E4C"/>
          </a:solidFill>
          <a:ln w="15240">
            <a:solidFill>
              <a:srgbClr val="00A7B5"/>
            </a:solidFill>
            <a:prstDash val="solid"/>
          </a:ln>
        </p:spPr>
        <p:txBody>
          <a:bodyPr/>
          <a:lstStyle/>
          <a:p>
            <a:endParaRPr lang="en-US"/>
          </a:p>
        </p:txBody>
      </p:sp>
      <p:sp>
        <p:nvSpPr>
          <p:cNvPr id="25" name="Text 23"/>
          <p:cNvSpPr/>
          <p:nvPr/>
        </p:nvSpPr>
        <p:spPr>
          <a:xfrm>
            <a:off x="6172200" y="2057400"/>
            <a:ext cx="1417320" cy="228600"/>
          </a:xfrm>
          <a:prstGeom prst="rect">
            <a:avLst/>
          </a:prstGeom>
          <a:noFill/>
          <a:ln/>
        </p:spPr>
        <p:txBody>
          <a:bodyPr wrap="square" lIns="0" tIns="0" rIns="0" bIns="0" rtlCol="0" anchor="ctr"/>
          <a:lstStyle/>
          <a:p>
            <a:pPr marL="0" indent="0" algn="ctr">
              <a:buNone/>
            </a:pPr>
            <a:r>
              <a:rPr lang="en-US" sz="1500" dirty="0">
                <a:solidFill>
                  <a:srgbClr val="65E4F5"/>
                </a:solidFill>
              </a:rPr>
              <a:t>▰</a:t>
            </a:r>
            <a:endParaRPr lang="en-US" sz="1500" dirty="0"/>
          </a:p>
        </p:txBody>
      </p:sp>
      <p:sp>
        <p:nvSpPr>
          <p:cNvPr id="26" name="Text 24"/>
          <p:cNvSpPr/>
          <p:nvPr/>
        </p:nvSpPr>
        <p:spPr>
          <a:xfrm>
            <a:off x="6245352" y="2350008"/>
            <a:ext cx="1271016" cy="365760"/>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AUVs /</a:t>
            </a:r>
            <a:endParaRPr lang="en-US" sz="880" dirty="0"/>
          </a:p>
          <a:p>
            <a:pPr marL="0" indent="0" algn="ctr">
              <a:buNone/>
            </a:pPr>
            <a:r>
              <a:rPr lang="en-US" sz="880" b="1" dirty="0">
                <a:solidFill>
                  <a:srgbClr val="FFFFFF"/>
                </a:solidFill>
              </a:rPr>
              <a:t>Mobile Nodes</a:t>
            </a:r>
            <a:endParaRPr lang="en-US" sz="880" dirty="0"/>
          </a:p>
        </p:txBody>
      </p:sp>
      <p:sp>
        <p:nvSpPr>
          <p:cNvPr id="27" name="Shape 25"/>
          <p:cNvSpPr/>
          <p:nvPr/>
        </p:nvSpPr>
        <p:spPr>
          <a:xfrm>
            <a:off x="8101584" y="1948543"/>
            <a:ext cx="1417320" cy="960120"/>
          </a:xfrm>
          <a:prstGeom prst="roundRect">
            <a:avLst>
              <a:gd name="adj" fmla="val 11429"/>
            </a:avLst>
          </a:prstGeom>
          <a:solidFill>
            <a:srgbClr val="102E4C"/>
          </a:solidFill>
          <a:ln w="15240">
            <a:solidFill>
              <a:srgbClr val="00A7B5"/>
            </a:solidFill>
            <a:prstDash val="solid"/>
          </a:ln>
        </p:spPr>
        <p:txBody>
          <a:bodyPr/>
          <a:lstStyle/>
          <a:p>
            <a:endParaRPr lang="en-US"/>
          </a:p>
        </p:txBody>
      </p:sp>
      <p:sp>
        <p:nvSpPr>
          <p:cNvPr id="28" name="Text 26"/>
          <p:cNvSpPr/>
          <p:nvPr/>
        </p:nvSpPr>
        <p:spPr>
          <a:xfrm>
            <a:off x="8092440" y="1600200"/>
            <a:ext cx="1417320" cy="1143000"/>
          </a:xfrm>
          <a:prstGeom prst="rect">
            <a:avLst/>
          </a:prstGeom>
          <a:noFill/>
          <a:ln/>
        </p:spPr>
        <p:txBody>
          <a:bodyPr wrap="square" lIns="0" tIns="0" rIns="0" bIns="0" rtlCol="0" anchor="ctr"/>
          <a:lstStyle/>
          <a:p>
            <a:pPr marL="0" indent="0" algn="ctr">
              <a:buNone/>
            </a:pPr>
            <a:r>
              <a:rPr lang="en-US" sz="1500" dirty="0">
                <a:solidFill>
                  <a:srgbClr val="65E4F5"/>
                </a:solidFill>
              </a:rPr>
              <a:t>▲</a:t>
            </a:r>
            <a:endParaRPr lang="en-US" sz="1500" dirty="0"/>
          </a:p>
        </p:txBody>
      </p:sp>
      <p:sp>
        <p:nvSpPr>
          <p:cNvPr id="29" name="Text 27"/>
          <p:cNvSpPr/>
          <p:nvPr/>
        </p:nvSpPr>
        <p:spPr>
          <a:xfrm>
            <a:off x="8165592" y="1892808"/>
            <a:ext cx="1271016" cy="1243584"/>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Surface</a:t>
            </a:r>
            <a:endParaRPr lang="en-US" sz="880" dirty="0"/>
          </a:p>
          <a:p>
            <a:pPr marL="0" indent="0" algn="ctr">
              <a:buNone/>
            </a:pPr>
            <a:r>
              <a:rPr lang="en-US" sz="880" b="1" dirty="0">
                <a:solidFill>
                  <a:srgbClr val="FFFFFF"/>
                </a:solidFill>
              </a:rPr>
              <a:t>Sink</a:t>
            </a:r>
            <a:endParaRPr lang="en-US" sz="880" dirty="0"/>
          </a:p>
        </p:txBody>
      </p:sp>
      <p:sp>
        <p:nvSpPr>
          <p:cNvPr id="30" name="Shape 28"/>
          <p:cNvSpPr/>
          <p:nvPr/>
        </p:nvSpPr>
        <p:spPr>
          <a:xfrm>
            <a:off x="10012680" y="1965960"/>
            <a:ext cx="1417320" cy="960120"/>
          </a:xfrm>
          <a:prstGeom prst="roundRect">
            <a:avLst>
              <a:gd name="adj" fmla="val 11429"/>
            </a:avLst>
          </a:prstGeom>
          <a:solidFill>
            <a:srgbClr val="102E4C"/>
          </a:solidFill>
          <a:ln w="15240">
            <a:solidFill>
              <a:srgbClr val="00A7B5"/>
            </a:solidFill>
            <a:prstDash val="solid"/>
          </a:ln>
        </p:spPr>
        <p:txBody>
          <a:bodyPr/>
          <a:lstStyle/>
          <a:p>
            <a:endParaRPr lang="en-US"/>
          </a:p>
        </p:txBody>
      </p:sp>
      <p:sp>
        <p:nvSpPr>
          <p:cNvPr id="31" name="Text 29"/>
          <p:cNvSpPr/>
          <p:nvPr/>
        </p:nvSpPr>
        <p:spPr>
          <a:xfrm>
            <a:off x="10012680" y="2057400"/>
            <a:ext cx="1417320" cy="228600"/>
          </a:xfrm>
          <a:prstGeom prst="rect">
            <a:avLst/>
          </a:prstGeom>
          <a:noFill/>
          <a:ln/>
        </p:spPr>
        <p:txBody>
          <a:bodyPr wrap="square" lIns="0" tIns="0" rIns="0" bIns="0" rtlCol="0" anchor="ctr"/>
          <a:lstStyle/>
          <a:p>
            <a:pPr marL="0" indent="0" algn="ctr">
              <a:buNone/>
            </a:pPr>
            <a:r>
              <a:rPr lang="en-US" sz="1500" dirty="0">
                <a:solidFill>
                  <a:srgbClr val="65E4F5"/>
                </a:solidFill>
              </a:rPr>
              <a:t>▣</a:t>
            </a:r>
            <a:endParaRPr lang="en-US" sz="1500" dirty="0"/>
          </a:p>
        </p:txBody>
      </p:sp>
      <p:sp>
        <p:nvSpPr>
          <p:cNvPr id="32" name="Text 30"/>
          <p:cNvSpPr/>
          <p:nvPr/>
        </p:nvSpPr>
        <p:spPr>
          <a:xfrm>
            <a:off x="10085832" y="2350008"/>
            <a:ext cx="1271016" cy="365760"/>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Monitoring</a:t>
            </a:r>
            <a:endParaRPr lang="en-US" sz="880" dirty="0"/>
          </a:p>
          <a:p>
            <a:pPr marL="0" indent="0" algn="ctr">
              <a:buNone/>
            </a:pPr>
            <a:r>
              <a:rPr lang="en-US" sz="880" b="1" dirty="0">
                <a:solidFill>
                  <a:srgbClr val="FFFFFF"/>
                </a:solidFill>
              </a:rPr>
              <a:t>Station</a:t>
            </a:r>
            <a:endParaRPr lang="en-US" sz="880" dirty="0"/>
          </a:p>
        </p:txBody>
      </p:sp>
      <p:sp>
        <p:nvSpPr>
          <p:cNvPr id="33" name="Shape 31"/>
          <p:cNvSpPr/>
          <p:nvPr/>
        </p:nvSpPr>
        <p:spPr>
          <a:xfrm>
            <a:off x="5943600" y="2441448"/>
            <a:ext cx="201168" cy="0"/>
          </a:xfrm>
          <a:prstGeom prst="line">
            <a:avLst/>
          </a:prstGeom>
          <a:noFill/>
          <a:ln w="22860">
            <a:solidFill>
              <a:srgbClr val="65E4F5"/>
            </a:solidFill>
            <a:prstDash val="solid"/>
            <a:headEnd type="none"/>
            <a:tailEnd type="triangle"/>
          </a:ln>
        </p:spPr>
        <p:txBody>
          <a:bodyPr/>
          <a:lstStyle/>
          <a:p>
            <a:endParaRPr lang="en-US"/>
          </a:p>
        </p:txBody>
      </p:sp>
      <p:sp>
        <p:nvSpPr>
          <p:cNvPr id="34" name="Shape 32"/>
          <p:cNvSpPr/>
          <p:nvPr/>
        </p:nvSpPr>
        <p:spPr>
          <a:xfrm>
            <a:off x="7607808" y="2441448"/>
            <a:ext cx="484632" cy="0"/>
          </a:xfrm>
          <a:prstGeom prst="line">
            <a:avLst/>
          </a:prstGeom>
          <a:noFill/>
          <a:ln w="22860">
            <a:solidFill>
              <a:srgbClr val="65E4F5"/>
            </a:solidFill>
            <a:prstDash val="solid"/>
            <a:headEnd type="none"/>
            <a:tailEnd type="triangle"/>
          </a:ln>
        </p:spPr>
        <p:txBody>
          <a:bodyPr/>
          <a:lstStyle/>
          <a:p>
            <a:endParaRPr lang="en-US"/>
          </a:p>
        </p:txBody>
      </p:sp>
      <p:sp>
        <p:nvSpPr>
          <p:cNvPr id="37" name="Text 35"/>
          <p:cNvSpPr/>
          <p:nvPr/>
        </p:nvSpPr>
        <p:spPr>
          <a:xfrm>
            <a:off x="4206240" y="3886200"/>
            <a:ext cx="7132320" cy="329184"/>
          </a:xfrm>
          <a:prstGeom prst="rect">
            <a:avLst/>
          </a:prstGeom>
          <a:noFill/>
          <a:ln/>
        </p:spPr>
        <p:txBody>
          <a:bodyPr wrap="square" lIns="0" tIns="0" rIns="0" bIns="0" rtlCol="0" anchor="ctr"/>
          <a:lstStyle/>
          <a:p>
            <a:pPr marL="0" indent="0" algn="ctr">
              <a:buNone/>
            </a:pPr>
            <a:r>
              <a:rPr lang="en-US" sz="1220" b="1" dirty="0">
                <a:solidFill>
                  <a:srgbClr val="B9F7FF"/>
                </a:solidFill>
              </a:rPr>
              <a:t>Typical data flow: underwater observation → acoustic link → surface forwarding → remote/base/cloud monitoring</a:t>
            </a:r>
            <a:endParaRPr lang="en-US" sz="1220" dirty="0"/>
          </a:p>
        </p:txBody>
      </p:sp>
      <p:sp>
        <p:nvSpPr>
          <p:cNvPr id="38" name="Shape 32">
            <a:extLst>
              <a:ext uri="{FF2B5EF4-FFF2-40B4-BE49-F238E27FC236}">
                <a16:creationId xmlns:a16="http://schemas.microsoft.com/office/drawing/2014/main" id="{00C1DB93-02B3-F4AC-5E81-34CB5D4FFB82}"/>
              </a:ext>
            </a:extLst>
          </p:cNvPr>
          <p:cNvSpPr/>
          <p:nvPr/>
        </p:nvSpPr>
        <p:spPr>
          <a:xfrm>
            <a:off x="9528048" y="2400300"/>
            <a:ext cx="484632" cy="0"/>
          </a:xfrm>
          <a:prstGeom prst="line">
            <a:avLst/>
          </a:prstGeom>
          <a:noFill/>
          <a:ln w="22860">
            <a:solidFill>
              <a:srgbClr val="65E4F5"/>
            </a:solidFill>
            <a:prstDash val="solid"/>
            <a:headEnd type="none"/>
            <a:tailEnd type="triangle"/>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4</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Why IoUT Security is Different from Normal IoT</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Acoustic communication changes the security design problem</a:t>
            </a:r>
            <a:endParaRPr lang="en-US" sz="1050" dirty="0"/>
          </a:p>
        </p:txBody>
      </p:sp>
      <p:sp>
        <p:nvSpPr>
          <p:cNvPr id="18" name="Shape 16"/>
          <p:cNvSpPr/>
          <p:nvPr/>
        </p:nvSpPr>
        <p:spPr>
          <a:xfrm>
            <a:off x="685800" y="1417320"/>
            <a:ext cx="4937760" cy="3383280"/>
          </a:xfrm>
          <a:prstGeom prst="roundRect">
            <a:avLst>
              <a:gd name="adj" fmla="val 2973"/>
            </a:avLst>
          </a:prstGeom>
          <a:solidFill>
            <a:srgbClr val="0F2B47"/>
          </a:solidFill>
          <a:ln w="12700">
            <a:solidFill>
              <a:srgbClr val="1B5676">
                <a:alpha val="95000"/>
              </a:srgbClr>
            </a:solidFill>
            <a:prstDash val="solid"/>
          </a:ln>
        </p:spPr>
        <p:txBody>
          <a:bodyPr/>
          <a:lstStyle/>
          <a:p>
            <a:endParaRPr lang="en-US"/>
          </a:p>
        </p:txBody>
      </p:sp>
      <p:sp>
        <p:nvSpPr>
          <p:cNvPr id="19" name="Text 17"/>
          <p:cNvSpPr/>
          <p:nvPr/>
        </p:nvSpPr>
        <p:spPr>
          <a:xfrm>
            <a:off x="850392" y="1563624"/>
            <a:ext cx="4608576" cy="256032"/>
          </a:xfrm>
          <a:prstGeom prst="rect">
            <a:avLst/>
          </a:prstGeom>
          <a:noFill/>
          <a:ln/>
        </p:spPr>
        <p:txBody>
          <a:bodyPr wrap="square" lIns="0" tIns="0" rIns="0" bIns="0" rtlCol="0" anchor="ctr"/>
          <a:lstStyle/>
          <a:p>
            <a:pPr marL="0" indent="0">
              <a:buNone/>
            </a:pPr>
            <a:r>
              <a:rPr lang="en-US" sz="1250" b="1" dirty="0">
                <a:solidFill>
                  <a:srgbClr val="FFFFFF"/>
                </a:solidFill>
                <a:latin typeface="Aptos Display" pitchFamily="34" charset="0"/>
                <a:ea typeface="Aptos Display" pitchFamily="34" charset="-122"/>
                <a:cs typeface="Aptos Display" pitchFamily="34" charset="-120"/>
              </a:rPr>
              <a:t>Terrestrial IoT</a:t>
            </a:r>
            <a:endParaRPr lang="en-US" sz="1250" dirty="0"/>
          </a:p>
        </p:txBody>
      </p:sp>
      <p:sp>
        <p:nvSpPr>
          <p:cNvPr id="20" name="Text 18"/>
          <p:cNvSpPr/>
          <p:nvPr/>
        </p:nvSpPr>
        <p:spPr>
          <a:xfrm>
            <a:off x="868680" y="1929384"/>
            <a:ext cx="4590288" cy="2788920"/>
          </a:xfrm>
          <a:prstGeom prst="rect">
            <a:avLst/>
          </a:prstGeom>
          <a:noFill/>
          <a:ln/>
        </p:spPr>
        <p:txBody>
          <a:bodyPr wrap="square" lIns="508" tIns="508" rIns="508" bIns="508" rtlCol="0" anchor="t">
            <a:normAutofit/>
          </a:bodyPr>
          <a:lstStyle/>
          <a:p>
            <a:r>
              <a:rPr lang="en-US" sz="1220" dirty="0">
                <a:solidFill>
                  <a:srgbClr val="EAF7FB"/>
                </a:solidFill>
                <a:latin typeface="Aptos" pitchFamily="34" charset="0"/>
                <a:ea typeface="Aptos" pitchFamily="34" charset="-122"/>
                <a:cs typeface="Aptos" pitchFamily="34" charset="-120"/>
              </a:rPr>
              <a:t>Mostly RF communication</a:t>
            </a:r>
            <a:endParaRPr lang="en-US" sz="1220" dirty="0"/>
          </a:p>
          <a:p>
            <a:r>
              <a:rPr lang="en-US" sz="1220" dirty="0">
                <a:solidFill>
                  <a:srgbClr val="EAF7FB"/>
                </a:solidFill>
                <a:latin typeface="Aptos" pitchFamily="34" charset="0"/>
                <a:ea typeface="Aptos" pitchFamily="34" charset="-122"/>
                <a:cs typeface="Aptos" pitchFamily="34" charset="-120"/>
              </a:rPr>
              <a:t>Lower propagation delay</a:t>
            </a:r>
            <a:endParaRPr lang="en-US" sz="1220" dirty="0"/>
          </a:p>
          <a:p>
            <a:r>
              <a:rPr lang="en-US" sz="1220" dirty="0">
                <a:solidFill>
                  <a:srgbClr val="EAF7FB"/>
                </a:solidFill>
                <a:latin typeface="Aptos" pitchFamily="34" charset="0"/>
                <a:ea typeface="Aptos" pitchFamily="34" charset="-122"/>
                <a:cs typeface="Aptos" pitchFamily="34" charset="-120"/>
              </a:rPr>
              <a:t>More bandwidth in many deployments</a:t>
            </a:r>
            <a:endParaRPr lang="en-US" sz="1220" dirty="0"/>
          </a:p>
          <a:p>
            <a:r>
              <a:rPr lang="en-US" sz="1220" dirty="0">
                <a:solidFill>
                  <a:srgbClr val="EAF7FB"/>
                </a:solidFill>
                <a:latin typeface="Aptos" pitchFamily="34" charset="0"/>
                <a:ea typeface="Aptos" pitchFamily="34" charset="-122"/>
                <a:cs typeface="Aptos" pitchFamily="34" charset="-120"/>
              </a:rPr>
              <a:t>Easier physical access for maintenance</a:t>
            </a:r>
            <a:endParaRPr lang="en-US" sz="1220" dirty="0"/>
          </a:p>
        </p:txBody>
      </p:sp>
      <p:sp>
        <p:nvSpPr>
          <p:cNvPr id="21" name="Shape 19"/>
          <p:cNvSpPr/>
          <p:nvPr/>
        </p:nvSpPr>
        <p:spPr>
          <a:xfrm>
            <a:off x="6537960" y="1417320"/>
            <a:ext cx="4937760" cy="3383280"/>
          </a:xfrm>
          <a:prstGeom prst="roundRect">
            <a:avLst>
              <a:gd name="adj" fmla="val 2973"/>
            </a:avLst>
          </a:prstGeom>
          <a:solidFill>
            <a:srgbClr val="0F2B47"/>
          </a:solidFill>
          <a:ln w="12700">
            <a:solidFill>
              <a:srgbClr val="1B5676">
                <a:alpha val="95000"/>
              </a:srgbClr>
            </a:solidFill>
            <a:prstDash val="solid"/>
          </a:ln>
        </p:spPr>
        <p:txBody>
          <a:bodyPr/>
          <a:lstStyle/>
          <a:p>
            <a:endParaRPr lang="en-US"/>
          </a:p>
        </p:txBody>
      </p:sp>
      <p:sp>
        <p:nvSpPr>
          <p:cNvPr id="22" name="Text 20"/>
          <p:cNvSpPr/>
          <p:nvPr/>
        </p:nvSpPr>
        <p:spPr>
          <a:xfrm>
            <a:off x="6702552" y="1563624"/>
            <a:ext cx="460857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IoUT</a:t>
            </a:r>
            <a:endParaRPr lang="en-US" sz="1250" dirty="0"/>
          </a:p>
        </p:txBody>
      </p:sp>
      <p:sp>
        <p:nvSpPr>
          <p:cNvPr id="23" name="Text 21"/>
          <p:cNvSpPr/>
          <p:nvPr/>
        </p:nvSpPr>
        <p:spPr>
          <a:xfrm>
            <a:off x="6720840" y="1929384"/>
            <a:ext cx="4590288" cy="2788920"/>
          </a:xfrm>
          <a:prstGeom prst="rect">
            <a:avLst/>
          </a:prstGeom>
          <a:noFill/>
          <a:ln/>
        </p:spPr>
        <p:txBody>
          <a:bodyPr wrap="square" lIns="508" tIns="508" rIns="508" bIns="508" rtlCol="0" anchor="t">
            <a:normAutofit/>
          </a:bodyPr>
          <a:lstStyle/>
          <a:p>
            <a:r>
              <a:rPr lang="en-US" sz="1220" dirty="0">
                <a:solidFill>
                  <a:srgbClr val="EAF7FB"/>
                </a:solidFill>
                <a:latin typeface="Aptos" pitchFamily="34" charset="0"/>
                <a:ea typeface="Aptos" pitchFamily="34" charset="-122"/>
                <a:cs typeface="Aptos" pitchFamily="34" charset="-120"/>
              </a:rPr>
              <a:t>Mainly acoustic communication</a:t>
            </a:r>
            <a:endParaRPr lang="en-US" sz="1220" dirty="0"/>
          </a:p>
          <a:p>
            <a:r>
              <a:rPr lang="en-US" sz="1220" dirty="0">
                <a:solidFill>
                  <a:srgbClr val="EAF7FB"/>
                </a:solidFill>
                <a:latin typeface="Aptos" pitchFamily="34" charset="0"/>
                <a:ea typeface="Aptos" pitchFamily="34" charset="-122"/>
                <a:cs typeface="Aptos" pitchFamily="34" charset="-120"/>
              </a:rPr>
              <a:t>Limited bandwidth + long propagation delay</a:t>
            </a:r>
            <a:endParaRPr lang="en-US" sz="1220" dirty="0"/>
          </a:p>
          <a:p>
            <a:r>
              <a:rPr lang="en-US" sz="1220" dirty="0">
                <a:solidFill>
                  <a:srgbClr val="EAF7FB"/>
                </a:solidFill>
                <a:latin typeface="Aptos" pitchFamily="34" charset="0"/>
                <a:ea typeface="Aptos" pitchFamily="34" charset="-122"/>
                <a:cs typeface="Aptos" pitchFamily="34" charset="-120"/>
              </a:rPr>
              <a:t>Multipath, Doppler effects, and high bit-error rate</a:t>
            </a:r>
            <a:endParaRPr lang="en-US" sz="1220" dirty="0"/>
          </a:p>
          <a:p>
            <a:r>
              <a:rPr lang="en-US" sz="1220" dirty="0">
                <a:solidFill>
                  <a:srgbClr val="EAF7FB"/>
                </a:solidFill>
                <a:latin typeface="Aptos" pitchFamily="34" charset="0"/>
                <a:ea typeface="Aptos" pitchFamily="34" charset="-122"/>
                <a:cs typeface="Aptos" pitchFamily="34" charset="-120"/>
              </a:rPr>
              <a:t>Mobile and energy-constrained nodes</a:t>
            </a:r>
            <a:endParaRPr lang="en-US" sz="1220" dirty="0"/>
          </a:p>
        </p:txBody>
      </p:sp>
      <p:sp>
        <p:nvSpPr>
          <p:cNvPr id="24" name="Text 22"/>
          <p:cNvSpPr/>
          <p:nvPr/>
        </p:nvSpPr>
        <p:spPr>
          <a:xfrm>
            <a:off x="1143000" y="5257800"/>
            <a:ext cx="9966960" cy="411480"/>
          </a:xfrm>
          <a:prstGeom prst="rect">
            <a:avLst/>
          </a:prstGeom>
          <a:noFill/>
          <a:ln/>
        </p:spPr>
        <p:txBody>
          <a:bodyPr wrap="square" lIns="0" tIns="0" rIns="0" bIns="0" rtlCol="0" anchor="ctr"/>
          <a:lstStyle/>
          <a:p>
            <a:pPr marL="0" indent="0" algn="ctr">
              <a:buNone/>
            </a:pPr>
            <a:r>
              <a:rPr lang="en-US" sz="1520" b="1" dirty="0">
                <a:solidFill>
                  <a:srgbClr val="B9F7FF"/>
                </a:solidFill>
              </a:rPr>
              <a:t>Design implication: authentication must be secure without excessive retransmission, delay, computation, or packet overhead.</a:t>
            </a:r>
            <a:endParaRPr lang="en-US" sz="1520" dirty="0"/>
          </a:p>
        </p:txBody>
      </p:sp>
      <p:sp>
        <p:nvSpPr>
          <p:cNvPr id="25" name="Text 23"/>
          <p:cNvSpPr/>
          <p:nvPr/>
        </p:nvSpPr>
        <p:spPr>
          <a:xfrm>
            <a:off x="777240" y="5989320"/>
            <a:ext cx="10607040" cy="228600"/>
          </a:xfrm>
          <a:prstGeom prst="rect">
            <a:avLst/>
          </a:prstGeom>
          <a:noFill/>
          <a:ln/>
        </p:spPr>
        <p:txBody>
          <a:bodyPr wrap="square" lIns="0" tIns="0" rIns="0" bIns="0" rtlCol="0" anchor="ctr">
            <a:normAutofit/>
          </a:bodyPr>
          <a:lstStyle/>
          <a:p>
            <a:pPr marL="0" indent="0" algn="ctr">
              <a:buNone/>
            </a:pPr>
            <a:r>
              <a:rPr lang="en-US" sz="760" dirty="0">
                <a:solidFill>
                  <a:srgbClr val="AFC8D8"/>
                </a:solidFill>
              </a:rPr>
              <a:t>Context from: Zhao et al. [1] — PLA without adversary training data; Ardizzon et al. [5] — RNN/LSTM mobile PLA; Casari et al. [10] — Mobility-aware PLA with mobile devices</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5</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Spoofing and Impersonation Attack Model</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Logical identity may not match physical origin</a:t>
            </a:r>
            <a:endParaRPr lang="en-US" sz="1050" dirty="0"/>
          </a:p>
        </p:txBody>
      </p:sp>
      <p:sp>
        <p:nvSpPr>
          <p:cNvPr id="18" name="Shape 16"/>
          <p:cNvSpPr/>
          <p:nvPr/>
        </p:nvSpPr>
        <p:spPr>
          <a:xfrm>
            <a:off x="685800" y="1325880"/>
            <a:ext cx="4526280" cy="3337560"/>
          </a:xfrm>
          <a:prstGeom prst="roundRect">
            <a:avLst>
              <a:gd name="adj" fmla="val 3014"/>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850392" y="1472184"/>
            <a:ext cx="419709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Attack behavior</a:t>
            </a:r>
            <a:endParaRPr lang="en-US" sz="1250" dirty="0"/>
          </a:p>
        </p:txBody>
      </p:sp>
      <p:sp>
        <p:nvSpPr>
          <p:cNvPr id="20" name="Text 18"/>
          <p:cNvSpPr/>
          <p:nvPr/>
        </p:nvSpPr>
        <p:spPr>
          <a:xfrm>
            <a:off x="868680" y="1837944"/>
            <a:ext cx="4178808" cy="2743200"/>
          </a:xfrm>
          <a:prstGeom prst="rect">
            <a:avLst/>
          </a:prstGeom>
          <a:noFill/>
          <a:ln/>
        </p:spPr>
        <p:txBody>
          <a:bodyPr wrap="square" lIns="508" tIns="508" rIns="508" bIns="508" rtlCol="0" anchor="t">
            <a:normAutofit/>
          </a:bodyPr>
          <a:lstStyle/>
          <a:p>
            <a:r>
              <a:rPr lang="en-US" sz="1090" dirty="0">
                <a:solidFill>
                  <a:srgbClr val="EAF7FB"/>
                </a:solidFill>
                <a:latin typeface="Aptos" pitchFamily="34" charset="0"/>
                <a:ea typeface="Aptos" pitchFamily="34" charset="-122"/>
                <a:cs typeface="Aptos" pitchFamily="34" charset="-120"/>
              </a:rPr>
              <a:t>Malicious transmitter pretends to be a legitimate underwater node.</a:t>
            </a:r>
            <a:endParaRPr lang="en-US" sz="1090" dirty="0"/>
          </a:p>
          <a:p>
            <a:r>
              <a:rPr lang="en-US" sz="1090" dirty="0">
                <a:solidFill>
                  <a:srgbClr val="EAF7FB"/>
                </a:solidFill>
                <a:latin typeface="Aptos" pitchFamily="34" charset="0"/>
                <a:ea typeface="Aptos" pitchFamily="34" charset="-122"/>
                <a:cs typeface="Aptos" pitchFamily="34" charset="-120"/>
              </a:rPr>
              <a:t>It may forge identity, send fake readings, or transmit misleading control messages.</a:t>
            </a:r>
            <a:endParaRPr lang="en-US" sz="1090" dirty="0"/>
          </a:p>
          <a:p>
            <a:r>
              <a:rPr lang="en-US" sz="1090" dirty="0">
                <a:solidFill>
                  <a:srgbClr val="EAF7FB"/>
                </a:solidFill>
                <a:latin typeface="Aptos" pitchFamily="34" charset="0"/>
                <a:ea typeface="Aptos" pitchFamily="34" charset="-122"/>
                <a:cs typeface="Aptos" pitchFamily="34" charset="-120"/>
              </a:rPr>
              <a:t>Receiver may accept false data if authentication fails.</a:t>
            </a:r>
            <a:endParaRPr lang="en-US" sz="1090" dirty="0"/>
          </a:p>
          <a:p>
            <a:r>
              <a:rPr lang="en-US" sz="1090" dirty="0">
                <a:solidFill>
                  <a:srgbClr val="EAF7FB"/>
                </a:solidFill>
                <a:latin typeface="Aptos" pitchFamily="34" charset="0"/>
                <a:ea typeface="Aptos" pitchFamily="34" charset="-122"/>
                <a:cs typeface="Aptos" pitchFamily="34" charset="-120"/>
              </a:rPr>
              <a:t>Impact: corrupted monitoring, routing confusion, wasted bandwidth, reduced trust.</a:t>
            </a:r>
            <a:endParaRPr lang="en-US" sz="1090" dirty="0"/>
          </a:p>
        </p:txBody>
      </p:sp>
      <p:sp>
        <p:nvSpPr>
          <p:cNvPr id="21" name="Shape 19"/>
          <p:cNvSpPr/>
          <p:nvPr/>
        </p:nvSpPr>
        <p:spPr>
          <a:xfrm>
            <a:off x="6492240" y="1417320"/>
            <a:ext cx="1097280" cy="1097280"/>
          </a:xfrm>
          <a:prstGeom prst="ellipse">
            <a:avLst/>
          </a:prstGeom>
          <a:solidFill>
            <a:srgbClr val="25C7A2"/>
          </a:solidFill>
          <a:ln w="12700">
            <a:solidFill>
              <a:srgbClr val="65E4F5"/>
            </a:solidFill>
            <a:prstDash val="solid"/>
          </a:ln>
        </p:spPr>
        <p:txBody>
          <a:bodyPr/>
          <a:lstStyle/>
          <a:p>
            <a:endParaRPr lang="en-US"/>
          </a:p>
        </p:txBody>
      </p:sp>
      <p:sp>
        <p:nvSpPr>
          <p:cNvPr id="22" name="Text 20"/>
          <p:cNvSpPr/>
          <p:nvPr/>
        </p:nvSpPr>
        <p:spPr>
          <a:xfrm>
            <a:off x="6263640" y="2606040"/>
            <a:ext cx="1554480" cy="320040"/>
          </a:xfrm>
          <a:prstGeom prst="rect">
            <a:avLst/>
          </a:prstGeom>
          <a:noFill/>
          <a:ln/>
        </p:spPr>
        <p:txBody>
          <a:bodyPr wrap="square" lIns="0" tIns="0" rIns="0" bIns="0" rtlCol="0" anchor="ctr"/>
          <a:lstStyle/>
          <a:p>
            <a:pPr marL="0" indent="0" algn="ctr">
              <a:buNone/>
            </a:pPr>
            <a:r>
              <a:rPr lang="en-US" sz="900" b="1" dirty="0">
                <a:solidFill>
                  <a:srgbClr val="FFFFFF"/>
                </a:solidFill>
              </a:rPr>
              <a:t>Legitimate</a:t>
            </a:r>
            <a:endParaRPr lang="en-US" sz="900" dirty="0"/>
          </a:p>
          <a:p>
            <a:pPr marL="0" indent="0" algn="ctr">
              <a:buNone/>
            </a:pPr>
            <a:r>
              <a:rPr lang="en-US" sz="900" b="1" dirty="0">
                <a:solidFill>
                  <a:srgbClr val="FFFFFF"/>
                </a:solidFill>
              </a:rPr>
              <a:t>Sensor</a:t>
            </a:r>
            <a:endParaRPr lang="en-US" sz="900" dirty="0"/>
          </a:p>
        </p:txBody>
      </p:sp>
      <p:sp>
        <p:nvSpPr>
          <p:cNvPr id="23" name="Shape 21"/>
          <p:cNvSpPr/>
          <p:nvPr/>
        </p:nvSpPr>
        <p:spPr>
          <a:xfrm>
            <a:off x="6492240" y="3977640"/>
            <a:ext cx="1097280" cy="1097280"/>
          </a:xfrm>
          <a:prstGeom prst="ellipse">
            <a:avLst/>
          </a:prstGeom>
          <a:solidFill>
            <a:srgbClr val="E76F51"/>
          </a:solidFill>
          <a:ln w="12700">
            <a:solidFill>
              <a:srgbClr val="F4A261"/>
            </a:solidFill>
            <a:prstDash val="solid"/>
          </a:ln>
        </p:spPr>
        <p:txBody>
          <a:bodyPr/>
          <a:lstStyle/>
          <a:p>
            <a:endParaRPr lang="en-US"/>
          </a:p>
        </p:txBody>
      </p:sp>
      <p:sp>
        <p:nvSpPr>
          <p:cNvPr id="24" name="Text 22"/>
          <p:cNvSpPr/>
          <p:nvPr/>
        </p:nvSpPr>
        <p:spPr>
          <a:xfrm>
            <a:off x="6355080" y="5166360"/>
            <a:ext cx="1371600" cy="320040"/>
          </a:xfrm>
          <a:prstGeom prst="rect">
            <a:avLst/>
          </a:prstGeom>
          <a:noFill/>
          <a:ln/>
        </p:spPr>
        <p:txBody>
          <a:bodyPr wrap="square" lIns="0" tIns="0" rIns="0" bIns="0" rtlCol="0" anchor="ctr"/>
          <a:lstStyle/>
          <a:p>
            <a:pPr marL="0" indent="0" algn="ctr">
              <a:buNone/>
            </a:pPr>
            <a:r>
              <a:rPr lang="en-US" sz="900" b="1" dirty="0">
                <a:solidFill>
                  <a:srgbClr val="FFFFFF"/>
                </a:solidFill>
              </a:rPr>
              <a:t>Attacker</a:t>
            </a:r>
            <a:endParaRPr lang="en-US" sz="900" dirty="0"/>
          </a:p>
          <a:p>
            <a:pPr marL="0" indent="0" algn="ctr">
              <a:buNone/>
            </a:pPr>
            <a:r>
              <a:rPr lang="en-US" sz="900" b="1" dirty="0">
                <a:solidFill>
                  <a:srgbClr val="FFFFFF"/>
                </a:solidFill>
              </a:rPr>
              <a:t>Node</a:t>
            </a:r>
            <a:endParaRPr lang="en-US" sz="900" dirty="0"/>
          </a:p>
        </p:txBody>
      </p:sp>
      <p:sp>
        <p:nvSpPr>
          <p:cNvPr id="25" name="Shape 23"/>
          <p:cNvSpPr/>
          <p:nvPr/>
        </p:nvSpPr>
        <p:spPr>
          <a:xfrm>
            <a:off x="9555480" y="2514600"/>
            <a:ext cx="1554480" cy="1097280"/>
          </a:xfrm>
          <a:prstGeom prst="roundRect">
            <a:avLst>
              <a:gd name="adj" fmla="val 8333"/>
            </a:avLst>
          </a:prstGeom>
          <a:solidFill>
            <a:srgbClr val="102E4C"/>
          </a:solidFill>
          <a:ln w="12700">
            <a:solidFill>
              <a:srgbClr val="00A7B5"/>
            </a:solidFill>
            <a:prstDash val="solid"/>
          </a:ln>
        </p:spPr>
        <p:txBody>
          <a:bodyPr/>
          <a:lstStyle/>
          <a:p>
            <a:endParaRPr lang="en-US"/>
          </a:p>
        </p:txBody>
      </p:sp>
      <p:sp>
        <p:nvSpPr>
          <p:cNvPr id="26" name="Text 24"/>
          <p:cNvSpPr/>
          <p:nvPr/>
        </p:nvSpPr>
        <p:spPr>
          <a:xfrm>
            <a:off x="9646920" y="2852928"/>
            <a:ext cx="1371600" cy="274320"/>
          </a:xfrm>
          <a:prstGeom prst="rect">
            <a:avLst/>
          </a:prstGeom>
          <a:noFill/>
          <a:ln/>
        </p:spPr>
        <p:txBody>
          <a:bodyPr wrap="square" lIns="0" tIns="0" rIns="0" bIns="0" rtlCol="0" anchor="ctr"/>
          <a:lstStyle/>
          <a:p>
            <a:pPr marL="0" indent="0" algn="ctr">
              <a:buNone/>
            </a:pPr>
            <a:r>
              <a:rPr lang="en-US" sz="1000" b="1" dirty="0">
                <a:solidFill>
                  <a:srgbClr val="FFFFFF"/>
                </a:solidFill>
              </a:rPr>
              <a:t>Receiver /</a:t>
            </a:r>
            <a:endParaRPr lang="en-US" sz="1000" dirty="0"/>
          </a:p>
          <a:p>
            <a:pPr marL="0" indent="0" algn="ctr">
              <a:buNone/>
            </a:pPr>
            <a:r>
              <a:rPr lang="en-US" sz="1000" b="1" dirty="0">
                <a:solidFill>
                  <a:srgbClr val="FFFFFF"/>
                </a:solidFill>
              </a:rPr>
              <a:t>Sink</a:t>
            </a:r>
            <a:endParaRPr lang="en-US" sz="1000" dirty="0"/>
          </a:p>
        </p:txBody>
      </p:sp>
      <p:sp>
        <p:nvSpPr>
          <p:cNvPr id="27" name="Shape 25"/>
          <p:cNvSpPr/>
          <p:nvPr/>
        </p:nvSpPr>
        <p:spPr>
          <a:xfrm>
            <a:off x="7635240" y="1965960"/>
            <a:ext cx="1920240" cy="932688"/>
          </a:xfrm>
          <a:prstGeom prst="line">
            <a:avLst/>
          </a:prstGeom>
          <a:noFill/>
          <a:ln w="22860">
            <a:solidFill>
              <a:srgbClr val="25C7A2"/>
            </a:solidFill>
            <a:prstDash val="solid"/>
            <a:headEnd type="none"/>
            <a:tailEnd type="triangle"/>
          </a:ln>
        </p:spPr>
        <p:txBody>
          <a:bodyPr/>
          <a:lstStyle/>
          <a:p>
            <a:endParaRPr lang="en-US"/>
          </a:p>
        </p:txBody>
      </p:sp>
      <p:sp>
        <p:nvSpPr>
          <p:cNvPr id="28" name="Shape 26"/>
          <p:cNvSpPr/>
          <p:nvPr/>
        </p:nvSpPr>
        <p:spPr>
          <a:xfrm flipV="1">
            <a:off x="7589520" y="2935224"/>
            <a:ext cx="1959559" cy="1481328"/>
          </a:xfrm>
          <a:prstGeom prst="line">
            <a:avLst/>
          </a:prstGeom>
          <a:noFill/>
          <a:ln w="22860">
            <a:solidFill>
              <a:srgbClr val="E76F51"/>
            </a:solidFill>
            <a:prstDash val="solid"/>
            <a:headEnd type="none"/>
            <a:tailEnd type="triangle"/>
          </a:ln>
        </p:spPr>
        <p:txBody>
          <a:bodyPr/>
          <a:lstStyle/>
          <a:p>
            <a:endParaRPr lang="en-US"/>
          </a:p>
        </p:txBody>
      </p:sp>
      <p:sp>
        <p:nvSpPr>
          <p:cNvPr id="29" name="Text 27"/>
          <p:cNvSpPr/>
          <p:nvPr/>
        </p:nvSpPr>
        <p:spPr>
          <a:xfrm>
            <a:off x="8229600" y="3794760"/>
            <a:ext cx="1593798" cy="804672"/>
          </a:xfrm>
          <a:prstGeom prst="rect">
            <a:avLst/>
          </a:prstGeom>
          <a:noFill/>
          <a:ln/>
        </p:spPr>
        <p:txBody>
          <a:bodyPr wrap="square" lIns="0" tIns="0" rIns="0" bIns="0" rtlCol="0" anchor="ctr"/>
          <a:lstStyle/>
          <a:p>
            <a:pPr marL="0" indent="0">
              <a:buNone/>
            </a:pPr>
            <a:r>
              <a:rPr lang="en-US" sz="900" b="1" dirty="0">
                <a:solidFill>
                  <a:srgbClr val="F4A261"/>
                </a:solidFill>
              </a:rPr>
              <a:t>Claimed ID: Sensor A</a:t>
            </a:r>
            <a:endParaRPr lang="en-US" sz="900" dirty="0"/>
          </a:p>
        </p:txBody>
      </p:sp>
      <p:sp>
        <p:nvSpPr>
          <p:cNvPr id="30" name="Text 28"/>
          <p:cNvSpPr/>
          <p:nvPr/>
        </p:nvSpPr>
        <p:spPr>
          <a:xfrm>
            <a:off x="731520" y="5989320"/>
            <a:ext cx="10515600" cy="237744"/>
          </a:xfrm>
          <a:prstGeom prst="rect">
            <a:avLst/>
          </a:prstGeom>
          <a:noFill/>
          <a:ln/>
        </p:spPr>
        <p:txBody>
          <a:bodyPr wrap="square" lIns="0" tIns="0" rIns="0" bIns="0" rtlCol="0" anchor="ctr"/>
          <a:lstStyle/>
          <a:p>
            <a:pPr marL="0" indent="0" algn="ctr">
              <a:buNone/>
            </a:pPr>
            <a:r>
              <a:rPr lang="en-US" sz="820" dirty="0">
                <a:solidFill>
                  <a:srgbClr val="AFC8D8"/>
                </a:solidFill>
              </a:rPr>
              <a:t>Aman et al. [9] — LoS impersonation detection; Xiao et al. [4] — RL/DRL learning-based PHY-layer authentication</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6</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Why Spoofing is Hard in IoUT</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The legitimate channel also changes naturally</a:t>
            </a:r>
            <a:endParaRPr lang="en-US" sz="1050" dirty="0"/>
          </a:p>
        </p:txBody>
      </p:sp>
      <p:sp>
        <p:nvSpPr>
          <p:cNvPr id="18" name="Shape 16"/>
          <p:cNvSpPr/>
          <p:nvPr/>
        </p:nvSpPr>
        <p:spPr>
          <a:xfrm>
            <a:off x="685800" y="1325880"/>
            <a:ext cx="4389120" cy="3291840"/>
          </a:xfrm>
          <a:prstGeom prst="roundRect">
            <a:avLst>
              <a:gd name="adj" fmla="val 3056"/>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850392" y="1472184"/>
            <a:ext cx="40599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Hard constraints</a:t>
            </a:r>
            <a:endParaRPr lang="en-US" sz="1250" dirty="0"/>
          </a:p>
        </p:txBody>
      </p:sp>
      <p:sp>
        <p:nvSpPr>
          <p:cNvPr id="20" name="Text 18"/>
          <p:cNvSpPr/>
          <p:nvPr/>
        </p:nvSpPr>
        <p:spPr>
          <a:xfrm>
            <a:off x="868680" y="1837944"/>
            <a:ext cx="4041648" cy="2697480"/>
          </a:xfrm>
          <a:prstGeom prst="rect">
            <a:avLst/>
          </a:prstGeom>
          <a:noFill/>
          <a:ln/>
        </p:spPr>
        <p:txBody>
          <a:bodyPr wrap="square" lIns="508" tIns="508" rIns="508" bIns="508" rtlCol="0" anchor="t">
            <a:normAutofit/>
          </a:bodyPr>
          <a:lstStyle/>
          <a:p>
            <a:r>
              <a:rPr lang="en-US" sz="1080" dirty="0">
                <a:solidFill>
                  <a:srgbClr val="EAF7FB"/>
                </a:solidFill>
                <a:latin typeface="Aptos" pitchFamily="34" charset="0"/>
                <a:ea typeface="Aptos" pitchFamily="34" charset="-122"/>
                <a:cs typeface="Aptos" pitchFamily="34" charset="-120"/>
              </a:rPr>
              <a:t>Nodes are remote and hard to physically monitor.</a:t>
            </a:r>
            <a:endParaRPr lang="en-US" sz="1080" dirty="0"/>
          </a:p>
          <a:p>
            <a:r>
              <a:rPr lang="en-US" sz="1080" dirty="0">
                <a:solidFill>
                  <a:srgbClr val="EAF7FB"/>
                </a:solidFill>
                <a:latin typeface="Aptos" pitchFamily="34" charset="0"/>
                <a:ea typeface="Aptos" pitchFamily="34" charset="-122"/>
                <a:cs typeface="Aptos" pitchFamily="34" charset="-120"/>
              </a:rPr>
              <a:t>Heavy authentication handshakes consume bandwidth and energy.</a:t>
            </a:r>
            <a:endParaRPr lang="en-US" sz="1080" dirty="0"/>
          </a:p>
          <a:p>
            <a:r>
              <a:rPr lang="en-US" sz="1080" dirty="0">
                <a:solidFill>
                  <a:srgbClr val="EAF7FB"/>
                </a:solidFill>
                <a:latin typeface="Aptos" pitchFamily="34" charset="0"/>
                <a:ea typeface="Aptos" pitchFamily="34" charset="-122"/>
                <a:cs typeface="Aptos" pitchFamily="34" charset="-120"/>
              </a:rPr>
              <a:t>Channels change due to movement and environment.</a:t>
            </a:r>
            <a:endParaRPr lang="en-US" sz="1080" dirty="0"/>
          </a:p>
          <a:p>
            <a:r>
              <a:rPr lang="en-US" sz="1080" dirty="0">
                <a:solidFill>
                  <a:srgbClr val="EAF7FB"/>
                </a:solidFill>
                <a:latin typeface="Aptos" pitchFamily="34" charset="0"/>
                <a:ea typeface="Aptos" pitchFamily="34" charset="-122"/>
                <a:cs typeface="Aptos" pitchFamily="34" charset="-120"/>
              </a:rPr>
              <a:t>A moving legitimate node may look suspicious if the method is not mobility-aware.</a:t>
            </a:r>
            <a:endParaRPr lang="en-US" sz="1080" dirty="0"/>
          </a:p>
        </p:txBody>
      </p:sp>
      <p:sp>
        <p:nvSpPr>
          <p:cNvPr id="21" name="Shape 19"/>
          <p:cNvSpPr/>
          <p:nvPr/>
        </p:nvSpPr>
        <p:spPr>
          <a:xfrm>
            <a:off x="6492240" y="1920240"/>
            <a:ext cx="1143000" cy="502920"/>
          </a:xfrm>
          <a:prstGeom prst="chevron">
            <a:avLst/>
          </a:prstGeom>
          <a:solidFill>
            <a:srgbClr val="00A7B5"/>
          </a:solidFill>
          <a:ln w="12700">
            <a:solidFill>
              <a:srgbClr val="65E4F5"/>
            </a:solidFill>
            <a:prstDash val="solid"/>
          </a:ln>
        </p:spPr>
        <p:txBody>
          <a:bodyPr/>
          <a:lstStyle/>
          <a:p>
            <a:endParaRPr lang="en-US"/>
          </a:p>
        </p:txBody>
      </p:sp>
      <p:sp>
        <p:nvSpPr>
          <p:cNvPr id="22" name="Shape 20"/>
          <p:cNvSpPr/>
          <p:nvPr/>
        </p:nvSpPr>
        <p:spPr>
          <a:xfrm>
            <a:off x="9098280" y="3200400"/>
            <a:ext cx="1143000" cy="502920"/>
          </a:xfrm>
          <a:prstGeom prst="chevron">
            <a:avLst/>
          </a:prstGeom>
          <a:solidFill>
            <a:srgbClr val="00A7B5"/>
          </a:solidFill>
          <a:ln w="12700">
            <a:solidFill>
              <a:srgbClr val="65E4F5"/>
            </a:solidFill>
            <a:prstDash val="solid"/>
          </a:ln>
        </p:spPr>
        <p:txBody>
          <a:bodyPr/>
          <a:lstStyle/>
          <a:p>
            <a:endParaRPr lang="en-US"/>
          </a:p>
        </p:txBody>
      </p:sp>
      <p:sp>
        <p:nvSpPr>
          <p:cNvPr id="23" name="Text 21"/>
          <p:cNvSpPr/>
          <p:nvPr/>
        </p:nvSpPr>
        <p:spPr>
          <a:xfrm>
            <a:off x="6327648" y="2496312"/>
            <a:ext cx="1463040" cy="219456"/>
          </a:xfrm>
          <a:prstGeom prst="rect">
            <a:avLst/>
          </a:prstGeom>
          <a:noFill/>
          <a:ln/>
        </p:spPr>
        <p:txBody>
          <a:bodyPr wrap="square" lIns="0" tIns="0" rIns="0" bIns="0" rtlCol="0" anchor="ctr"/>
          <a:lstStyle/>
          <a:p>
            <a:pPr marL="0" indent="0" algn="ctr">
              <a:buNone/>
            </a:pPr>
            <a:r>
              <a:rPr lang="en-US" sz="900" dirty="0">
                <a:solidFill>
                  <a:srgbClr val="FFFFFF"/>
                </a:solidFill>
              </a:rPr>
              <a:t>AUV at t1</a:t>
            </a:r>
            <a:endParaRPr lang="en-US" sz="900" dirty="0"/>
          </a:p>
        </p:txBody>
      </p:sp>
      <p:sp>
        <p:nvSpPr>
          <p:cNvPr id="24" name="Text 22"/>
          <p:cNvSpPr/>
          <p:nvPr/>
        </p:nvSpPr>
        <p:spPr>
          <a:xfrm>
            <a:off x="8915400" y="3767328"/>
            <a:ext cx="1463040" cy="219456"/>
          </a:xfrm>
          <a:prstGeom prst="rect">
            <a:avLst/>
          </a:prstGeom>
          <a:noFill/>
          <a:ln/>
        </p:spPr>
        <p:txBody>
          <a:bodyPr wrap="square" lIns="0" tIns="0" rIns="0" bIns="0" rtlCol="0" anchor="ctr"/>
          <a:lstStyle/>
          <a:p>
            <a:pPr marL="0" indent="0" algn="ctr">
              <a:buNone/>
            </a:pPr>
            <a:r>
              <a:rPr lang="en-US" sz="900" dirty="0">
                <a:solidFill>
                  <a:srgbClr val="FFFFFF"/>
                </a:solidFill>
              </a:rPr>
              <a:t>AUV at t2</a:t>
            </a:r>
            <a:endParaRPr lang="en-US" sz="900" dirty="0"/>
          </a:p>
        </p:txBody>
      </p:sp>
      <p:sp>
        <p:nvSpPr>
          <p:cNvPr id="25" name="Shape 23"/>
          <p:cNvSpPr/>
          <p:nvPr/>
        </p:nvSpPr>
        <p:spPr>
          <a:xfrm>
            <a:off x="7726680" y="2377440"/>
            <a:ext cx="1280160" cy="868680"/>
          </a:xfrm>
          <a:prstGeom prst="line">
            <a:avLst/>
          </a:prstGeom>
          <a:noFill/>
          <a:ln w="22860">
            <a:solidFill>
              <a:srgbClr val="65E4F5"/>
            </a:solidFill>
            <a:prstDash val="solid"/>
            <a:headEnd type="none"/>
            <a:tailEnd type="triangle"/>
          </a:ln>
        </p:spPr>
        <p:txBody>
          <a:bodyPr/>
          <a:lstStyle/>
          <a:p>
            <a:endParaRPr lang="en-US"/>
          </a:p>
        </p:txBody>
      </p:sp>
      <p:sp>
        <p:nvSpPr>
          <p:cNvPr id="26" name="Shape 24"/>
          <p:cNvSpPr/>
          <p:nvPr/>
        </p:nvSpPr>
        <p:spPr>
          <a:xfrm>
            <a:off x="5806440" y="1508760"/>
            <a:ext cx="2743200" cy="1371600"/>
          </a:xfrm>
          <a:prstGeom prst="arc">
            <a:avLst/>
          </a:prstGeom>
          <a:noFill/>
          <a:ln w="12700">
            <a:solidFill>
              <a:srgbClr val="65E4F5">
                <a:alpha val="80000"/>
              </a:srgbClr>
            </a:solidFill>
            <a:prstDash val="solid"/>
          </a:ln>
        </p:spPr>
        <p:txBody>
          <a:bodyPr/>
          <a:lstStyle/>
          <a:p>
            <a:endParaRPr lang="en-US"/>
          </a:p>
        </p:txBody>
      </p:sp>
      <p:sp>
        <p:nvSpPr>
          <p:cNvPr id="27" name="Shape 25"/>
          <p:cNvSpPr/>
          <p:nvPr/>
        </p:nvSpPr>
        <p:spPr>
          <a:xfrm>
            <a:off x="8366760" y="2743200"/>
            <a:ext cx="2743200" cy="1371600"/>
          </a:xfrm>
          <a:prstGeom prst="arc">
            <a:avLst/>
          </a:prstGeom>
          <a:noFill/>
          <a:ln w="12700">
            <a:solidFill>
              <a:srgbClr val="F4A261">
                <a:alpha val="90000"/>
              </a:srgbClr>
            </a:solidFill>
            <a:prstDash val="solid"/>
          </a:ln>
        </p:spPr>
        <p:txBody>
          <a:bodyPr/>
          <a:lstStyle/>
          <a:p>
            <a:endParaRPr lang="en-US"/>
          </a:p>
        </p:txBody>
      </p:sp>
      <p:sp>
        <p:nvSpPr>
          <p:cNvPr id="28" name="Text 26"/>
          <p:cNvSpPr/>
          <p:nvPr/>
        </p:nvSpPr>
        <p:spPr>
          <a:xfrm>
            <a:off x="6400800" y="4663440"/>
            <a:ext cx="3749040" cy="320040"/>
          </a:xfrm>
          <a:prstGeom prst="rect">
            <a:avLst/>
          </a:prstGeom>
          <a:noFill/>
          <a:ln/>
        </p:spPr>
        <p:txBody>
          <a:bodyPr wrap="square" lIns="0" tIns="0" rIns="0" bIns="0" rtlCol="0" anchor="ctr"/>
          <a:lstStyle/>
          <a:p>
            <a:pPr marL="0" indent="0" algn="ctr">
              <a:buNone/>
            </a:pPr>
            <a:r>
              <a:rPr lang="en-US" sz="1500" b="1" dirty="0">
                <a:solidFill>
                  <a:srgbClr val="B9F7FF"/>
                </a:solidFill>
              </a:rPr>
              <a:t>Fingerprint changes ≠ always attack</a:t>
            </a:r>
            <a:endParaRPr lang="en-US" sz="1500" dirty="0"/>
          </a:p>
        </p:txBody>
      </p:sp>
      <p:sp>
        <p:nvSpPr>
          <p:cNvPr id="29" name="Text 27"/>
          <p:cNvSpPr/>
          <p:nvPr/>
        </p:nvSpPr>
        <p:spPr>
          <a:xfrm>
            <a:off x="731520" y="5989320"/>
            <a:ext cx="10515600" cy="237744"/>
          </a:xfrm>
          <a:prstGeom prst="rect">
            <a:avLst/>
          </a:prstGeom>
          <a:noFill/>
          <a:ln/>
        </p:spPr>
        <p:txBody>
          <a:bodyPr wrap="square" lIns="0" tIns="0" rIns="0" bIns="0" rtlCol="0" anchor="ctr">
            <a:normAutofit/>
          </a:bodyPr>
          <a:lstStyle/>
          <a:p>
            <a:pPr marL="0" indent="0" algn="ctr">
              <a:buNone/>
            </a:pPr>
            <a:r>
              <a:rPr lang="en-US" sz="750" dirty="0">
                <a:solidFill>
                  <a:srgbClr val="AFC8D8"/>
                </a:solidFill>
              </a:rPr>
              <a:t>Mobility-focused sources: Ardizzon et al. [5] — RNN/LSTM mobile PLA; Ventura et al. [6] — Location-tracking authentication; Casari et al. [10] — Mobility-aware PLA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7</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Review Aim, Research Questions, and Contribution</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 focused comparative review - not a new algorithm or experimental implementation</a:t>
            </a:r>
            <a:endParaRPr lang="en-US" sz="1050" dirty="0"/>
          </a:p>
        </p:txBody>
      </p:sp>
      <p:sp>
        <p:nvSpPr>
          <p:cNvPr id="18" name="Shape 16"/>
          <p:cNvSpPr/>
          <p:nvPr/>
        </p:nvSpPr>
        <p:spPr>
          <a:xfrm>
            <a:off x="594360" y="1298448"/>
            <a:ext cx="5394960" cy="4434840"/>
          </a:xfrm>
          <a:prstGeom prst="roundRect">
            <a:avLst>
              <a:gd name="adj" fmla="val 2268"/>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758952" y="1444752"/>
            <a:ext cx="506577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Research Questions</a:t>
            </a:r>
            <a:endParaRPr lang="en-US" sz="1250" dirty="0"/>
          </a:p>
        </p:txBody>
      </p:sp>
      <p:sp>
        <p:nvSpPr>
          <p:cNvPr id="20" name="Text 18"/>
          <p:cNvSpPr/>
          <p:nvPr/>
        </p:nvSpPr>
        <p:spPr>
          <a:xfrm>
            <a:off x="777240" y="1810512"/>
            <a:ext cx="5047488" cy="3840480"/>
          </a:xfrm>
          <a:prstGeom prst="rect">
            <a:avLst/>
          </a:prstGeom>
          <a:noFill/>
          <a:ln/>
        </p:spPr>
        <p:txBody>
          <a:bodyPr wrap="square" lIns="508" tIns="508" rIns="508" bIns="508" rtlCol="0" anchor="t">
            <a:normAutofit/>
          </a:bodyPr>
          <a:lstStyle/>
          <a:p>
            <a:r>
              <a:rPr lang="en-US" sz="860" dirty="0">
                <a:solidFill>
                  <a:srgbClr val="EAF7FB"/>
                </a:solidFill>
                <a:latin typeface="Aptos" pitchFamily="34" charset="0"/>
                <a:ea typeface="Aptos" pitchFamily="34" charset="-122"/>
                <a:cs typeface="Aptos" pitchFamily="34" charset="-120"/>
              </a:rPr>
              <a:t>RQ1: Which physical-layer features are most commonly used for spoofing and impersonation detection in IoUT-related underwater acoustic networks?</a:t>
            </a:r>
            <a:endParaRPr lang="en-US" sz="860" dirty="0"/>
          </a:p>
          <a:p>
            <a:r>
              <a:rPr lang="en-US" sz="860" dirty="0">
                <a:solidFill>
                  <a:srgbClr val="EAF7FB"/>
                </a:solidFill>
                <a:latin typeface="Aptos" pitchFamily="34" charset="0"/>
                <a:ea typeface="Aptos" pitchFamily="34" charset="-122"/>
                <a:cs typeface="Aptos" pitchFamily="34" charset="-120"/>
              </a:rPr>
              <a:t>RQ2: How do learning-based PLA techniques differ in adaptability, energy cost, computational complexity, and mobility support?</a:t>
            </a:r>
            <a:endParaRPr lang="en-US" sz="860" dirty="0"/>
          </a:p>
          <a:p>
            <a:r>
              <a:rPr lang="en-US" sz="860" dirty="0">
                <a:solidFill>
                  <a:srgbClr val="EAF7FB"/>
                </a:solidFill>
                <a:latin typeface="Aptos" pitchFamily="34" charset="0"/>
                <a:ea typeface="Aptos" pitchFamily="34" charset="-122"/>
                <a:cs typeface="Aptos" pitchFamily="34" charset="-120"/>
              </a:rPr>
              <a:t>RQ3: Which methods rely on adversary training data, historical CIR databases, cooperative nodes, localization models, or real-environment validation?</a:t>
            </a:r>
            <a:endParaRPr lang="en-US" sz="860" dirty="0"/>
          </a:p>
          <a:p>
            <a:r>
              <a:rPr lang="en-US" sz="860" dirty="0">
                <a:solidFill>
                  <a:srgbClr val="EAF7FB"/>
                </a:solidFill>
                <a:latin typeface="Aptos" pitchFamily="34" charset="0"/>
                <a:ea typeface="Aptos" pitchFamily="34" charset="-122"/>
                <a:cs typeface="Aptos" pitchFamily="34" charset="-120"/>
              </a:rPr>
              <a:t>RQ4: What practical research gaps still prevent deployment of PLA-based spoofing defense in real IoUT systems?</a:t>
            </a:r>
            <a:endParaRPr lang="en-US" sz="860" dirty="0"/>
          </a:p>
        </p:txBody>
      </p:sp>
      <p:sp>
        <p:nvSpPr>
          <p:cNvPr id="21" name="Shape 19"/>
          <p:cNvSpPr/>
          <p:nvPr/>
        </p:nvSpPr>
        <p:spPr>
          <a:xfrm>
            <a:off x="6263640" y="1298448"/>
            <a:ext cx="5257800" cy="4434840"/>
          </a:xfrm>
          <a:prstGeom prst="roundRect">
            <a:avLst>
              <a:gd name="adj" fmla="val 2268"/>
            </a:avLst>
          </a:prstGeom>
          <a:solidFill>
            <a:srgbClr val="0A243D"/>
          </a:solidFill>
          <a:ln w="12700">
            <a:solidFill>
              <a:srgbClr val="1B5676">
                <a:alpha val="95000"/>
              </a:srgbClr>
            </a:solidFill>
            <a:prstDash val="solid"/>
          </a:ln>
        </p:spPr>
        <p:txBody>
          <a:bodyPr/>
          <a:lstStyle/>
          <a:p>
            <a:endParaRPr lang="en-US"/>
          </a:p>
        </p:txBody>
      </p:sp>
      <p:sp>
        <p:nvSpPr>
          <p:cNvPr id="22" name="Text 20"/>
          <p:cNvSpPr/>
          <p:nvPr/>
        </p:nvSpPr>
        <p:spPr>
          <a:xfrm>
            <a:off x="6428232" y="1444752"/>
            <a:ext cx="492861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Review Contribution</a:t>
            </a:r>
            <a:endParaRPr lang="en-US" sz="1250" dirty="0"/>
          </a:p>
        </p:txBody>
      </p:sp>
      <p:sp>
        <p:nvSpPr>
          <p:cNvPr id="23" name="Text 21"/>
          <p:cNvSpPr/>
          <p:nvPr/>
        </p:nvSpPr>
        <p:spPr>
          <a:xfrm>
            <a:off x="6446520" y="1810512"/>
            <a:ext cx="4910328" cy="3840480"/>
          </a:xfrm>
          <a:prstGeom prst="rect">
            <a:avLst/>
          </a:prstGeom>
          <a:noFill/>
          <a:ln/>
        </p:spPr>
        <p:txBody>
          <a:bodyPr wrap="square" lIns="508" tIns="508" rIns="508" bIns="508" rtlCol="0" anchor="t">
            <a:normAutofit/>
          </a:bodyPr>
          <a:lstStyle/>
          <a:p>
            <a:r>
              <a:rPr lang="en-US" sz="890" dirty="0">
                <a:solidFill>
                  <a:srgbClr val="EAF7FB"/>
                </a:solidFill>
                <a:latin typeface="Aptos" pitchFamily="34" charset="0"/>
                <a:ea typeface="Aptos" pitchFamily="34" charset="-122"/>
                <a:cs typeface="Aptos" pitchFamily="34" charset="-120"/>
              </a:rPr>
              <a:t>Organizes ten representative IoUT-related spoofing and PLA studies by feature source, learning mechanism, and authentication decision.</a:t>
            </a:r>
            <a:endParaRPr lang="en-US" sz="890" dirty="0"/>
          </a:p>
          <a:p>
            <a:r>
              <a:rPr lang="en-US" sz="890" dirty="0">
                <a:solidFill>
                  <a:srgbClr val="EAF7FB"/>
                </a:solidFill>
                <a:latin typeface="Aptos" pitchFamily="34" charset="0"/>
                <a:ea typeface="Aptos" pitchFamily="34" charset="-122"/>
                <a:cs typeface="Aptos" pitchFamily="34" charset="-120"/>
              </a:rPr>
              <a:t>Compares methods by attack model, PLA feature, decision method, mobility support, adversary-data requirement, evaluation basis, strengths, and limitations.</a:t>
            </a:r>
            <a:endParaRPr lang="en-US" sz="890" dirty="0"/>
          </a:p>
          <a:p>
            <a:r>
              <a:rPr lang="en-US" sz="890" dirty="0">
                <a:solidFill>
                  <a:srgbClr val="EAF7FB"/>
                </a:solidFill>
                <a:latin typeface="Aptos" pitchFamily="34" charset="0"/>
                <a:ea typeface="Aptos" pitchFamily="34" charset="-122"/>
                <a:cs typeface="Aptos" pitchFamily="34" charset="-120"/>
              </a:rPr>
              <a:t>Identifies research gaps and future directions for practical IoUT spoofing defense.</a:t>
            </a:r>
            <a:endParaRPr lang="en-US" sz="890" dirty="0"/>
          </a:p>
          <a:p>
            <a:r>
              <a:rPr lang="en-US" sz="890" dirty="0">
                <a:solidFill>
                  <a:srgbClr val="EAF7FB"/>
                </a:solidFill>
                <a:latin typeface="Aptos" pitchFamily="34" charset="0"/>
                <a:ea typeface="Aptos" pitchFamily="34" charset="-122"/>
                <a:cs typeface="Aptos" pitchFamily="34" charset="-120"/>
              </a:rPr>
              <a:t>Emphasizes lightweight, adaptive, mobility-aware, explainable, benchmarked, and hybrid PLA frameworks.</a:t>
            </a:r>
            <a:endParaRPr lang="en-US" sz="890" dirty="0"/>
          </a:p>
        </p:txBody>
      </p:sp>
      <p:sp>
        <p:nvSpPr>
          <p:cNvPr id="24" name="Shape 22"/>
          <p:cNvSpPr/>
          <p:nvPr/>
        </p:nvSpPr>
        <p:spPr>
          <a:xfrm>
            <a:off x="1143000" y="5897880"/>
            <a:ext cx="1965960" cy="329184"/>
          </a:xfrm>
          <a:prstGeom prst="roundRect">
            <a:avLst>
              <a:gd name="adj" fmla="val 22222"/>
            </a:avLst>
          </a:prstGeom>
          <a:solidFill>
            <a:srgbClr val="00A7B5"/>
          </a:solidFill>
          <a:ln w="12700">
            <a:solidFill>
              <a:srgbClr val="65E4F5">
                <a:alpha val="80000"/>
              </a:srgbClr>
            </a:solidFill>
            <a:prstDash val="solid"/>
          </a:ln>
        </p:spPr>
        <p:txBody>
          <a:bodyPr/>
          <a:lstStyle/>
          <a:p>
            <a:endParaRPr lang="en-US"/>
          </a:p>
        </p:txBody>
      </p:sp>
      <p:sp>
        <p:nvSpPr>
          <p:cNvPr id="25" name="Text 23"/>
          <p:cNvSpPr/>
          <p:nvPr/>
        </p:nvSpPr>
        <p:spPr>
          <a:xfrm>
            <a:off x="1188720" y="5971032"/>
            <a:ext cx="1874520" cy="146304"/>
          </a:xfrm>
          <a:prstGeom prst="rect">
            <a:avLst/>
          </a:prstGeom>
          <a:noFill/>
          <a:ln/>
        </p:spPr>
        <p:txBody>
          <a:bodyPr wrap="square" lIns="0" tIns="0" rIns="0" bIns="0" rtlCol="0" anchor="ctr"/>
          <a:lstStyle/>
          <a:p>
            <a:pPr marL="0" indent="0" algn="ctr">
              <a:buNone/>
            </a:pPr>
            <a:r>
              <a:rPr lang="en-US" sz="750" b="1" dirty="0">
                <a:solidFill>
                  <a:srgbClr val="FFFFFF"/>
                </a:solidFill>
              </a:rPr>
              <a:t>Problem</a:t>
            </a:r>
            <a:endParaRPr lang="en-US" sz="750" dirty="0"/>
          </a:p>
        </p:txBody>
      </p:sp>
      <p:sp>
        <p:nvSpPr>
          <p:cNvPr id="26" name="Shape 24"/>
          <p:cNvSpPr/>
          <p:nvPr/>
        </p:nvSpPr>
        <p:spPr>
          <a:xfrm>
            <a:off x="3090672" y="6062472"/>
            <a:ext cx="384048" cy="0"/>
          </a:xfrm>
          <a:prstGeom prst="line">
            <a:avLst/>
          </a:prstGeom>
          <a:noFill/>
          <a:ln w="22860">
            <a:solidFill>
              <a:srgbClr val="65E4F5"/>
            </a:solidFill>
            <a:prstDash val="solid"/>
            <a:headEnd type="none"/>
            <a:tailEnd type="triangle"/>
          </a:ln>
        </p:spPr>
        <p:txBody>
          <a:bodyPr/>
          <a:lstStyle/>
          <a:p>
            <a:endParaRPr lang="en-US"/>
          </a:p>
        </p:txBody>
      </p:sp>
      <p:sp>
        <p:nvSpPr>
          <p:cNvPr id="27" name="Shape 25"/>
          <p:cNvSpPr/>
          <p:nvPr/>
        </p:nvSpPr>
        <p:spPr>
          <a:xfrm>
            <a:off x="3593592" y="5897880"/>
            <a:ext cx="1965960" cy="329184"/>
          </a:xfrm>
          <a:prstGeom prst="roundRect">
            <a:avLst>
              <a:gd name="adj" fmla="val 22222"/>
            </a:avLst>
          </a:prstGeom>
          <a:solidFill>
            <a:srgbClr val="102E4C"/>
          </a:solidFill>
          <a:ln w="12700">
            <a:solidFill>
              <a:srgbClr val="65E4F5">
                <a:alpha val="80000"/>
              </a:srgbClr>
            </a:solidFill>
            <a:prstDash val="solid"/>
          </a:ln>
        </p:spPr>
        <p:txBody>
          <a:bodyPr/>
          <a:lstStyle/>
          <a:p>
            <a:endParaRPr lang="en-US"/>
          </a:p>
        </p:txBody>
      </p:sp>
      <p:sp>
        <p:nvSpPr>
          <p:cNvPr id="28" name="Text 26"/>
          <p:cNvSpPr/>
          <p:nvPr/>
        </p:nvSpPr>
        <p:spPr>
          <a:xfrm>
            <a:off x="3639312" y="5971032"/>
            <a:ext cx="1874520" cy="146304"/>
          </a:xfrm>
          <a:prstGeom prst="rect">
            <a:avLst/>
          </a:prstGeom>
          <a:noFill/>
          <a:ln/>
        </p:spPr>
        <p:txBody>
          <a:bodyPr wrap="square" lIns="0" tIns="0" rIns="0" bIns="0" rtlCol="0" anchor="ctr"/>
          <a:lstStyle/>
          <a:p>
            <a:pPr marL="0" indent="0" algn="ctr">
              <a:buNone/>
            </a:pPr>
            <a:r>
              <a:rPr lang="en-US" sz="750" b="1" dirty="0">
                <a:solidFill>
                  <a:srgbClr val="FFFFFF"/>
                </a:solidFill>
              </a:rPr>
              <a:t>Research Questions</a:t>
            </a:r>
            <a:endParaRPr lang="en-US" sz="750" dirty="0"/>
          </a:p>
        </p:txBody>
      </p:sp>
      <p:sp>
        <p:nvSpPr>
          <p:cNvPr id="29" name="Shape 27"/>
          <p:cNvSpPr/>
          <p:nvPr/>
        </p:nvSpPr>
        <p:spPr>
          <a:xfrm>
            <a:off x="5541264" y="6062472"/>
            <a:ext cx="384048" cy="0"/>
          </a:xfrm>
          <a:prstGeom prst="line">
            <a:avLst/>
          </a:prstGeom>
          <a:noFill/>
          <a:ln w="22860">
            <a:solidFill>
              <a:srgbClr val="65E4F5"/>
            </a:solidFill>
            <a:prstDash val="solid"/>
            <a:headEnd type="none"/>
            <a:tailEnd type="triangle"/>
          </a:ln>
        </p:spPr>
        <p:txBody>
          <a:bodyPr/>
          <a:lstStyle/>
          <a:p>
            <a:endParaRPr lang="en-US"/>
          </a:p>
        </p:txBody>
      </p:sp>
      <p:sp>
        <p:nvSpPr>
          <p:cNvPr id="30" name="Shape 28"/>
          <p:cNvSpPr/>
          <p:nvPr/>
        </p:nvSpPr>
        <p:spPr>
          <a:xfrm>
            <a:off x="6044184" y="5897880"/>
            <a:ext cx="1965960" cy="329184"/>
          </a:xfrm>
          <a:prstGeom prst="roundRect">
            <a:avLst>
              <a:gd name="adj" fmla="val 22222"/>
            </a:avLst>
          </a:prstGeom>
          <a:solidFill>
            <a:srgbClr val="00A7B5"/>
          </a:solidFill>
          <a:ln w="12700">
            <a:solidFill>
              <a:srgbClr val="65E4F5">
                <a:alpha val="80000"/>
              </a:srgbClr>
            </a:solidFill>
            <a:prstDash val="solid"/>
          </a:ln>
        </p:spPr>
        <p:txBody>
          <a:bodyPr/>
          <a:lstStyle/>
          <a:p>
            <a:endParaRPr lang="en-US"/>
          </a:p>
        </p:txBody>
      </p:sp>
      <p:sp>
        <p:nvSpPr>
          <p:cNvPr id="31" name="Text 29"/>
          <p:cNvSpPr/>
          <p:nvPr/>
        </p:nvSpPr>
        <p:spPr>
          <a:xfrm>
            <a:off x="6089904" y="5971032"/>
            <a:ext cx="1874520" cy="146304"/>
          </a:xfrm>
          <a:prstGeom prst="rect">
            <a:avLst/>
          </a:prstGeom>
          <a:noFill/>
          <a:ln/>
        </p:spPr>
        <p:txBody>
          <a:bodyPr wrap="square" lIns="0" tIns="0" rIns="0" bIns="0" rtlCol="0" anchor="ctr"/>
          <a:lstStyle/>
          <a:p>
            <a:pPr marL="0" indent="0" algn="ctr">
              <a:buNone/>
            </a:pPr>
            <a:r>
              <a:rPr lang="en-US" sz="750" b="1" dirty="0">
                <a:solidFill>
                  <a:srgbClr val="FFFFFF"/>
                </a:solidFill>
              </a:rPr>
              <a:t>Comparative Review</a:t>
            </a:r>
            <a:endParaRPr lang="en-US" sz="750" dirty="0"/>
          </a:p>
        </p:txBody>
      </p:sp>
      <p:sp>
        <p:nvSpPr>
          <p:cNvPr id="32" name="Shape 30"/>
          <p:cNvSpPr/>
          <p:nvPr/>
        </p:nvSpPr>
        <p:spPr>
          <a:xfrm>
            <a:off x="7991856" y="6062472"/>
            <a:ext cx="384048" cy="0"/>
          </a:xfrm>
          <a:prstGeom prst="line">
            <a:avLst/>
          </a:prstGeom>
          <a:noFill/>
          <a:ln w="22860">
            <a:solidFill>
              <a:srgbClr val="65E4F5"/>
            </a:solidFill>
            <a:prstDash val="solid"/>
            <a:headEnd type="none"/>
            <a:tailEnd type="triangle"/>
          </a:ln>
        </p:spPr>
        <p:txBody>
          <a:bodyPr/>
          <a:lstStyle/>
          <a:p>
            <a:endParaRPr lang="en-US"/>
          </a:p>
        </p:txBody>
      </p:sp>
      <p:sp>
        <p:nvSpPr>
          <p:cNvPr id="33" name="Shape 31"/>
          <p:cNvSpPr/>
          <p:nvPr/>
        </p:nvSpPr>
        <p:spPr>
          <a:xfrm>
            <a:off x="8494776" y="5897880"/>
            <a:ext cx="1965960" cy="329184"/>
          </a:xfrm>
          <a:prstGeom prst="roundRect">
            <a:avLst>
              <a:gd name="adj" fmla="val 22222"/>
            </a:avLst>
          </a:prstGeom>
          <a:solidFill>
            <a:srgbClr val="102E4C"/>
          </a:solidFill>
          <a:ln w="12700">
            <a:solidFill>
              <a:srgbClr val="65E4F5">
                <a:alpha val="80000"/>
              </a:srgbClr>
            </a:solidFill>
            <a:prstDash val="solid"/>
          </a:ln>
        </p:spPr>
        <p:txBody>
          <a:bodyPr/>
          <a:lstStyle/>
          <a:p>
            <a:endParaRPr lang="en-US"/>
          </a:p>
        </p:txBody>
      </p:sp>
      <p:sp>
        <p:nvSpPr>
          <p:cNvPr id="34" name="Text 32"/>
          <p:cNvSpPr/>
          <p:nvPr/>
        </p:nvSpPr>
        <p:spPr>
          <a:xfrm>
            <a:off x="8540496" y="5971032"/>
            <a:ext cx="1874520" cy="146304"/>
          </a:xfrm>
          <a:prstGeom prst="rect">
            <a:avLst/>
          </a:prstGeom>
          <a:noFill/>
          <a:ln/>
        </p:spPr>
        <p:txBody>
          <a:bodyPr wrap="square" lIns="0" tIns="0" rIns="0" bIns="0" rtlCol="0" anchor="ctr"/>
          <a:lstStyle/>
          <a:p>
            <a:pPr marL="0" indent="0" algn="ctr">
              <a:buNone/>
            </a:pPr>
            <a:r>
              <a:rPr lang="en-US" sz="750" b="1" dirty="0">
                <a:solidFill>
                  <a:srgbClr val="FFFFFF"/>
                </a:solidFill>
              </a:rPr>
              <a:t>Gaps / Future Directions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8</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Core Defense Idea: Physical-Layer Authentication</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Identity can be copied, but channel fingerprints are difficult to reproduce</a:t>
            </a:r>
            <a:endParaRPr lang="en-US" sz="1050" dirty="0"/>
          </a:p>
        </p:txBody>
      </p:sp>
      <p:sp>
        <p:nvSpPr>
          <p:cNvPr id="18" name="Shape 16"/>
          <p:cNvSpPr/>
          <p:nvPr/>
        </p:nvSpPr>
        <p:spPr>
          <a:xfrm>
            <a:off x="713232" y="1325880"/>
            <a:ext cx="4069080" cy="3520440"/>
          </a:xfrm>
          <a:prstGeom prst="roundRect">
            <a:avLst>
              <a:gd name="adj" fmla="val 2857"/>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877824" y="1472184"/>
            <a:ext cx="373989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PLA principle</a:t>
            </a:r>
            <a:endParaRPr lang="en-US" sz="1250" dirty="0"/>
          </a:p>
        </p:txBody>
      </p:sp>
      <p:sp>
        <p:nvSpPr>
          <p:cNvPr id="20" name="Text 18"/>
          <p:cNvSpPr/>
          <p:nvPr/>
        </p:nvSpPr>
        <p:spPr>
          <a:xfrm>
            <a:off x="896112" y="1837944"/>
            <a:ext cx="3721608" cy="2926080"/>
          </a:xfrm>
          <a:prstGeom prst="rect">
            <a:avLst/>
          </a:prstGeom>
          <a:noFill/>
          <a:ln/>
        </p:spPr>
        <p:txBody>
          <a:bodyPr wrap="square" lIns="508" tIns="508" rIns="508" bIns="508" rtlCol="0" anchor="t">
            <a:normAutofit/>
          </a:bodyPr>
          <a:lstStyle/>
          <a:p>
            <a:r>
              <a:rPr lang="en-US" sz="1020" dirty="0">
                <a:solidFill>
                  <a:srgbClr val="EAF7FB"/>
                </a:solidFill>
                <a:latin typeface="Aptos" pitchFamily="34" charset="0"/>
                <a:ea typeface="Aptos" pitchFamily="34" charset="-122"/>
                <a:cs typeface="Aptos" pitchFamily="34" charset="-120"/>
              </a:rPr>
              <a:t>Authenticates a transmitter using physical evidence from the communication link.</a:t>
            </a:r>
            <a:endParaRPr lang="en-US" sz="1020" dirty="0"/>
          </a:p>
          <a:p>
            <a:r>
              <a:rPr lang="en-US" sz="1020" dirty="0">
                <a:solidFill>
                  <a:srgbClr val="EAF7FB"/>
                </a:solidFill>
                <a:latin typeface="Aptos" pitchFamily="34" charset="0"/>
                <a:ea typeface="Aptos" pitchFamily="34" charset="-122"/>
                <a:cs typeface="Aptos" pitchFamily="34" charset="-120"/>
              </a:rPr>
              <a:t>A node ID or packet format can be copied.</a:t>
            </a:r>
            <a:endParaRPr lang="en-US" sz="1020" dirty="0"/>
          </a:p>
          <a:p>
            <a:r>
              <a:rPr lang="en-US" sz="1020" dirty="0">
                <a:solidFill>
                  <a:srgbClr val="EAF7FB"/>
                </a:solidFill>
                <a:latin typeface="Aptos" pitchFamily="34" charset="0"/>
                <a:ea typeface="Aptos" pitchFamily="34" charset="-122"/>
                <a:cs typeface="Aptos" pitchFamily="34" charset="-120"/>
              </a:rPr>
              <a:t>The exact acoustic channel fingerprint is difficult to reproduce.</a:t>
            </a:r>
            <a:endParaRPr lang="en-US" sz="1020" dirty="0"/>
          </a:p>
          <a:p>
            <a:r>
              <a:rPr lang="en-US" sz="1020" dirty="0">
                <a:solidFill>
                  <a:srgbClr val="EAF7FB"/>
                </a:solidFill>
                <a:latin typeface="Aptos" pitchFamily="34" charset="0"/>
                <a:ea typeface="Aptos" pitchFamily="34" charset="-122"/>
                <a:cs typeface="Aptos" pitchFamily="34" charset="-120"/>
              </a:rPr>
              <a:t>PLA complements higher-layer security; it is not a total replacement.</a:t>
            </a:r>
            <a:endParaRPr lang="en-US" sz="1020" dirty="0"/>
          </a:p>
        </p:txBody>
      </p:sp>
      <p:sp>
        <p:nvSpPr>
          <p:cNvPr id="21" name="Shape 19"/>
          <p:cNvSpPr/>
          <p:nvPr/>
        </p:nvSpPr>
        <p:spPr>
          <a:xfrm>
            <a:off x="5532120" y="1280160"/>
            <a:ext cx="1920240" cy="1005840"/>
          </a:xfrm>
          <a:prstGeom prst="roundRect">
            <a:avLst>
              <a:gd name="adj" fmla="val 10000"/>
            </a:avLst>
          </a:prstGeom>
          <a:solidFill>
            <a:srgbClr val="0E2A45"/>
          </a:solidFill>
          <a:ln w="12700">
            <a:solidFill>
              <a:srgbClr val="1B5676">
                <a:alpha val="95000"/>
              </a:srgbClr>
            </a:solidFill>
            <a:prstDash val="solid"/>
          </a:ln>
        </p:spPr>
        <p:txBody>
          <a:bodyPr/>
          <a:lstStyle/>
          <a:p>
            <a:endParaRPr lang="en-US"/>
          </a:p>
        </p:txBody>
      </p:sp>
      <p:sp>
        <p:nvSpPr>
          <p:cNvPr id="22" name="Text 20"/>
          <p:cNvSpPr/>
          <p:nvPr/>
        </p:nvSpPr>
        <p:spPr>
          <a:xfrm>
            <a:off x="5696712" y="1426464"/>
            <a:ext cx="1591056" cy="256032"/>
          </a:xfrm>
          <a:prstGeom prst="rect">
            <a:avLst/>
          </a:prstGeom>
          <a:noFill/>
          <a:ln/>
        </p:spPr>
        <p:txBody>
          <a:bodyPr wrap="square" lIns="0" tIns="0" rIns="0" bIns="0" rtlCol="0" anchor="ctr"/>
          <a:lstStyle/>
          <a:p>
            <a:pPr marL="0" indent="0">
              <a:buNone/>
            </a:pPr>
            <a:r>
              <a:rPr lang="en-US" sz="1100" b="1" dirty="0">
                <a:solidFill>
                  <a:srgbClr val="B9F7FF"/>
                </a:solidFill>
                <a:latin typeface="Aptos Display" pitchFamily="34" charset="0"/>
                <a:ea typeface="Aptos Display" pitchFamily="34" charset="-122"/>
                <a:cs typeface="Aptos Display" pitchFamily="34" charset="-120"/>
              </a:rPr>
              <a:t>Claimed ID</a:t>
            </a:r>
            <a:endParaRPr lang="en-US" sz="1100" dirty="0"/>
          </a:p>
        </p:txBody>
      </p:sp>
      <p:sp>
        <p:nvSpPr>
          <p:cNvPr id="23" name="Text 21"/>
          <p:cNvSpPr/>
          <p:nvPr/>
        </p:nvSpPr>
        <p:spPr>
          <a:xfrm>
            <a:off x="5715000" y="1783080"/>
            <a:ext cx="1572768" cy="420624"/>
          </a:xfrm>
          <a:prstGeom prst="rect">
            <a:avLst/>
          </a:prstGeom>
          <a:noFill/>
          <a:ln/>
        </p:spPr>
        <p:txBody>
          <a:bodyPr wrap="square" lIns="254" tIns="254" rIns="254" bIns="254" rtlCol="0" anchor="t">
            <a:normAutofit/>
          </a:bodyPr>
          <a:lstStyle/>
          <a:p>
            <a:pPr marL="0" indent="0">
              <a:buNone/>
            </a:pPr>
            <a:r>
              <a:rPr lang="en-US" sz="1800" dirty="0">
                <a:solidFill>
                  <a:srgbClr val="EAF7FB"/>
                </a:solidFill>
                <a:latin typeface="Aptos" pitchFamily="34" charset="0"/>
                <a:ea typeface="Aptos" pitchFamily="34" charset="-122"/>
                <a:cs typeface="Aptos" pitchFamily="34" charset="-120"/>
              </a:rPr>
              <a:t>Node A</a:t>
            </a:r>
            <a:endParaRPr lang="en-US" sz="1800" dirty="0"/>
          </a:p>
        </p:txBody>
      </p:sp>
      <p:sp>
        <p:nvSpPr>
          <p:cNvPr id="24" name="Shape 22"/>
          <p:cNvSpPr/>
          <p:nvPr/>
        </p:nvSpPr>
        <p:spPr>
          <a:xfrm>
            <a:off x="8732520" y="1280160"/>
            <a:ext cx="2377440" cy="1005840"/>
          </a:xfrm>
          <a:prstGeom prst="roundRect">
            <a:avLst>
              <a:gd name="adj" fmla="val 10000"/>
            </a:avLst>
          </a:prstGeom>
          <a:solidFill>
            <a:srgbClr val="0E2A45"/>
          </a:solidFill>
          <a:ln w="12700">
            <a:solidFill>
              <a:srgbClr val="1B5676">
                <a:alpha val="95000"/>
              </a:srgbClr>
            </a:solidFill>
            <a:prstDash val="solid"/>
          </a:ln>
        </p:spPr>
        <p:txBody>
          <a:bodyPr/>
          <a:lstStyle/>
          <a:p>
            <a:endParaRPr lang="en-US"/>
          </a:p>
        </p:txBody>
      </p:sp>
      <p:sp>
        <p:nvSpPr>
          <p:cNvPr id="25" name="Text 23"/>
          <p:cNvSpPr/>
          <p:nvPr/>
        </p:nvSpPr>
        <p:spPr>
          <a:xfrm>
            <a:off x="8897112" y="1426464"/>
            <a:ext cx="2048256" cy="256032"/>
          </a:xfrm>
          <a:prstGeom prst="rect">
            <a:avLst/>
          </a:prstGeom>
          <a:noFill/>
          <a:ln/>
        </p:spPr>
        <p:txBody>
          <a:bodyPr wrap="square" lIns="0" tIns="0" rIns="0" bIns="0" rtlCol="0" anchor="ctr"/>
          <a:lstStyle/>
          <a:p>
            <a:pPr marL="0" indent="0">
              <a:buNone/>
            </a:pPr>
            <a:r>
              <a:rPr lang="en-US" sz="1100" b="1" dirty="0">
                <a:solidFill>
                  <a:srgbClr val="B9F7FF"/>
                </a:solidFill>
                <a:latin typeface="Aptos Display" pitchFamily="34" charset="0"/>
                <a:ea typeface="Aptos Display" pitchFamily="34" charset="-122"/>
                <a:cs typeface="Aptos Display" pitchFamily="34" charset="-120"/>
              </a:rPr>
              <a:t>Physical Evidence</a:t>
            </a:r>
            <a:endParaRPr lang="en-US" sz="1100" dirty="0"/>
          </a:p>
        </p:txBody>
      </p:sp>
      <p:sp>
        <p:nvSpPr>
          <p:cNvPr id="26" name="Text 24"/>
          <p:cNvSpPr/>
          <p:nvPr/>
        </p:nvSpPr>
        <p:spPr>
          <a:xfrm>
            <a:off x="8915400" y="1783080"/>
            <a:ext cx="2029968" cy="420624"/>
          </a:xfrm>
          <a:prstGeom prst="rect">
            <a:avLst/>
          </a:prstGeom>
          <a:noFill/>
          <a:ln/>
        </p:spPr>
        <p:txBody>
          <a:bodyPr wrap="square" lIns="254" tIns="254" rIns="254" bIns="254" rtlCol="0" anchor="t">
            <a:normAutofit/>
          </a:bodyPr>
          <a:lstStyle/>
          <a:p>
            <a:pPr marL="0" indent="0">
              <a:buNone/>
            </a:pPr>
            <a:r>
              <a:rPr lang="en-US" sz="1000" dirty="0">
                <a:solidFill>
                  <a:srgbClr val="EAF7FB"/>
                </a:solidFill>
                <a:latin typeface="Aptos" pitchFamily="34" charset="0"/>
                <a:ea typeface="Aptos" pitchFamily="34" charset="-122"/>
                <a:cs typeface="Aptos" pitchFamily="34" charset="-120"/>
              </a:rPr>
              <a:t>CIR • PDP • delay • location • TR • history</a:t>
            </a:r>
            <a:endParaRPr lang="en-US" sz="1000" dirty="0"/>
          </a:p>
        </p:txBody>
      </p:sp>
      <p:sp>
        <p:nvSpPr>
          <p:cNvPr id="27" name="Shape 25"/>
          <p:cNvSpPr/>
          <p:nvPr/>
        </p:nvSpPr>
        <p:spPr>
          <a:xfrm>
            <a:off x="7452360" y="1783080"/>
            <a:ext cx="1234440" cy="0"/>
          </a:xfrm>
          <a:prstGeom prst="line">
            <a:avLst/>
          </a:prstGeom>
          <a:noFill/>
          <a:ln w="22860">
            <a:solidFill>
              <a:srgbClr val="65E4F5"/>
            </a:solidFill>
            <a:prstDash val="solid"/>
            <a:headEnd type="none"/>
            <a:tailEnd type="triangle"/>
          </a:ln>
        </p:spPr>
        <p:txBody>
          <a:bodyPr/>
          <a:lstStyle/>
          <a:p>
            <a:endParaRPr lang="en-US"/>
          </a:p>
        </p:txBody>
      </p:sp>
      <p:sp>
        <p:nvSpPr>
          <p:cNvPr id="28" name="Shape 26"/>
          <p:cNvSpPr/>
          <p:nvPr/>
        </p:nvSpPr>
        <p:spPr>
          <a:xfrm>
            <a:off x="6400800" y="3063240"/>
            <a:ext cx="3931920" cy="1325880"/>
          </a:xfrm>
          <a:prstGeom prst="roundRect">
            <a:avLst>
              <a:gd name="adj" fmla="val 7586"/>
            </a:avLst>
          </a:prstGeom>
          <a:solidFill>
            <a:srgbClr val="0E2A45"/>
          </a:solidFill>
          <a:ln w="12700">
            <a:solidFill>
              <a:srgbClr val="1B5676">
                <a:alpha val="95000"/>
              </a:srgbClr>
            </a:solidFill>
            <a:prstDash val="solid"/>
          </a:ln>
        </p:spPr>
        <p:txBody>
          <a:bodyPr/>
          <a:lstStyle/>
          <a:p>
            <a:endParaRPr lang="en-US"/>
          </a:p>
        </p:txBody>
      </p:sp>
      <p:sp>
        <p:nvSpPr>
          <p:cNvPr id="29" name="Text 27"/>
          <p:cNvSpPr/>
          <p:nvPr/>
        </p:nvSpPr>
        <p:spPr>
          <a:xfrm>
            <a:off x="6565392" y="3209544"/>
            <a:ext cx="36027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Authentication decision</a:t>
            </a:r>
            <a:endParaRPr lang="en-US" sz="1250" dirty="0"/>
          </a:p>
        </p:txBody>
      </p:sp>
      <p:sp>
        <p:nvSpPr>
          <p:cNvPr id="30" name="Text 28"/>
          <p:cNvSpPr/>
          <p:nvPr/>
        </p:nvSpPr>
        <p:spPr>
          <a:xfrm>
            <a:off x="6583680" y="3566160"/>
            <a:ext cx="3584448" cy="740664"/>
          </a:xfrm>
          <a:prstGeom prst="rect">
            <a:avLst/>
          </a:prstGeom>
          <a:noFill/>
          <a:ln/>
        </p:spPr>
        <p:txBody>
          <a:bodyPr wrap="square" lIns="254" tIns="254" rIns="254" bIns="254" rtlCol="0" anchor="t">
            <a:normAutofit/>
          </a:bodyPr>
          <a:lstStyle/>
          <a:p>
            <a:pPr marL="0" indent="0">
              <a:buNone/>
            </a:pPr>
            <a:r>
              <a:rPr lang="en-US" sz="1300" dirty="0">
                <a:solidFill>
                  <a:srgbClr val="EAF7FB"/>
                </a:solidFill>
                <a:latin typeface="Aptos" pitchFamily="34" charset="0"/>
                <a:ea typeface="Aptos" pitchFamily="34" charset="-122"/>
                <a:cs typeface="Aptos" pitchFamily="34" charset="-120"/>
              </a:rPr>
              <a:t>Does the physical evidence match the claimed identity?</a:t>
            </a:r>
            <a:endParaRPr lang="en-US" sz="1300" dirty="0"/>
          </a:p>
        </p:txBody>
      </p:sp>
      <p:sp>
        <p:nvSpPr>
          <p:cNvPr id="31" name="Shape 29"/>
          <p:cNvSpPr/>
          <p:nvPr/>
        </p:nvSpPr>
        <p:spPr>
          <a:xfrm>
            <a:off x="9986554" y="2331720"/>
            <a:ext cx="0" cy="704088"/>
          </a:xfrm>
          <a:prstGeom prst="line">
            <a:avLst/>
          </a:prstGeom>
          <a:noFill/>
          <a:ln w="22860">
            <a:solidFill>
              <a:srgbClr val="65E4F5"/>
            </a:solidFill>
            <a:prstDash val="solid"/>
            <a:headEnd type="none"/>
            <a:tailEnd type="triangle"/>
          </a:ln>
        </p:spPr>
        <p:txBody>
          <a:bodyPr/>
          <a:lstStyle/>
          <a:p>
            <a:endParaRPr lang="en-US"/>
          </a:p>
        </p:txBody>
      </p:sp>
      <p:sp>
        <p:nvSpPr>
          <p:cNvPr id="32" name="Text 30"/>
          <p:cNvSpPr/>
          <p:nvPr/>
        </p:nvSpPr>
        <p:spPr>
          <a:xfrm>
            <a:off x="822960" y="5257800"/>
            <a:ext cx="10515600" cy="320040"/>
          </a:xfrm>
          <a:prstGeom prst="rect">
            <a:avLst/>
          </a:prstGeom>
          <a:noFill/>
          <a:ln/>
        </p:spPr>
        <p:txBody>
          <a:bodyPr wrap="square" lIns="0" tIns="0" rIns="0" bIns="0" rtlCol="0" anchor="ctr"/>
          <a:lstStyle/>
          <a:p>
            <a:pPr marL="0" indent="0" algn="ctr">
              <a:buNone/>
            </a:pPr>
            <a:r>
              <a:rPr lang="en-US" sz="1170" dirty="0">
                <a:solidFill>
                  <a:srgbClr val="B9F7FF"/>
                </a:solidFill>
              </a:rPr>
              <a:t>Evidence examples: CIR, PDP, arrival delay, statistical channel parameters, location consistency, time-reversal response, historical fingerprints.</a:t>
            </a:r>
            <a:endParaRPr lang="en-US" sz="1170" dirty="0"/>
          </a:p>
        </p:txBody>
      </p:sp>
      <p:sp>
        <p:nvSpPr>
          <p:cNvPr id="33" name="Text 31"/>
          <p:cNvSpPr/>
          <p:nvPr/>
        </p:nvSpPr>
        <p:spPr>
          <a:xfrm>
            <a:off x="777240" y="5989320"/>
            <a:ext cx="10561320" cy="228600"/>
          </a:xfrm>
          <a:prstGeom prst="rect">
            <a:avLst/>
          </a:prstGeom>
          <a:noFill/>
          <a:ln/>
        </p:spPr>
        <p:txBody>
          <a:bodyPr wrap="square" lIns="0" tIns="0" rIns="0" bIns="0" rtlCol="0" anchor="ctr">
            <a:normAutofit/>
          </a:bodyPr>
          <a:lstStyle/>
          <a:p>
            <a:pPr marL="0" indent="0" algn="ctr">
              <a:buNone/>
            </a:pPr>
            <a:r>
              <a:rPr lang="en-US" sz="720" dirty="0">
                <a:solidFill>
                  <a:srgbClr val="AFC8D8"/>
                </a:solidFill>
              </a:rPr>
              <a:t>Examples from: Zhao et al. [1] — PLA without adversary training data; Shi et al. [2] — Database-based PLA; Xiao et al. [4] — RL/DRL adaptive PLA; Zhao et al. [8] — Time-reversal PLA</a:t>
            </a:r>
            <a:endParaRPr lang="en-US" sz="7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9</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PLA Pipeline for Spoofing Defense</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How detection becomes authentication-based rejection</a:t>
            </a:r>
            <a:endParaRPr lang="en-US" sz="1050" dirty="0"/>
          </a:p>
        </p:txBody>
      </p:sp>
      <p:sp>
        <p:nvSpPr>
          <p:cNvPr id="18" name="Shape 16"/>
          <p:cNvSpPr/>
          <p:nvPr/>
        </p:nvSpPr>
        <p:spPr>
          <a:xfrm>
            <a:off x="502920" y="1847088"/>
            <a:ext cx="1920240" cy="1874520"/>
          </a:xfrm>
          <a:prstGeom prst="roundRect">
            <a:avLst>
              <a:gd name="adj" fmla="val 5854"/>
            </a:avLst>
          </a:prstGeom>
          <a:solidFill>
            <a:srgbClr val="102E4C"/>
          </a:solidFill>
          <a:ln w="12700">
            <a:solidFill>
              <a:srgbClr val="65E4F5"/>
            </a:solidFill>
            <a:prstDash val="solid"/>
          </a:ln>
        </p:spPr>
        <p:txBody>
          <a:bodyPr/>
          <a:lstStyle/>
          <a:p>
            <a:endParaRPr lang="en-US"/>
          </a:p>
        </p:txBody>
      </p:sp>
      <p:sp>
        <p:nvSpPr>
          <p:cNvPr id="19" name="Text 17"/>
          <p:cNvSpPr/>
          <p:nvPr/>
        </p:nvSpPr>
        <p:spPr>
          <a:xfrm>
            <a:off x="612648" y="1965960"/>
            <a:ext cx="320040" cy="22860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20" name="Text 18"/>
          <p:cNvSpPr/>
          <p:nvPr/>
        </p:nvSpPr>
        <p:spPr>
          <a:xfrm>
            <a:off x="731520" y="2331720"/>
            <a:ext cx="1463040" cy="457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Signal</a:t>
            </a:r>
            <a:endParaRPr lang="en-US" sz="1200" dirty="0"/>
          </a:p>
          <a:p>
            <a:pPr marL="0" indent="0" algn="ctr">
              <a:buNone/>
            </a:pPr>
            <a:r>
              <a:rPr lang="en-US" sz="1200" b="1" dirty="0">
                <a:solidFill>
                  <a:srgbClr val="FFFFFF"/>
                </a:solidFill>
              </a:rPr>
              <a:t>reception</a:t>
            </a:r>
            <a:endParaRPr lang="en-US" sz="1200" dirty="0"/>
          </a:p>
        </p:txBody>
      </p:sp>
      <p:sp>
        <p:nvSpPr>
          <p:cNvPr id="21" name="Text 19"/>
          <p:cNvSpPr/>
          <p:nvPr/>
        </p:nvSpPr>
        <p:spPr>
          <a:xfrm>
            <a:off x="667512" y="2971800"/>
            <a:ext cx="1591056" cy="384048"/>
          </a:xfrm>
          <a:prstGeom prst="rect">
            <a:avLst/>
          </a:prstGeom>
          <a:noFill/>
          <a:ln/>
        </p:spPr>
        <p:txBody>
          <a:bodyPr wrap="square" lIns="0" tIns="0" rIns="0" bIns="0" rtlCol="0" anchor="ctr">
            <a:normAutofit/>
          </a:bodyPr>
          <a:lstStyle/>
          <a:p>
            <a:pPr marL="0" indent="0" algn="ctr">
              <a:buNone/>
            </a:pPr>
            <a:r>
              <a:rPr lang="en-US" sz="850" dirty="0">
                <a:solidFill>
                  <a:srgbClr val="EAF7FB"/>
                </a:solidFill>
              </a:rPr>
              <a:t>Packet or acoustic observation</a:t>
            </a:r>
            <a:endParaRPr lang="en-US" sz="850" dirty="0"/>
          </a:p>
        </p:txBody>
      </p:sp>
      <p:sp>
        <p:nvSpPr>
          <p:cNvPr id="22" name="Shape 20"/>
          <p:cNvSpPr/>
          <p:nvPr/>
        </p:nvSpPr>
        <p:spPr>
          <a:xfrm>
            <a:off x="2414016" y="2788920"/>
            <a:ext cx="420624" cy="0"/>
          </a:xfrm>
          <a:prstGeom prst="line">
            <a:avLst/>
          </a:prstGeom>
          <a:noFill/>
          <a:ln w="22860">
            <a:solidFill>
              <a:srgbClr val="65E4F5"/>
            </a:solidFill>
            <a:prstDash val="solid"/>
            <a:headEnd type="none"/>
            <a:tailEnd type="triangle"/>
          </a:ln>
        </p:spPr>
        <p:txBody>
          <a:bodyPr/>
          <a:lstStyle/>
          <a:p>
            <a:endParaRPr lang="en-US"/>
          </a:p>
        </p:txBody>
      </p:sp>
      <p:sp>
        <p:nvSpPr>
          <p:cNvPr id="23" name="Shape 21"/>
          <p:cNvSpPr/>
          <p:nvPr/>
        </p:nvSpPr>
        <p:spPr>
          <a:xfrm>
            <a:off x="2834640" y="1847088"/>
            <a:ext cx="1920240" cy="1874520"/>
          </a:xfrm>
          <a:prstGeom prst="roundRect">
            <a:avLst>
              <a:gd name="adj" fmla="val 5854"/>
            </a:avLst>
          </a:prstGeom>
          <a:solidFill>
            <a:srgbClr val="102E4C"/>
          </a:solidFill>
          <a:ln w="12700">
            <a:solidFill>
              <a:srgbClr val="65E4F5"/>
            </a:solidFill>
            <a:prstDash val="solid"/>
          </a:ln>
        </p:spPr>
        <p:txBody>
          <a:bodyPr/>
          <a:lstStyle/>
          <a:p>
            <a:endParaRPr lang="en-US"/>
          </a:p>
        </p:txBody>
      </p:sp>
      <p:sp>
        <p:nvSpPr>
          <p:cNvPr id="24" name="Text 22"/>
          <p:cNvSpPr/>
          <p:nvPr/>
        </p:nvSpPr>
        <p:spPr>
          <a:xfrm>
            <a:off x="2944368" y="1965960"/>
            <a:ext cx="320040" cy="22860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25" name="Text 23"/>
          <p:cNvSpPr/>
          <p:nvPr/>
        </p:nvSpPr>
        <p:spPr>
          <a:xfrm>
            <a:off x="3063240" y="2331720"/>
            <a:ext cx="1463040" cy="457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Feature</a:t>
            </a:r>
            <a:endParaRPr lang="en-US" sz="1200" dirty="0"/>
          </a:p>
          <a:p>
            <a:pPr marL="0" indent="0" algn="ctr">
              <a:buNone/>
            </a:pPr>
            <a:r>
              <a:rPr lang="en-US" sz="1200" b="1" dirty="0">
                <a:solidFill>
                  <a:srgbClr val="FFFFFF"/>
                </a:solidFill>
              </a:rPr>
              <a:t>extraction</a:t>
            </a:r>
            <a:endParaRPr lang="en-US" sz="1200" dirty="0"/>
          </a:p>
        </p:txBody>
      </p:sp>
      <p:sp>
        <p:nvSpPr>
          <p:cNvPr id="26" name="Text 24"/>
          <p:cNvSpPr/>
          <p:nvPr/>
        </p:nvSpPr>
        <p:spPr>
          <a:xfrm>
            <a:off x="2999232" y="2971800"/>
            <a:ext cx="1591056" cy="384048"/>
          </a:xfrm>
          <a:prstGeom prst="rect">
            <a:avLst/>
          </a:prstGeom>
          <a:noFill/>
          <a:ln/>
        </p:spPr>
        <p:txBody>
          <a:bodyPr wrap="square" lIns="0" tIns="0" rIns="0" bIns="0" rtlCol="0" anchor="ctr">
            <a:normAutofit/>
          </a:bodyPr>
          <a:lstStyle/>
          <a:p>
            <a:pPr marL="0" indent="0" algn="ctr">
              <a:buNone/>
            </a:pPr>
            <a:r>
              <a:rPr lang="en-US" sz="850" dirty="0">
                <a:solidFill>
                  <a:srgbClr val="EAF7FB"/>
                </a:solidFill>
              </a:rPr>
              <a:t>CIR, PDP, delay, location, TR, history</a:t>
            </a:r>
            <a:endParaRPr lang="en-US" sz="850" dirty="0"/>
          </a:p>
        </p:txBody>
      </p:sp>
      <p:sp>
        <p:nvSpPr>
          <p:cNvPr id="27" name="Shape 25"/>
          <p:cNvSpPr/>
          <p:nvPr/>
        </p:nvSpPr>
        <p:spPr>
          <a:xfrm>
            <a:off x="4745736" y="2788920"/>
            <a:ext cx="420624" cy="0"/>
          </a:xfrm>
          <a:prstGeom prst="line">
            <a:avLst/>
          </a:prstGeom>
          <a:noFill/>
          <a:ln w="22860">
            <a:solidFill>
              <a:srgbClr val="65E4F5"/>
            </a:solidFill>
            <a:prstDash val="solid"/>
            <a:headEnd type="none"/>
            <a:tailEnd type="triangle"/>
          </a:ln>
        </p:spPr>
        <p:txBody>
          <a:bodyPr/>
          <a:lstStyle/>
          <a:p>
            <a:endParaRPr lang="en-US"/>
          </a:p>
        </p:txBody>
      </p:sp>
      <p:sp>
        <p:nvSpPr>
          <p:cNvPr id="28" name="Shape 26"/>
          <p:cNvSpPr/>
          <p:nvPr/>
        </p:nvSpPr>
        <p:spPr>
          <a:xfrm>
            <a:off x="5166360" y="1847088"/>
            <a:ext cx="1920240" cy="1874520"/>
          </a:xfrm>
          <a:prstGeom prst="roundRect">
            <a:avLst>
              <a:gd name="adj" fmla="val 5854"/>
            </a:avLst>
          </a:prstGeom>
          <a:solidFill>
            <a:srgbClr val="102E4C"/>
          </a:solidFill>
          <a:ln w="12700">
            <a:solidFill>
              <a:srgbClr val="65E4F5"/>
            </a:solidFill>
            <a:prstDash val="solid"/>
          </a:ln>
        </p:spPr>
        <p:txBody>
          <a:bodyPr/>
          <a:lstStyle/>
          <a:p>
            <a:endParaRPr lang="en-US"/>
          </a:p>
        </p:txBody>
      </p:sp>
      <p:sp>
        <p:nvSpPr>
          <p:cNvPr id="29" name="Text 27"/>
          <p:cNvSpPr/>
          <p:nvPr/>
        </p:nvSpPr>
        <p:spPr>
          <a:xfrm>
            <a:off x="5276088" y="1965960"/>
            <a:ext cx="320040" cy="22860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30" name="Text 28"/>
          <p:cNvSpPr/>
          <p:nvPr/>
        </p:nvSpPr>
        <p:spPr>
          <a:xfrm>
            <a:off x="5394960" y="2331720"/>
            <a:ext cx="1463040" cy="457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Decision</a:t>
            </a:r>
            <a:endParaRPr lang="en-US" sz="1200" dirty="0"/>
          </a:p>
          <a:p>
            <a:pPr marL="0" indent="0" algn="ctr">
              <a:buNone/>
            </a:pPr>
            <a:r>
              <a:rPr lang="en-US" sz="1200" b="1" dirty="0">
                <a:solidFill>
                  <a:srgbClr val="FFFFFF"/>
                </a:solidFill>
              </a:rPr>
              <a:t>processing</a:t>
            </a:r>
            <a:endParaRPr lang="en-US" sz="1200" dirty="0"/>
          </a:p>
        </p:txBody>
      </p:sp>
      <p:sp>
        <p:nvSpPr>
          <p:cNvPr id="31" name="Text 29"/>
          <p:cNvSpPr/>
          <p:nvPr/>
        </p:nvSpPr>
        <p:spPr>
          <a:xfrm>
            <a:off x="5330952" y="2971800"/>
            <a:ext cx="1591056" cy="384048"/>
          </a:xfrm>
          <a:prstGeom prst="rect">
            <a:avLst/>
          </a:prstGeom>
          <a:noFill/>
          <a:ln/>
        </p:spPr>
        <p:txBody>
          <a:bodyPr wrap="square" lIns="0" tIns="0" rIns="0" bIns="0" rtlCol="0" anchor="ctr">
            <a:normAutofit/>
          </a:bodyPr>
          <a:lstStyle/>
          <a:p>
            <a:pPr marL="0" indent="0" algn="ctr">
              <a:buNone/>
            </a:pPr>
            <a:r>
              <a:rPr lang="en-US" sz="850" dirty="0">
                <a:solidFill>
                  <a:srgbClr val="EAF7FB"/>
                </a:solidFill>
              </a:rPr>
              <a:t>Compare, classify, predict, or fuse</a:t>
            </a:r>
            <a:endParaRPr lang="en-US" sz="850" dirty="0"/>
          </a:p>
        </p:txBody>
      </p:sp>
      <p:sp>
        <p:nvSpPr>
          <p:cNvPr id="32" name="Shape 30"/>
          <p:cNvSpPr/>
          <p:nvPr/>
        </p:nvSpPr>
        <p:spPr>
          <a:xfrm>
            <a:off x="7077456" y="2788920"/>
            <a:ext cx="420624" cy="0"/>
          </a:xfrm>
          <a:prstGeom prst="line">
            <a:avLst/>
          </a:prstGeom>
          <a:noFill/>
          <a:ln w="22860">
            <a:solidFill>
              <a:srgbClr val="65E4F5"/>
            </a:solidFill>
            <a:prstDash val="solid"/>
            <a:headEnd type="none"/>
            <a:tailEnd type="triangle"/>
          </a:ln>
        </p:spPr>
        <p:txBody>
          <a:bodyPr/>
          <a:lstStyle/>
          <a:p>
            <a:endParaRPr lang="en-US"/>
          </a:p>
        </p:txBody>
      </p:sp>
      <p:sp>
        <p:nvSpPr>
          <p:cNvPr id="33" name="Shape 31"/>
          <p:cNvSpPr/>
          <p:nvPr/>
        </p:nvSpPr>
        <p:spPr>
          <a:xfrm>
            <a:off x="7498080" y="1847088"/>
            <a:ext cx="1920240" cy="1874520"/>
          </a:xfrm>
          <a:prstGeom prst="roundRect">
            <a:avLst>
              <a:gd name="adj" fmla="val 5854"/>
            </a:avLst>
          </a:prstGeom>
          <a:solidFill>
            <a:srgbClr val="102E4C"/>
          </a:solidFill>
          <a:ln w="12700">
            <a:solidFill>
              <a:srgbClr val="65E4F5"/>
            </a:solidFill>
            <a:prstDash val="solid"/>
          </a:ln>
        </p:spPr>
        <p:txBody>
          <a:bodyPr/>
          <a:lstStyle/>
          <a:p>
            <a:endParaRPr lang="en-US"/>
          </a:p>
        </p:txBody>
      </p:sp>
      <p:sp>
        <p:nvSpPr>
          <p:cNvPr id="34" name="Text 32"/>
          <p:cNvSpPr/>
          <p:nvPr/>
        </p:nvSpPr>
        <p:spPr>
          <a:xfrm>
            <a:off x="7607808" y="1965960"/>
            <a:ext cx="320040" cy="22860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5" name="Text 33"/>
          <p:cNvSpPr/>
          <p:nvPr/>
        </p:nvSpPr>
        <p:spPr>
          <a:xfrm>
            <a:off x="7726680" y="2331720"/>
            <a:ext cx="1463040" cy="457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Authentication</a:t>
            </a:r>
            <a:endParaRPr lang="en-US" sz="1200" dirty="0"/>
          </a:p>
          <a:p>
            <a:pPr marL="0" indent="0" algn="ctr">
              <a:buNone/>
            </a:pPr>
            <a:r>
              <a:rPr lang="en-US" sz="1200" b="1" dirty="0">
                <a:solidFill>
                  <a:srgbClr val="FFFFFF"/>
                </a:solidFill>
              </a:rPr>
              <a:t>decision</a:t>
            </a:r>
            <a:endParaRPr lang="en-US" sz="1200" dirty="0"/>
          </a:p>
        </p:txBody>
      </p:sp>
      <p:sp>
        <p:nvSpPr>
          <p:cNvPr id="36" name="Text 34"/>
          <p:cNvSpPr/>
          <p:nvPr/>
        </p:nvSpPr>
        <p:spPr>
          <a:xfrm>
            <a:off x="7662672" y="2971800"/>
            <a:ext cx="1591056" cy="384048"/>
          </a:xfrm>
          <a:prstGeom prst="rect">
            <a:avLst/>
          </a:prstGeom>
          <a:noFill/>
          <a:ln/>
        </p:spPr>
        <p:txBody>
          <a:bodyPr wrap="square" lIns="0" tIns="0" rIns="0" bIns="0" rtlCol="0" anchor="ctr">
            <a:normAutofit/>
          </a:bodyPr>
          <a:lstStyle/>
          <a:p>
            <a:pPr marL="0" indent="0" algn="ctr">
              <a:buNone/>
            </a:pPr>
            <a:r>
              <a:rPr lang="en-US" sz="850" dirty="0">
                <a:solidFill>
                  <a:srgbClr val="EAF7FB"/>
                </a:solidFill>
              </a:rPr>
              <a:t>Legitimate, suspicious, or unauthenticated</a:t>
            </a:r>
            <a:endParaRPr lang="en-US" sz="850" dirty="0"/>
          </a:p>
        </p:txBody>
      </p:sp>
      <p:sp>
        <p:nvSpPr>
          <p:cNvPr id="37" name="Shape 35"/>
          <p:cNvSpPr/>
          <p:nvPr/>
        </p:nvSpPr>
        <p:spPr>
          <a:xfrm>
            <a:off x="9409176" y="2788920"/>
            <a:ext cx="420624" cy="0"/>
          </a:xfrm>
          <a:prstGeom prst="line">
            <a:avLst/>
          </a:prstGeom>
          <a:noFill/>
          <a:ln w="22860">
            <a:solidFill>
              <a:srgbClr val="65E4F5"/>
            </a:solidFill>
            <a:prstDash val="solid"/>
            <a:headEnd type="none"/>
            <a:tailEnd type="triangle"/>
          </a:ln>
        </p:spPr>
        <p:txBody>
          <a:bodyPr/>
          <a:lstStyle/>
          <a:p>
            <a:endParaRPr lang="en-US"/>
          </a:p>
        </p:txBody>
      </p:sp>
      <p:sp>
        <p:nvSpPr>
          <p:cNvPr id="38" name="Shape 36"/>
          <p:cNvSpPr/>
          <p:nvPr/>
        </p:nvSpPr>
        <p:spPr>
          <a:xfrm>
            <a:off x="9829800" y="1847088"/>
            <a:ext cx="1920240" cy="1874520"/>
          </a:xfrm>
          <a:prstGeom prst="roundRect">
            <a:avLst>
              <a:gd name="adj" fmla="val 5854"/>
            </a:avLst>
          </a:prstGeom>
          <a:solidFill>
            <a:srgbClr val="00A7B5"/>
          </a:solidFill>
          <a:ln w="12700">
            <a:solidFill>
              <a:srgbClr val="65E4F5"/>
            </a:solidFill>
            <a:prstDash val="solid"/>
          </a:ln>
        </p:spPr>
        <p:txBody>
          <a:bodyPr/>
          <a:lstStyle/>
          <a:p>
            <a:endParaRPr lang="en-US"/>
          </a:p>
        </p:txBody>
      </p:sp>
      <p:sp>
        <p:nvSpPr>
          <p:cNvPr id="39" name="Text 37"/>
          <p:cNvSpPr/>
          <p:nvPr/>
        </p:nvSpPr>
        <p:spPr>
          <a:xfrm>
            <a:off x="9939528" y="1965960"/>
            <a:ext cx="320040" cy="22860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40" name="Text 38"/>
          <p:cNvSpPr/>
          <p:nvPr/>
        </p:nvSpPr>
        <p:spPr>
          <a:xfrm>
            <a:off x="10058400" y="2331720"/>
            <a:ext cx="1463040" cy="457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Security</a:t>
            </a:r>
            <a:endParaRPr lang="en-US" sz="1200" dirty="0"/>
          </a:p>
          <a:p>
            <a:pPr marL="0" indent="0" algn="ctr">
              <a:buNone/>
            </a:pPr>
            <a:r>
              <a:rPr lang="en-US" sz="1200" b="1" dirty="0">
                <a:solidFill>
                  <a:srgbClr val="FFFFFF"/>
                </a:solidFill>
              </a:rPr>
              <a:t>action</a:t>
            </a:r>
            <a:endParaRPr lang="en-US" sz="1200" dirty="0"/>
          </a:p>
        </p:txBody>
      </p:sp>
      <p:sp>
        <p:nvSpPr>
          <p:cNvPr id="41" name="Text 39"/>
          <p:cNvSpPr/>
          <p:nvPr/>
        </p:nvSpPr>
        <p:spPr>
          <a:xfrm>
            <a:off x="9994392" y="2971800"/>
            <a:ext cx="1591056" cy="384048"/>
          </a:xfrm>
          <a:prstGeom prst="rect">
            <a:avLst/>
          </a:prstGeom>
          <a:noFill/>
          <a:ln/>
        </p:spPr>
        <p:txBody>
          <a:bodyPr wrap="square" lIns="0" tIns="0" rIns="0" bIns="0" rtlCol="0" anchor="ctr">
            <a:normAutofit/>
          </a:bodyPr>
          <a:lstStyle/>
          <a:p>
            <a:pPr marL="0" indent="0" algn="ctr">
              <a:buNone/>
            </a:pPr>
            <a:r>
              <a:rPr lang="en-US" sz="850" dirty="0">
                <a:solidFill>
                  <a:srgbClr val="FFFFFF"/>
                </a:solidFill>
              </a:rPr>
              <a:t>Accept, reject, flag, isolate, ignore, re-authenticate</a:t>
            </a:r>
            <a:endParaRPr lang="en-US" sz="850" dirty="0"/>
          </a:p>
        </p:txBody>
      </p:sp>
      <p:sp>
        <p:nvSpPr>
          <p:cNvPr id="42" name="Text 40"/>
          <p:cNvSpPr/>
          <p:nvPr/>
        </p:nvSpPr>
        <p:spPr>
          <a:xfrm>
            <a:off x="960120" y="2871216"/>
            <a:ext cx="10241280" cy="2441448"/>
          </a:xfrm>
          <a:prstGeom prst="rect">
            <a:avLst/>
          </a:prstGeom>
          <a:noFill/>
          <a:ln/>
        </p:spPr>
        <p:txBody>
          <a:bodyPr wrap="square" lIns="0" tIns="0" rIns="0" bIns="0" rtlCol="0" anchor="ctr"/>
          <a:lstStyle/>
          <a:p>
            <a:pPr marL="0" indent="0" algn="ctr">
              <a:buNone/>
            </a:pPr>
            <a:r>
              <a:rPr lang="en-US" sz="1320" b="1" dirty="0">
                <a:solidFill>
                  <a:srgbClr val="B9F7FF"/>
                </a:solidFill>
              </a:rPr>
              <a:t>Prevention in this review means operational non-acceptance after failed authentication - not physically stopping transmission.</a:t>
            </a:r>
            <a:endParaRPr lang="en-US" sz="1320" dirty="0"/>
          </a:p>
        </p:txBody>
      </p:sp>
      <p:sp>
        <p:nvSpPr>
          <p:cNvPr id="43" name="Text 41"/>
          <p:cNvSpPr/>
          <p:nvPr/>
        </p:nvSpPr>
        <p:spPr>
          <a:xfrm>
            <a:off x="1828800" y="5989320"/>
            <a:ext cx="8412480" cy="228600"/>
          </a:xfrm>
          <a:prstGeom prst="rect">
            <a:avLst/>
          </a:prstGeom>
          <a:noFill/>
          <a:ln/>
        </p:spPr>
        <p:txBody>
          <a:bodyPr wrap="square" lIns="0" tIns="0" rIns="0" bIns="0" rtlCol="0" anchor="ctr"/>
          <a:lstStyle/>
          <a:p>
            <a:pPr marL="0" indent="0" algn="ctr">
              <a:buNone/>
            </a:pPr>
            <a:r>
              <a:rPr lang="en-US" sz="850" dirty="0">
                <a:solidFill>
                  <a:srgbClr val="AFC8D8"/>
                </a:solidFill>
              </a:rPr>
              <a:t>Pipeline summarized across the ten reviewed PLA studies in the uploaded paper.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15088" y="512064"/>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10</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Learning-Based PLA Methods Reviewed</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 method-family map of the ten representative studies</a:t>
            </a:r>
            <a:endParaRPr lang="en-US" sz="1050" dirty="0"/>
          </a:p>
        </p:txBody>
      </p:sp>
      <p:sp>
        <p:nvSpPr>
          <p:cNvPr id="18" name="Shape 16"/>
          <p:cNvSpPr/>
          <p:nvPr/>
        </p:nvSpPr>
        <p:spPr>
          <a:xfrm>
            <a:off x="4572000" y="2011680"/>
            <a:ext cx="2971800" cy="1463040"/>
          </a:xfrm>
          <a:prstGeom prst="ellipse">
            <a:avLst/>
          </a:prstGeom>
          <a:solidFill>
            <a:srgbClr val="00A7B5"/>
          </a:solidFill>
          <a:ln w="12700">
            <a:solidFill>
              <a:srgbClr val="65E4F5"/>
            </a:solidFill>
            <a:prstDash val="solid"/>
          </a:ln>
        </p:spPr>
        <p:txBody>
          <a:bodyPr/>
          <a:lstStyle/>
          <a:p>
            <a:endParaRPr lang="en-US"/>
          </a:p>
        </p:txBody>
      </p:sp>
      <p:sp>
        <p:nvSpPr>
          <p:cNvPr id="19" name="Text 17"/>
          <p:cNvSpPr/>
          <p:nvPr/>
        </p:nvSpPr>
        <p:spPr>
          <a:xfrm>
            <a:off x="4754880" y="2359152"/>
            <a:ext cx="2606040" cy="640080"/>
          </a:xfrm>
          <a:prstGeom prst="rect">
            <a:avLst/>
          </a:prstGeom>
          <a:noFill/>
          <a:ln/>
        </p:spPr>
        <p:txBody>
          <a:bodyPr wrap="square" lIns="0" tIns="0" rIns="0" bIns="0" rtlCol="0" anchor="ctr"/>
          <a:lstStyle/>
          <a:p>
            <a:pPr marL="0" indent="0" algn="ctr">
              <a:buNone/>
            </a:pPr>
            <a:r>
              <a:rPr lang="en-US" sz="1400" b="1" dirty="0">
                <a:solidFill>
                  <a:srgbClr val="FFFFFF"/>
                </a:solidFill>
              </a:rPr>
              <a:t>Learning-Based</a:t>
            </a:r>
            <a:endParaRPr lang="en-US" sz="1400" dirty="0"/>
          </a:p>
          <a:p>
            <a:pPr marL="0" indent="0" algn="ctr">
              <a:buNone/>
            </a:pPr>
            <a:r>
              <a:rPr lang="en-US" sz="1400" b="1" dirty="0">
                <a:solidFill>
                  <a:srgbClr val="FFFFFF"/>
                </a:solidFill>
              </a:rPr>
              <a:t>PLA for IoUT</a:t>
            </a:r>
            <a:endParaRPr lang="en-US" sz="1400" dirty="0"/>
          </a:p>
          <a:p>
            <a:pPr marL="0" indent="0" algn="ctr">
              <a:buNone/>
            </a:pPr>
            <a:r>
              <a:rPr lang="en-US" sz="1400" b="1" dirty="0">
                <a:solidFill>
                  <a:srgbClr val="FFFFFF"/>
                </a:solidFill>
              </a:rPr>
              <a:t>Spoofing Defense</a:t>
            </a:r>
            <a:endParaRPr lang="en-US" sz="1400" dirty="0"/>
          </a:p>
        </p:txBody>
      </p:sp>
      <p:sp>
        <p:nvSpPr>
          <p:cNvPr id="20" name="Shape 18"/>
          <p:cNvSpPr/>
          <p:nvPr/>
        </p:nvSpPr>
        <p:spPr>
          <a:xfrm>
            <a:off x="658368" y="1805940"/>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21" name="Text 19"/>
          <p:cNvSpPr/>
          <p:nvPr/>
        </p:nvSpPr>
        <p:spPr>
          <a:xfrm>
            <a:off x="877824" y="2103120"/>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RL / DRL</a:t>
            </a:r>
            <a:endParaRPr lang="en-US" sz="1020" dirty="0"/>
          </a:p>
        </p:txBody>
      </p:sp>
      <p:sp>
        <p:nvSpPr>
          <p:cNvPr id="22" name="Text 20"/>
          <p:cNvSpPr/>
          <p:nvPr/>
        </p:nvSpPr>
        <p:spPr>
          <a:xfrm>
            <a:off x="896112" y="2513947"/>
            <a:ext cx="2075688" cy="374904"/>
          </a:xfrm>
          <a:prstGeom prst="rect">
            <a:avLst/>
          </a:prstGeom>
          <a:noFill/>
          <a:ln/>
        </p:spPr>
        <p:txBody>
          <a:bodyPr wrap="square" lIns="254" tIns="254" rIns="254" bIns="254" rtlCol="0" anchor="t">
            <a:normAutofit/>
          </a:bodyPr>
          <a:lstStyle/>
          <a:p>
            <a:pPr marL="0" indent="0">
              <a:buNone/>
            </a:pPr>
            <a:r>
              <a:rPr lang="en-US" sz="750" dirty="0">
                <a:solidFill>
                  <a:srgbClr val="EAF7FB"/>
                </a:solidFill>
                <a:latin typeface="Aptos" pitchFamily="34" charset="0"/>
                <a:ea typeface="Aptos" pitchFamily="34" charset="-122"/>
                <a:cs typeface="Aptos" pitchFamily="34" charset="-120"/>
              </a:rPr>
              <a:t>Xiao et al. [4] — adaptive thresholds</a:t>
            </a:r>
            <a:endParaRPr lang="en-US" sz="750" dirty="0"/>
          </a:p>
        </p:txBody>
      </p:sp>
      <p:sp>
        <p:nvSpPr>
          <p:cNvPr id="23" name="Shape 21"/>
          <p:cNvSpPr/>
          <p:nvPr/>
        </p:nvSpPr>
        <p:spPr>
          <a:xfrm>
            <a:off x="658368" y="3063240"/>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24" name="Text 22"/>
          <p:cNvSpPr/>
          <p:nvPr/>
        </p:nvSpPr>
        <p:spPr>
          <a:xfrm>
            <a:off x="822960" y="3209544"/>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SVM</a:t>
            </a:r>
            <a:endParaRPr lang="en-US" sz="1020" dirty="0"/>
          </a:p>
        </p:txBody>
      </p:sp>
      <p:sp>
        <p:nvSpPr>
          <p:cNvPr id="25" name="Text 23"/>
          <p:cNvSpPr/>
          <p:nvPr/>
        </p:nvSpPr>
        <p:spPr>
          <a:xfrm>
            <a:off x="841248" y="3566160"/>
            <a:ext cx="2075688" cy="374904"/>
          </a:xfrm>
          <a:prstGeom prst="rect">
            <a:avLst/>
          </a:prstGeom>
          <a:noFill/>
          <a:ln/>
        </p:spPr>
        <p:txBody>
          <a:bodyPr wrap="square" lIns="254" tIns="254" rIns="254" bIns="254" rtlCol="0" anchor="t">
            <a:normAutofit/>
          </a:bodyPr>
          <a:lstStyle/>
          <a:p>
            <a:pPr marL="0" indent="0">
              <a:buNone/>
            </a:pPr>
            <a:r>
              <a:rPr lang="en-US" sz="750" dirty="0">
                <a:solidFill>
                  <a:srgbClr val="EAF7FB"/>
                </a:solidFill>
                <a:latin typeface="Aptos" pitchFamily="34" charset="0"/>
                <a:ea typeface="Aptos" pitchFamily="34" charset="-122"/>
                <a:cs typeface="Aptos" pitchFamily="34" charset="-120"/>
              </a:rPr>
              <a:t>Zhao et al. [1] — no adversary training data</a:t>
            </a:r>
            <a:endParaRPr lang="en-US" sz="750" dirty="0"/>
          </a:p>
        </p:txBody>
      </p:sp>
      <p:sp>
        <p:nvSpPr>
          <p:cNvPr id="26" name="Shape 24"/>
          <p:cNvSpPr/>
          <p:nvPr/>
        </p:nvSpPr>
        <p:spPr>
          <a:xfrm>
            <a:off x="3291840" y="4709160"/>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27" name="Text 25"/>
          <p:cNvSpPr/>
          <p:nvPr/>
        </p:nvSpPr>
        <p:spPr>
          <a:xfrm>
            <a:off x="3456432" y="4855464"/>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RNN / LSTM</a:t>
            </a:r>
            <a:endParaRPr lang="en-US" sz="1020" dirty="0"/>
          </a:p>
        </p:txBody>
      </p:sp>
      <p:sp>
        <p:nvSpPr>
          <p:cNvPr id="28" name="Text 26"/>
          <p:cNvSpPr/>
          <p:nvPr/>
        </p:nvSpPr>
        <p:spPr>
          <a:xfrm>
            <a:off x="3474720" y="5212080"/>
            <a:ext cx="2075688" cy="374904"/>
          </a:xfrm>
          <a:prstGeom prst="rect">
            <a:avLst/>
          </a:prstGeom>
          <a:noFill/>
          <a:ln/>
        </p:spPr>
        <p:txBody>
          <a:bodyPr wrap="square" lIns="254" tIns="254" rIns="254" bIns="254" rtlCol="0" anchor="t">
            <a:normAutofit/>
          </a:bodyPr>
          <a:lstStyle/>
          <a:p>
            <a:pPr marL="0" indent="0">
              <a:buNone/>
            </a:pPr>
            <a:r>
              <a:rPr lang="en-US" sz="750" dirty="0">
                <a:solidFill>
                  <a:srgbClr val="EAF7FB"/>
                </a:solidFill>
                <a:latin typeface="Aptos" pitchFamily="34" charset="0"/>
                <a:ea typeface="Aptos" pitchFamily="34" charset="-122"/>
                <a:cs typeface="Aptos" pitchFamily="34" charset="-120"/>
              </a:rPr>
              <a:t>Ardizzon et al. [5] — mobile feature prediction</a:t>
            </a:r>
            <a:endParaRPr lang="en-US" sz="750" dirty="0"/>
          </a:p>
        </p:txBody>
      </p:sp>
      <p:sp>
        <p:nvSpPr>
          <p:cNvPr id="29" name="Shape 27"/>
          <p:cNvSpPr/>
          <p:nvPr/>
        </p:nvSpPr>
        <p:spPr>
          <a:xfrm>
            <a:off x="6172200" y="4709160"/>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30" name="Text 28"/>
          <p:cNvSpPr/>
          <p:nvPr/>
        </p:nvSpPr>
        <p:spPr>
          <a:xfrm>
            <a:off x="6336792" y="4855464"/>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CNN / Location</a:t>
            </a:r>
            <a:endParaRPr lang="en-US" sz="1020" dirty="0"/>
          </a:p>
        </p:txBody>
      </p:sp>
      <p:sp>
        <p:nvSpPr>
          <p:cNvPr id="31" name="Text 29"/>
          <p:cNvSpPr/>
          <p:nvPr/>
        </p:nvSpPr>
        <p:spPr>
          <a:xfrm>
            <a:off x="6355080" y="5212080"/>
            <a:ext cx="2075688" cy="374904"/>
          </a:xfrm>
          <a:prstGeom prst="rect">
            <a:avLst/>
          </a:prstGeom>
          <a:noFill/>
          <a:ln/>
        </p:spPr>
        <p:txBody>
          <a:bodyPr wrap="square" lIns="254" tIns="254" rIns="254" bIns="254" rtlCol="0" anchor="t">
            <a:normAutofit/>
          </a:bodyPr>
          <a:lstStyle/>
          <a:p>
            <a:pPr marL="0" indent="0">
              <a:buNone/>
            </a:pPr>
            <a:r>
              <a:rPr lang="en-US" sz="750" dirty="0">
                <a:solidFill>
                  <a:srgbClr val="EAF7FB"/>
                </a:solidFill>
                <a:latin typeface="Aptos" pitchFamily="34" charset="0"/>
                <a:ea typeface="Aptos" pitchFamily="34" charset="-122"/>
                <a:cs typeface="Aptos" pitchFamily="34" charset="-120"/>
              </a:rPr>
              <a:t>Ventura et al. [6] — trajectory consistency</a:t>
            </a:r>
            <a:endParaRPr lang="en-US" sz="750" dirty="0"/>
          </a:p>
        </p:txBody>
      </p:sp>
      <p:sp>
        <p:nvSpPr>
          <p:cNvPr id="32" name="Shape 30"/>
          <p:cNvSpPr/>
          <p:nvPr/>
        </p:nvSpPr>
        <p:spPr>
          <a:xfrm>
            <a:off x="9326880" y="3063240"/>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33" name="Text 31"/>
          <p:cNvSpPr/>
          <p:nvPr/>
        </p:nvSpPr>
        <p:spPr>
          <a:xfrm>
            <a:off x="9491472" y="3209544"/>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Cooperative</a:t>
            </a:r>
            <a:endParaRPr lang="en-US" sz="1020" dirty="0"/>
          </a:p>
        </p:txBody>
      </p:sp>
      <p:sp>
        <p:nvSpPr>
          <p:cNvPr id="34" name="Text 32"/>
          <p:cNvSpPr/>
          <p:nvPr/>
        </p:nvSpPr>
        <p:spPr>
          <a:xfrm>
            <a:off x="9509760" y="3566160"/>
            <a:ext cx="2075688" cy="374904"/>
          </a:xfrm>
          <a:prstGeom prst="rect">
            <a:avLst/>
          </a:prstGeom>
          <a:noFill/>
          <a:ln/>
        </p:spPr>
        <p:txBody>
          <a:bodyPr wrap="square" lIns="254" tIns="254" rIns="254" bIns="254" rtlCol="0" anchor="t">
            <a:normAutofit/>
          </a:bodyPr>
          <a:lstStyle/>
          <a:p>
            <a:pPr marL="0" indent="0">
              <a:buNone/>
            </a:pPr>
            <a:r>
              <a:rPr lang="en-US" sz="750" dirty="0">
                <a:solidFill>
                  <a:srgbClr val="EAF7FB"/>
                </a:solidFill>
                <a:latin typeface="Aptos" pitchFamily="34" charset="0"/>
                <a:ea typeface="Aptos" pitchFamily="34" charset="-122"/>
                <a:cs typeface="Aptos" pitchFamily="34" charset="-120"/>
              </a:rPr>
              <a:t>Diamant et al. [7] — trusted-node fusion</a:t>
            </a:r>
            <a:endParaRPr lang="en-US" sz="750" dirty="0"/>
          </a:p>
        </p:txBody>
      </p:sp>
      <p:sp>
        <p:nvSpPr>
          <p:cNvPr id="35" name="Shape 33"/>
          <p:cNvSpPr/>
          <p:nvPr/>
        </p:nvSpPr>
        <p:spPr>
          <a:xfrm>
            <a:off x="9326880" y="1719072"/>
            <a:ext cx="2423160" cy="960120"/>
          </a:xfrm>
          <a:prstGeom prst="roundRect">
            <a:avLst>
              <a:gd name="adj" fmla="val 10476"/>
            </a:avLst>
          </a:prstGeom>
          <a:solidFill>
            <a:srgbClr val="0D2B48"/>
          </a:solidFill>
          <a:ln w="12700">
            <a:solidFill>
              <a:srgbClr val="1B5676">
                <a:alpha val="95000"/>
              </a:srgbClr>
            </a:solidFill>
            <a:prstDash val="solid"/>
          </a:ln>
        </p:spPr>
        <p:txBody>
          <a:bodyPr/>
          <a:lstStyle/>
          <a:p>
            <a:endParaRPr lang="en-US"/>
          </a:p>
        </p:txBody>
      </p:sp>
      <p:sp>
        <p:nvSpPr>
          <p:cNvPr id="36" name="Text 34"/>
          <p:cNvSpPr/>
          <p:nvPr/>
        </p:nvSpPr>
        <p:spPr>
          <a:xfrm>
            <a:off x="9445752" y="1965960"/>
            <a:ext cx="2093976" cy="256032"/>
          </a:xfrm>
          <a:prstGeom prst="rect">
            <a:avLst/>
          </a:prstGeom>
          <a:noFill/>
          <a:ln/>
        </p:spPr>
        <p:txBody>
          <a:bodyPr wrap="square" lIns="0" tIns="0" rIns="0" bIns="0" rtlCol="0" anchor="ctr"/>
          <a:lstStyle/>
          <a:p>
            <a:pPr marL="0" indent="0">
              <a:buNone/>
            </a:pPr>
            <a:r>
              <a:rPr lang="en-US" sz="1020" b="1" dirty="0">
                <a:solidFill>
                  <a:srgbClr val="B9F7FF"/>
                </a:solidFill>
                <a:latin typeface="Aptos Display" pitchFamily="34" charset="0"/>
                <a:ea typeface="Aptos Display" pitchFamily="34" charset="-122"/>
                <a:cs typeface="Aptos Display" pitchFamily="34" charset="-120"/>
              </a:rPr>
              <a:t>TR / Database / CIR</a:t>
            </a:r>
            <a:endParaRPr lang="en-US" sz="1020" dirty="0"/>
          </a:p>
        </p:txBody>
      </p:sp>
      <p:sp>
        <p:nvSpPr>
          <p:cNvPr id="37" name="Text 35"/>
          <p:cNvSpPr/>
          <p:nvPr/>
        </p:nvSpPr>
        <p:spPr>
          <a:xfrm>
            <a:off x="9491472" y="1737360"/>
            <a:ext cx="2093976" cy="914400"/>
          </a:xfrm>
          <a:prstGeom prst="rect">
            <a:avLst/>
          </a:prstGeom>
          <a:noFill/>
          <a:ln/>
        </p:spPr>
        <p:txBody>
          <a:bodyPr wrap="square" lIns="254" tIns="254" rIns="254" bIns="254" rtlCol="0" anchor="t">
            <a:normAutofit/>
          </a:bodyPr>
          <a:lstStyle/>
          <a:p>
            <a:pPr marL="0" indent="0">
              <a:buNone/>
            </a:pPr>
            <a:endParaRPr lang="en-US" sz="750" dirty="0">
              <a:solidFill>
                <a:srgbClr val="EAF7FB"/>
              </a:solidFill>
              <a:latin typeface="Aptos" pitchFamily="34" charset="0"/>
              <a:ea typeface="Aptos" pitchFamily="34" charset="-122"/>
              <a:cs typeface="Aptos" pitchFamily="34" charset="-120"/>
            </a:endParaRPr>
          </a:p>
          <a:p>
            <a:pPr marL="0" indent="0">
              <a:buNone/>
            </a:pPr>
            <a:endParaRPr lang="en-US" sz="750" dirty="0">
              <a:solidFill>
                <a:srgbClr val="EAF7FB"/>
              </a:solidFill>
              <a:latin typeface="Aptos" pitchFamily="34" charset="0"/>
              <a:ea typeface="Aptos" pitchFamily="34" charset="-122"/>
              <a:cs typeface="Aptos" pitchFamily="34" charset="-120"/>
            </a:endParaRPr>
          </a:p>
          <a:p>
            <a:pPr marL="0" indent="0">
              <a:buNone/>
            </a:pPr>
            <a:endParaRPr lang="en-US" sz="750" dirty="0">
              <a:solidFill>
                <a:srgbClr val="EAF7FB"/>
              </a:solidFill>
              <a:latin typeface="Aptos" pitchFamily="34" charset="0"/>
              <a:ea typeface="Aptos" pitchFamily="34" charset="-122"/>
              <a:cs typeface="Aptos" pitchFamily="34" charset="-120"/>
            </a:endParaRPr>
          </a:p>
          <a:p>
            <a:pPr marL="0" indent="0">
              <a:buNone/>
            </a:pPr>
            <a:endParaRPr lang="en-US" sz="750" dirty="0">
              <a:solidFill>
                <a:srgbClr val="EAF7FB"/>
              </a:solidFill>
              <a:latin typeface="Aptos" pitchFamily="34" charset="0"/>
              <a:ea typeface="Aptos" pitchFamily="34" charset="-122"/>
              <a:cs typeface="Aptos" pitchFamily="34" charset="-120"/>
            </a:endParaRPr>
          </a:p>
          <a:p>
            <a:pPr marL="0" indent="0">
              <a:buNone/>
            </a:pPr>
            <a:endParaRPr lang="en-US" sz="750" dirty="0">
              <a:solidFill>
                <a:srgbClr val="EAF7FB"/>
              </a:solidFill>
              <a:latin typeface="Aptos" pitchFamily="34" charset="0"/>
              <a:ea typeface="Aptos" pitchFamily="34" charset="-122"/>
              <a:cs typeface="Aptos" pitchFamily="34" charset="-120"/>
            </a:endParaRPr>
          </a:p>
          <a:p>
            <a:pPr marL="0" indent="0">
              <a:buNone/>
            </a:pPr>
            <a:r>
              <a:rPr lang="en-US" sz="750" dirty="0">
                <a:solidFill>
                  <a:srgbClr val="EAF7FB"/>
                </a:solidFill>
                <a:latin typeface="Aptos" pitchFamily="34" charset="0"/>
                <a:ea typeface="Aptos" pitchFamily="34" charset="-122"/>
                <a:cs typeface="Aptos" pitchFamily="34" charset="-120"/>
              </a:rPr>
              <a:t>Zhao et al. [8], Shi et al. [2], Zhao et al. [3]</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11</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RL/DRL and SVM-Based Authentication</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Adaptive learning versus classifier-based PLA</a:t>
            </a:r>
            <a:endParaRPr lang="en-US" sz="1050" dirty="0"/>
          </a:p>
        </p:txBody>
      </p:sp>
      <p:sp>
        <p:nvSpPr>
          <p:cNvPr id="18" name="Shape 16"/>
          <p:cNvSpPr/>
          <p:nvPr/>
        </p:nvSpPr>
        <p:spPr>
          <a:xfrm>
            <a:off x="685800" y="1325880"/>
            <a:ext cx="5074920" cy="4160520"/>
          </a:xfrm>
          <a:prstGeom prst="roundRect">
            <a:avLst>
              <a:gd name="adj" fmla="val 2418"/>
            </a:avLst>
          </a:prstGeom>
          <a:solidFill>
            <a:srgbClr val="0C2944"/>
          </a:solidFill>
          <a:ln w="12700">
            <a:solidFill>
              <a:srgbClr val="1B5676">
                <a:alpha val="95000"/>
              </a:srgbClr>
            </a:solidFill>
            <a:prstDash val="solid"/>
          </a:ln>
        </p:spPr>
        <p:txBody>
          <a:bodyPr/>
          <a:lstStyle/>
          <a:p>
            <a:endParaRPr lang="en-US"/>
          </a:p>
        </p:txBody>
      </p:sp>
      <p:sp>
        <p:nvSpPr>
          <p:cNvPr id="19" name="Text 17"/>
          <p:cNvSpPr/>
          <p:nvPr/>
        </p:nvSpPr>
        <p:spPr>
          <a:xfrm>
            <a:off x="850392" y="1472184"/>
            <a:ext cx="47457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Xiao et al. [4] — RL/DRL adaptive PLA</a:t>
            </a:r>
            <a:endParaRPr lang="en-US" sz="1250" dirty="0"/>
          </a:p>
        </p:txBody>
      </p:sp>
      <p:sp>
        <p:nvSpPr>
          <p:cNvPr id="20" name="Text 18"/>
          <p:cNvSpPr/>
          <p:nvPr/>
        </p:nvSpPr>
        <p:spPr>
          <a:xfrm>
            <a:off x="868680" y="1837944"/>
            <a:ext cx="4727448" cy="3566160"/>
          </a:xfrm>
          <a:prstGeom prst="rect">
            <a:avLst/>
          </a:prstGeom>
          <a:noFill/>
          <a:ln/>
        </p:spPr>
        <p:txBody>
          <a:bodyPr wrap="square" lIns="508" tIns="508" rIns="508" bIns="508" rtlCol="0" anchor="t">
            <a:normAutofit/>
          </a:bodyPr>
          <a:lstStyle/>
          <a:p>
            <a:r>
              <a:rPr lang="en-US" sz="1100" dirty="0">
                <a:solidFill>
                  <a:srgbClr val="EAF7FB"/>
                </a:solidFill>
                <a:latin typeface="Aptos" pitchFamily="34" charset="0"/>
                <a:ea typeface="Aptos" pitchFamily="34" charset="-122"/>
                <a:cs typeface="Aptos" pitchFamily="34" charset="-120"/>
              </a:rPr>
              <a:t>Uses PDP-based physical evidence.</a:t>
            </a:r>
            <a:endParaRPr lang="en-US" sz="1100" dirty="0"/>
          </a:p>
          <a:p>
            <a:r>
              <a:rPr lang="en-US" sz="1100" dirty="0">
                <a:solidFill>
                  <a:srgbClr val="EAF7FB"/>
                </a:solidFill>
                <a:latin typeface="Aptos" pitchFamily="34" charset="0"/>
                <a:ea typeface="Aptos" pitchFamily="34" charset="-122"/>
                <a:cs typeface="Aptos" pitchFamily="34" charset="-120"/>
              </a:rPr>
              <a:t>Learns or adapts authentication parameters and thresholds.</a:t>
            </a:r>
            <a:endParaRPr lang="en-US" sz="1100" dirty="0"/>
          </a:p>
          <a:p>
            <a:r>
              <a:rPr lang="en-US" sz="1100" dirty="0">
                <a:solidFill>
                  <a:srgbClr val="EAF7FB"/>
                </a:solidFill>
                <a:latin typeface="Aptos" pitchFamily="34" charset="0"/>
                <a:ea typeface="Aptos" pitchFamily="34" charset="-122"/>
                <a:cs typeface="Aptos" pitchFamily="34" charset="-120"/>
              </a:rPr>
              <a:t>Useful under uncertainty and channel variation.</a:t>
            </a:r>
            <a:endParaRPr lang="en-US" sz="1100" dirty="0"/>
          </a:p>
          <a:p>
            <a:r>
              <a:rPr lang="en-US" sz="1100" dirty="0">
                <a:solidFill>
                  <a:srgbClr val="EAF7FB"/>
                </a:solidFill>
                <a:latin typeface="Aptos" pitchFamily="34" charset="0"/>
                <a:ea typeface="Aptos" pitchFamily="34" charset="-122"/>
                <a:cs typeface="Aptos" pitchFamily="34" charset="-120"/>
              </a:rPr>
              <a:t>Deployment limitation: higher training and computational cost.</a:t>
            </a:r>
            <a:endParaRPr lang="en-US" sz="1100" dirty="0"/>
          </a:p>
        </p:txBody>
      </p:sp>
      <p:sp>
        <p:nvSpPr>
          <p:cNvPr id="21" name="Shape 19"/>
          <p:cNvSpPr/>
          <p:nvPr/>
        </p:nvSpPr>
        <p:spPr>
          <a:xfrm>
            <a:off x="6400800" y="1325880"/>
            <a:ext cx="5074920" cy="4160520"/>
          </a:xfrm>
          <a:prstGeom prst="roundRect">
            <a:avLst>
              <a:gd name="adj" fmla="val 2418"/>
            </a:avLst>
          </a:prstGeom>
          <a:solidFill>
            <a:srgbClr val="0C2944"/>
          </a:solidFill>
          <a:ln w="12700">
            <a:solidFill>
              <a:srgbClr val="1B5676">
                <a:alpha val="95000"/>
              </a:srgbClr>
            </a:solidFill>
            <a:prstDash val="solid"/>
          </a:ln>
        </p:spPr>
        <p:txBody>
          <a:bodyPr/>
          <a:lstStyle/>
          <a:p>
            <a:endParaRPr lang="en-US"/>
          </a:p>
        </p:txBody>
      </p:sp>
      <p:sp>
        <p:nvSpPr>
          <p:cNvPr id="22" name="Text 20"/>
          <p:cNvSpPr/>
          <p:nvPr/>
        </p:nvSpPr>
        <p:spPr>
          <a:xfrm>
            <a:off x="6565392" y="1472184"/>
            <a:ext cx="47457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Zhao et al. [1] — PLA without adversary training data</a:t>
            </a:r>
            <a:endParaRPr lang="en-US" sz="1250" dirty="0"/>
          </a:p>
        </p:txBody>
      </p:sp>
      <p:sp>
        <p:nvSpPr>
          <p:cNvPr id="23" name="Text 21"/>
          <p:cNvSpPr/>
          <p:nvPr/>
        </p:nvSpPr>
        <p:spPr>
          <a:xfrm>
            <a:off x="6583680" y="1837944"/>
            <a:ext cx="4727448" cy="3566160"/>
          </a:xfrm>
          <a:prstGeom prst="rect">
            <a:avLst/>
          </a:prstGeom>
          <a:noFill/>
          <a:ln/>
        </p:spPr>
        <p:txBody>
          <a:bodyPr wrap="square" lIns="508" tIns="508" rIns="508" bIns="508" rtlCol="0" anchor="t">
            <a:normAutofit/>
          </a:bodyPr>
          <a:lstStyle/>
          <a:p>
            <a:r>
              <a:rPr lang="en-US" sz="1100" dirty="0">
                <a:solidFill>
                  <a:srgbClr val="EAF7FB"/>
                </a:solidFill>
                <a:latin typeface="Aptos" pitchFamily="34" charset="0"/>
                <a:ea typeface="Aptos" pitchFamily="34" charset="-122"/>
                <a:cs typeface="Aptos" pitchFamily="34" charset="-120"/>
              </a:rPr>
              <a:t>Uses CIR/database-correlative features.</a:t>
            </a:r>
            <a:endParaRPr lang="en-US" sz="1100" dirty="0"/>
          </a:p>
          <a:p>
            <a:r>
              <a:rPr lang="en-US" sz="1100" dirty="0">
                <a:solidFill>
                  <a:srgbClr val="EAF7FB"/>
                </a:solidFill>
                <a:latin typeface="Aptos" pitchFamily="34" charset="0"/>
                <a:ea typeface="Aptos" pitchFamily="34" charset="-122"/>
                <a:cs typeface="Aptos" pitchFamily="34" charset="-120"/>
              </a:rPr>
              <a:t>Important when real adversary samples are unavailable.</a:t>
            </a:r>
            <a:endParaRPr lang="en-US" sz="1100" dirty="0"/>
          </a:p>
          <a:p>
            <a:r>
              <a:rPr lang="en-US" sz="1100" dirty="0">
                <a:solidFill>
                  <a:srgbClr val="EAF7FB"/>
                </a:solidFill>
                <a:latin typeface="Aptos" pitchFamily="34" charset="0"/>
                <a:ea typeface="Aptos" pitchFamily="34" charset="-122"/>
                <a:cs typeface="Aptos" pitchFamily="34" charset="-120"/>
              </a:rPr>
              <a:t>Fits resource-constrained underwater settings better than heavier methods.</a:t>
            </a:r>
            <a:endParaRPr lang="en-US" sz="1100" dirty="0"/>
          </a:p>
          <a:p>
            <a:r>
              <a:rPr lang="en-US" sz="1100" dirty="0">
                <a:solidFill>
                  <a:srgbClr val="EAF7FB"/>
                </a:solidFill>
                <a:latin typeface="Aptos" pitchFamily="34" charset="0"/>
                <a:ea typeface="Aptos" pitchFamily="34" charset="-122"/>
                <a:cs typeface="Aptos" pitchFamily="34" charset="-120"/>
              </a:rPr>
              <a:t>Deployment limitation: relies on representative legitimate CIR records.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30633" y="365760"/>
            <a:ext cx="12191695" cy="6858000"/>
          </a:xfrm>
          <a:prstGeom prst="rect">
            <a:avLst/>
          </a:prstGeom>
          <a:solidFill>
            <a:srgbClr val="06172A"/>
          </a:solidFill>
          <a:ln w="12700">
            <a:solidFill>
              <a:srgbClr val="06172A"/>
            </a:solidFill>
            <a:prstDash val="solid"/>
          </a:ln>
        </p:spPr>
        <p:txBody>
          <a:bodyPr/>
          <a:lstStyle/>
          <a:p>
            <a:endParaRPr lang="en-US" dirty="0"/>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12</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Mobility-Aware Authentication</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Avoid false alarms caused by legitimate node movement</a:t>
            </a:r>
            <a:endParaRPr lang="en-US" sz="1050" dirty="0"/>
          </a:p>
        </p:txBody>
      </p:sp>
      <p:sp>
        <p:nvSpPr>
          <p:cNvPr id="18" name="Shape 16"/>
          <p:cNvSpPr/>
          <p:nvPr/>
        </p:nvSpPr>
        <p:spPr>
          <a:xfrm>
            <a:off x="685800" y="1325880"/>
            <a:ext cx="4023360" cy="3154680"/>
          </a:xfrm>
          <a:prstGeom prst="roundRect">
            <a:avLst>
              <a:gd name="adj" fmla="val 3188"/>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850392" y="1472184"/>
            <a:ext cx="369417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Core problem</a:t>
            </a:r>
            <a:endParaRPr lang="en-US" sz="1250" dirty="0"/>
          </a:p>
        </p:txBody>
      </p:sp>
      <p:sp>
        <p:nvSpPr>
          <p:cNvPr id="20" name="Text 18"/>
          <p:cNvSpPr/>
          <p:nvPr/>
        </p:nvSpPr>
        <p:spPr>
          <a:xfrm>
            <a:off x="868680" y="1837944"/>
            <a:ext cx="3675888" cy="2560320"/>
          </a:xfrm>
          <a:prstGeom prst="rect">
            <a:avLst/>
          </a:prstGeom>
          <a:noFill/>
          <a:ln/>
        </p:spPr>
        <p:txBody>
          <a:bodyPr wrap="square" lIns="508" tIns="508" rIns="508" bIns="508" rtlCol="0" anchor="t">
            <a:normAutofit/>
          </a:bodyPr>
          <a:lstStyle/>
          <a:p>
            <a:r>
              <a:rPr lang="en-US" sz="1100" dirty="0">
                <a:solidFill>
                  <a:srgbClr val="EAF7FB"/>
                </a:solidFill>
                <a:latin typeface="Aptos" pitchFamily="34" charset="0"/>
                <a:ea typeface="Aptos" pitchFamily="34" charset="-122"/>
                <a:cs typeface="Aptos" pitchFamily="34" charset="-120"/>
              </a:rPr>
              <a:t>Mobile nodes and AUVs naturally change channel fingerprints.</a:t>
            </a:r>
            <a:endParaRPr lang="en-US" sz="1100" dirty="0"/>
          </a:p>
          <a:p>
            <a:r>
              <a:rPr lang="en-US" sz="1100" dirty="0">
                <a:solidFill>
                  <a:srgbClr val="EAF7FB"/>
                </a:solidFill>
                <a:latin typeface="Aptos" pitchFamily="34" charset="0"/>
                <a:ea typeface="Aptos" pitchFamily="34" charset="-122"/>
                <a:cs typeface="Aptos" pitchFamily="34" charset="-120"/>
              </a:rPr>
              <a:t>A static fingerprint can reject a legitimate moving node.</a:t>
            </a:r>
            <a:endParaRPr lang="en-US" sz="1100" dirty="0"/>
          </a:p>
          <a:p>
            <a:r>
              <a:rPr lang="en-US" sz="1100" dirty="0">
                <a:solidFill>
                  <a:srgbClr val="EAF7FB"/>
                </a:solidFill>
                <a:latin typeface="Aptos" pitchFamily="34" charset="0"/>
                <a:ea typeface="Aptos" pitchFamily="34" charset="-122"/>
                <a:cs typeface="Aptos" pitchFamily="34" charset="-120"/>
              </a:rPr>
              <a:t>Authentication must track expected change, not only current mismatch.</a:t>
            </a:r>
            <a:endParaRPr lang="en-US" sz="1100" dirty="0"/>
          </a:p>
        </p:txBody>
      </p:sp>
      <p:sp>
        <p:nvSpPr>
          <p:cNvPr id="21" name="Shape 19"/>
          <p:cNvSpPr/>
          <p:nvPr/>
        </p:nvSpPr>
        <p:spPr>
          <a:xfrm>
            <a:off x="685800" y="4617720"/>
            <a:ext cx="4023360" cy="1143000"/>
          </a:xfrm>
          <a:prstGeom prst="roundRect">
            <a:avLst>
              <a:gd name="adj" fmla="val 8800"/>
            </a:avLst>
          </a:prstGeom>
          <a:solidFill>
            <a:srgbClr val="0A243D"/>
          </a:solidFill>
          <a:ln w="12700">
            <a:solidFill>
              <a:srgbClr val="1B5676">
                <a:alpha val="95000"/>
              </a:srgbClr>
            </a:solidFill>
            <a:prstDash val="solid"/>
          </a:ln>
        </p:spPr>
        <p:txBody>
          <a:bodyPr/>
          <a:lstStyle/>
          <a:p>
            <a:endParaRPr lang="en-US"/>
          </a:p>
        </p:txBody>
      </p:sp>
      <p:sp>
        <p:nvSpPr>
          <p:cNvPr id="22" name="Text 20"/>
          <p:cNvSpPr/>
          <p:nvPr/>
        </p:nvSpPr>
        <p:spPr>
          <a:xfrm>
            <a:off x="850392" y="4764024"/>
            <a:ext cx="369417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Reviewed directions</a:t>
            </a:r>
            <a:endParaRPr lang="en-US" sz="1250" dirty="0"/>
          </a:p>
        </p:txBody>
      </p:sp>
      <p:sp>
        <p:nvSpPr>
          <p:cNvPr id="23" name="Text 21"/>
          <p:cNvSpPr/>
          <p:nvPr/>
        </p:nvSpPr>
        <p:spPr>
          <a:xfrm>
            <a:off x="868680" y="5129784"/>
            <a:ext cx="3675888" cy="548640"/>
          </a:xfrm>
          <a:prstGeom prst="rect">
            <a:avLst/>
          </a:prstGeom>
          <a:noFill/>
          <a:ln/>
        </p:spPr>
        <p:txBody>
          <a:bodyPr wrap="square" lIns="508" tIns="508" rIns="508" bIns="508" rtlCol="0" anchor="t">
            <a:normAutofit/>
          </a:bodyPr>
          <a:lstStyle/>
          <a:p>
            <a:r>
              <a:rPr lang="en-US" sz="850" dirty="0">
                <a:solidFill>
                  <a:srgbClr val="EAF7FB"/>
                </a:solidFill>
                <a:latin typeface="Aptos" pitchFamily="34" charset="0"/>
                <a:ea typeface="Aptos" pitchFamily="34" charset="-122"/>
                <a:cs typeface="Aptos" pitchFamily="34" charset="-120"/>
              </a:rPr>
              <a:t>Ardizzon et al. [5] — RNN/LSTM mobile PLA; Ventura et al. [6] — Location-tracking authentication; Casari et al. [10] — Mobility-aware PLA with mobile devices.</a:t>
            </a:r>
            <a:endParaRPr lang="en-US" sz="850" dirty="0"/>
          </a:p>
        </p:txBody>
      </p:sp>
      <p:sp>
        <p:nvSpPr>
          <p:cNvPr id="24" name="Shape 22"/>
          <p:cNvSpPr/>
          <p:nvPr/>
        </p:nvSpPr>
        <p:spPr>
          <a:xfrm>
            <a:off x="5771873" y="3070459"/>
            <a:ext cx="960120" cy="411480"/>
          </a:xfrm>
          <a:prstGeom prst="chevron">
            <a:avLst/>
          </a:prstGeom>
          <a:solidFill>
            <a:srgbClr val="00A7B5"/>
          </a:solidFill>
          <a:ln w="12700">
            <a:solidFill>
              <a:srgbClr val="65E4F5"/>
            </a:solidFill>
            <a:prstDash val="solid"/>
          </a:ln>
        </p:spPr>
        <p:txBody>
          <a:bodyPr/>
          <a:lstStyle/>
          <a:p>
            <a:endParaRPr lang="en-US"/>
          </a:p>
        </p:txBody>
      </p:sp>
      <p:sp>
        <p:nvSpPr>
          <p:cNvPr id="25" name="Shape 23"/>
          <p:cNvSpPr/>
          <p:nvPr/>
        </p:nvSpPr>
        <p:spPr>
          <a:xfrm>
            <a:off x="8838398" y="2153412"/>
            <a:ext cx="960120" cy="411480"/>
          </a:xfrm>
          <a:prstGeom prst="chevron">
            <a:avLst/>
          </a:prstGeom>
          <a:solidFill>
            <a:srgbClr val="00A7B5"/>
          </a:solidFill>
          <a:ln w="12700">
            <a:solidFill>
              <a:srgbClr val="65E4F5"/>
            </a:solidFill>
            <a:prstDash val="solid"/>
          </a:ln>
        </p:spPr>
        <p:txBody>
          <a:bodyPr/>
          <a:lstStyle/>
          <a:p>
            <a:endParaRPr lang="en-US"/>
          </a:p>
        </p:txBody>
      </p:sp>
      <p:sp>
        <p:nvSpPr>
          <p:cNvPr id="26" name="Shape 24"/>
          <p:cNvSpPr/>
          <p:nvPr/>
        </p:nvSpPr>
        <p:spPr>
          <a:xfrm>
            <a:off x="8915400" y="3794760"/>
            <a:ext cx="960120" cy="411480"/>
          </a:xfrm>
          <a:prstGeom prst="chevron">
            <a:avLst/>
          </a:prstGeom>
          <a:solidFill>
            <a:srgbClr val="E76F51"/>
          </a:solidFill>
          <a:ln w="12700">
            <a:solidFill>
              <a:srgbClr val="F4A261"/>
            </a:solidFill>
            <a:prstDash val="solid"/>
          </a:ln>
        </p:spPr>
        <p:txBody>
          <a:bodyPr/>
          <a:lstStyle/>
          <a:p>
            <a:endParaRPr lang="en-US"/>
          </a:p>
        </p:txBody>
      </p:sp>
      <p:sp>
        <p:nvSpPr>
          <p:cNvPr id="27" name="Shape 25"/>
          <p:cNvSpPr/>
          <p:nvPr/>
        </p:nvSpPr>
        <p:spPr>
          <a:xfrm flipV="1">
            <a:off x="6731992" y="2347843"/>
            <a:ext cx="2306129" cy="928356"/>
          </a:xfrm>
          <a:prstGeom prst="line">
            <a:avLst/>
          </a:prstGeom>
          <a:noFill/>
          <a:ln w="22860">
            <a:solidFill>
              <a:srgbClr val="25C7A2"/>
            </a:solidFill>
            <a:prstDash val="solid"/>
            <a:headEnd type="none"/>
            <a:tailEnd type="triangle"/>
          </a:ln>
        </p:spPr>
        <p:txBody>
          <a:bodyPr/>
          <a:lstStyle/>
          <a:p>
            <a:endParaRPr lang="en-US"/>
          </a:p>
        </p:txBody>
      </p:sp>
      <p:sp>
        <p:nvSpPr>
          <p:cNvPr id="28" name="Shape 26"/>
          <p:cNvSpPr/>
          <p:nvPr/>
        </p:nvSpPr>
        <p:spPr>
          <a:xfrm>
            <a:off x="6732872" y="3280530"/>
            <a:ext cx="2382252" cy="718285"/>
          </a:xfrm>
          <a:prstGeom prst="line">
            <a:avLst/>
          </a:prstGeom>
          <a:noFill/>
          <a:ln w="22860">
            <a:solidFill>
              <a:srgbClr val="F4A261"/>
            </a:solidFill>
            <a:prstDash val="solid"/>
            <a:headEnd type="none"/>
            <a:tailEnd type="triangle"/>
          </a:ln>
        </p:spPr>
        <p:txBody>
          <a:bodyPr/>
          <a:lstStyle/>
          <a:p>
            <a:endParaRPr lang="en-US"/>
          </a:p>
        </p:txBody>
      </p:sp>
      <p:sp>
        <p:nvSpPr>
          <p:cNvPr id="29" name="Text 27"/>
          <p:cNvSpPr/>
          <p:nvPr/>
        </p:nvSpPr>
        <p:spPr>
          <a:xfrm>
            <a:off x="6766560" y="2508945"/>
            <a:ext cx="1463040" cy="201168"/>
          </a:xfrm>
          <a:prstGeom prst="rect">
            <a:avLst/>
          </a:prstGeom>
          <a:noFill/>
          <a:ln/>
        </p:spPr>
        <p:txBody>
          <a:bodyPr wrap="square" lIns="0" tIns="0" rIns="0" bIns="0" rtlCol="0" anchor="ctr"/>
          <a:lstStyle/>
          <a:p>
            <a:pPr marL="0" indent="0" algn="ctr">
              <a:buNone/>
            </a:pPr>
            <a:r>
              <a:rPr lang="en-US" sz="900" b="1" dirty="0">
                <a:solidFill>
                  <a:srgbClr val="25C7A2"/>
                </a:solidFill>
              </a:rPr>
              <a:t>Predicted path</a:t>
            </a:r>
            <a:endParaRPr lang="en-US" sz="900" dirty="0"/>
          </a:p>
        </p:txBody>
      </p:sp>
      <p:sp>
        <p:nvSpPr>
          <p:cNvPr id="30" name="Text 28"/>
          <p:cNvSpPr/>
          <p:nvPr/>
        </p:nvSpPr>
        <p:spPr>
          <a:xfrm>
            <a:off x="6918158" y="3825079"/>
            <a:ext cx="2011680" cy="201168"/>
          </a:xfrm>
          <a:prstGeom prst="rect">
            <a:avLst/>
          </a:prstGeom>
          <a:noFill/>
          <a:ln/>
        </p:spPr>
        <p:txBody>
          <a:bodyPr wrap="square" lIns="0" tIns="0" rIns="0" bIns="0" rtlCol="0" anchor="ctr"/>
          <a:lstStyle/>
          <a:p>
            <a:pPr marL="0" indent="0" algn="ctr">
              <a:buNone/>
            </a:pPr>
            <a:r>
              <a:rPr lang="en-US" sz="900" b="1" dirty="0">
                <a:solidFill>
                  <a:srgbClr val="F4A261"/>
                </a:solidFill>
              </a:rPr>
              <a:t>Suspicious deviation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13</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Cooperative, Time-Reversal, and Historical CIR Methods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Using spatial diversity, multipath, and channel history as security evidence</a:t>
            </a:r>
            <a:endParaRPr lang="en-US" sz="1050" dirty="0"/>
          </a:p>
        </p:txBody>
      </p:sp>
      <p:sp>
        <p:nvSpPr>
          <p:cNvPr id="18" name="Shape 16"/>
          <p:cNvSpPr/>
          <p:nvPr/>
        </p:nvSpPr>
        <p:spPr>
          <a:xfrm>
            <a:off x="640080" y="1417320"/>
            <a:ext cx="3474720" cy="3611880"/>
          </a:xfrm>
          <a:prstGeom prst="roundRect">
            <a:avLst>
              <a:gd name="adj" fmla="val 2895"/>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804672" y="1563624"/>
            <a:ext cx="31455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Diamant et al. [7] — Cooperative authentication</a:t>
            </a:r>
            <a:endParaRPr lang="en-US" sz="1250" dirty="0"/>
          </a:p>
        </p:txBody>
      </p:sp>
      <p:sp>
        <p:nvSpPr>
          <p:cNvPr id="20" name="Text 18"/>
          <p:cNvSpPr/>
          <p:nvPr/>
        </p:nvSpPr>
        <p:spPr>
          <a:xfrm>
            <a:off x="822960" y="1929384"/>
            <a:ext cx="3127248" cy="3017520"/>
          </a:xfrm>
          <a:prstGeom prst="rect">
            <a:avLst/>
          </a:prstGeom>
          <a:noFill/>
          <a:ln/>
        </p:spPr>
        <p:txBody>
          <a:bodyPr wrap="square" lIns="508" tIns="508" rIns="508" bIns="508" rtlCol="0" anchor="t">
            <a:normAutofit/>
          </a:bodyPr>
          <a:lstStyle/>
          <a:p>
            <a:r>
              <a:rPr lang="en-US" sz="970" dirty="0">
                <a:solidFill>
                  <a:srgbClr val="EAF7FB"/>
                </a:solidFill>
                <a:latin typeface="Aptos" pitchFamily="34" charset="0"/>
                <a:ea typeface="Aptos" pitchFamily="34" charset="-122"/>
                <a:cs typeface="Aptos" pitchFamily="34" charset="-120"/>
              </a:rPr>
              <a:t>Trusted helper nodes evaluate local beliefs.</a:t>
            </a:r>
            <a:endParaRPr lang="en-US" sz="970" dirty="0"/>
          </a:p>
          <a:p>
            <a:r>
              <a:rPr lang="en-US" sz="970" dirty="0">
                <a:solidFill>
                  <a:srgbClr val="EAF7FB"/>
                </a:solidFill>
                <a:latin typeface="Aptos" pitchFamily="34" charset="0"/>
                <a:ea typeface="Aptos" pitchFamily="34" charset="-122"/>
                <a:cs typeface="Aptos" pitchFamily="34" charset="-120"/>
              </a:rPr>
              <a:t>Sink fuses multiple decisions.</a:t>
            </a:r>
            <a:endParaRPr lang="en-US" sz="970" dirty="0"/>
          </a:p>
          <a:p>
            <a:r>
              <a:rPr lang="en-US" sz="970" dirty="0">
                <a:solidFill>
                  <a:srgbClr val="EAF7FB"/>
                </a:solidFill>
                <a:latin typeface="Aptos" pitchFamily="34" charset="0"/>
                <a:ea typeface="Aptos" pitchFamily="34" charset="-122"/>
                <a:cs typeface="Aptos" pitchFamily="34" charset="-120"/>
              </a:rPr>
              <a:t>Spatial diversity makes spoofing harder across receivers.</a:t>
            </a:r>
            <a:endParaRPr lang="en-US" sz="970" dirty="0"/>
          </a:p>
          <a:p>
            <a:r>
              <a:rPr lang="en-US" sz="970" dirty="0">
                <a:solidFill>
                  <a:srgbClr val="EAF7FB"/>
                </a:solidFill>
                <a:latin typeface="Aptos" pitchFamily="34" charset="0"/>
                <a:ea typeface="Aptos" pitchFamily="34" charset="-122"/>
                <a:cs typeface="Aptos" pitchFamily="34" charset="-120"/>
              </a:rPr>
              <a:t>Deployment concern: trusted helpers and extra overhead.</a:t>
            </a:r>
            <a:endParaRPr lang="en-US" sz="970" dirty="0"/>
          </a:p>
        </p:txBody>
      </p:sp>
      <p:sp>
        <p:nvSpPr>
          <p:cNvPr id="21" name="Shape 19"/>
          <p:cNvSpPr/>
          <p:nvPr/>
        </p:nvSpPr>
        <p:spPr>
          <a:xfrm>
            <a:off x="4434840" y="1417320"/>
            <a:ext cx="3474720" cy="3611880"/>
          </a:xfrm>
          <a:prstGeom prst="roundRect">
            <a:avLst>
              <a:gd name="adj" fmla="val 2895"/>
            </a:avLst>
          </a:prstGeom>
          <a:solidFill>
            <a:srgbClr val="0A243D"/>
          </a:solidFill>
          <a:ln w="12700">
            <a:solidFill>
              <a:srgbClr val="1B5676">
                <a:alpha val="95000"/>
              </a:srgbClr>
            </a:solidFill>
            <a:prstDash val="solid"/>
          </a:ln>
        </p:spPr>
        <p:txBody>
          <a:bodyPr/>
          <a:lstStyle/>
          <a:p>
            <a:endParaRPr lang="en-US"/>
          </a:p>
        </p:txBody>
      </p:sp>
      <p:sp>
        <p:nvSpPr>
          <p:cNvPr id="22" name="Text 20"/>
          <p:cNvSpPr/>
          <p:nvPr/>
        </p:nvSpPr>
        <p:spPr>
          <a:xfrm>
            <a:off x="4599432" y="1563624"/>
            <a:ext cx="31455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Zhao et al. [8] — Time-reversal PLA</a:t>
            </a:r>
            <a:endParaRPr lang="en-US" sz="1250" dirty="0"/>
          </a:p>
        </p:txBody>
      </p:sp>
      <p:sp>
        <p:nvSpPr>
          <p:cNvPr id="23" name="Text 21"/>
          <p:cNvSpPr/>
          <p:nvPr/>
        </p:nvSpPr>
        <p:spPr>
          <a:xfrm>
            <a:off x="4617720" y="1929384"/>
            <a:ext cx="3127248" cy="3017520"/>
          </a:xfrm>
          <a:prstGeom prst="rect">
            <a:avLst/>
          </a:prstGeom>
          <a:noFill/>
          <a:ln/>
        </p:spPr>
        <p:txBody>
          <a:bodyPr wrap="square" lIns="508" tIns="508" rIns="508" bIns="508" rtlCol="0" anchor="t">
            <a:normAutofit/>
          </a:bodyPr>
          <a:lstStyle/>
          <a:p>
            <a:r>
              <a:rPr lang="en-US" sz="970" dirty="0">
                <a:solidFill>
                  <a:srgbClr val="EAF7FB"/>
                </a:solidFill>
                <a:latin typeface="Aptos" pitchFamily="34" charset="0"/>
                <a:ea typeface="Aptos" pitchFamily="34" charset="-122"/>
                <a:cs typeface="Aptos" pitchFamily="34" charset="-120"/>
              </a:rPr>
              <a:t>Uses MTRRS and multipath focusing as a link signature.</a:t>
            </a:r>
            <a:endParaRPr lang="en-US" sz="970" dirty="0"/>
          </a:p>
          <a:p>
            <a:r>
              <a:rPr lang="en-US" sz="970" dirty="0">
                <a:solidFill>
                  <a:srgbClr val="EAF7FB"/>
                </a:solidFill>
                <a:latin typeface="Aptos" pitchFamily="34" charset="0"/>
                <a:ea typeface="Aptos" pitchFamily="34" charset="-122"/>
                <a:cs typeface="Aptos" pitchFamily="34" charset="-120"/>
              </a:rPr>
              <a:t>Turns multipath from impairment into security evidence.</a:t>
            </a:r>
            <a:endParaRPr lang="en-US" sz="970" dirty="0"/>
          </a:p>
          <a:p>
            <a:r>
              <a:rPr lang="en-US" sz="970" dirty="0">
                <a:solidFill>
                  <a:srgbClr val="EAF7FB"/>
                </a:solidFill>
                <a:latin typeface="Aptos" pitchFamily="34" charset="0"/>
                <a:ea typeface="Aptos" pitchFamily="34" charset="-122"/>
                <a:cs typeface="Aptos" pitchFamily="34" charset="-120"/>
              </a:rPr>
              <a:t>Deployment concern: depends on CIR/time-reversal estimation.</a:t>
            </a:r>
            <a:endParaRPr lang="en-US" sz="970" dirty="0"/>
          </a:p>
        </p:txBody>
      </p:sp>
      <p:sp>
        <p:nvSpPr>
          <p:cNvPr id="24" name="Shape 22"/>
          <p:cNvSpPr/>
          <p:nvPr/>
        </p:nvSpPr>
        <p:spPr>
          <a:xfrm>
            <a:off x="8229600" y="1417320"/>
            <a:ext cx="3474720" cy="3611880"/>
          </a:xfrm>
          <a:prstGeom prst="roundRect">
            <a:avLst>
              <a:gd name="adj" fmla="val 2895"/>
            </a:avLst>
          </a:prstGeom>
          <a:solidFill>
            <a:srgbClr val="0A243D"/>
          </a:solidFill>
          <a:ln w="12700">
            <a:solidFill>
              <a:srgbClr val="1B5676">
                <a:alpha val="95000"/>
              </a:srgbClr>
            </a:solidFill>
            <a:prstDash val="solid"/>
          </a:ln>
        </p:spPr>
        <p:txBody>
          <a:bodyPr/>
          <a:lstStyle/>
          <a:p>
            <a:endParaRPr lang="en-US"/>
          </a:p>
        </p:txBody>
      </p:sp>
      <p:sp>
        <p:nvSpPr>
          <p:cNvPr id="25" name="Text 23"/>
          <p:cNvSpPr/>
          <p:nvPr/>
        </p:nvSpPr>
        <p:spPr>
          <a:xfrm>
            <a:off x="8394192" y="1563624"/>
            <a:ext cx="314553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Shi et al. [2] / Zhao et al. [3] — Database and differential CIR PLA</a:t>
            </a:r>
            <a:endParaRPr lang="en-US" sz="1250" dirty="0"/>
          </a:p>
        </p:txBody>
      </p:sp>
      <p:sp>
        <p:nvSpPr>
          <p:cNvPr id="26" name="Text 24"/>
          <p:cNvSpPr/>
          <p:nvPr/>
        </p:nvSpPr>
        <p:spPr>
          <a:xfrm>
            <a:off x="8412480" y="1929384"/>
            <a:ext cx="3127248" cy="3017520"/>
          </a:xfrm>
          <a:prstGeom prst="rect">
            <a:avLst/>
          </a:prstGeom>
          <a:noFill/>
          <a:ln/>
        </p:spPr>
        <p:txBody>
          <a:bodyPr wrap="square" lIns="508" tIns="508" rIns="508" bIns="508" rtlCol="0" anchor="t">
            <a:normAutofit/>
          </a:bodyPr>
          <a:lstStyle/>
          <a:p>
            <a:r>
              <a:rPr lang="en-US" sz="930" dirty="0">
                <a:solidFill>
                  <a:srgbClr val="EAF7FB"/>
                </a:solidFill>
                <a:latin typeface="Aptos" pitchFamily="34" charset="0"/>
                <a:ea typeface="Aptos" pitchFamily="34" charset="-122"/>
                <a:cs typeface="Aptos" pitchFamily="34" charset="-120"/>
              </a:rPr>
              <a:t>Compares current channel evidence with historical CIR/link fingerprints.</a:t>
            </a:r>
            <a:endParaRPr lang="en-US" sz="930" dirty="0"/>
          </a:p>
          <a:p>
            <a:r>
              <a:rPr lang="en-US" sz="930" dirty="0">
                <a:solidFill>
                  <a:srgbClr val="EAF7FB"/>
                </a:solidFill>
                <a:latin typeface="Aptos" pitchFamily="34" charset="0"/>
                <a:ea typeface="Aptos" pitchFamily="34" charset="-122"/>
                <a:cs typeface="Aptos" pitchFamily="34" charset="-120"/>
              </a:rPr>
              <a:t>Handles dynamic channels.</a:t>
            </a:r>
            <a:endParaRPr lang="en-US" sz="930" dirty="0"/>
          </a:p>
          <a:p>
            <a:r>
              <a:rPr lang="en-US" sz="930" dirty="0">
                <a:solidFill>
                  <a:srgbClr val="EAF7FB"/>
                </a:solidFill>
                <a:latin typeface="Aptos" pitchFamily="34" charset="0"/>
                <a:ea typeface="Aptos" pitchFamily="34" charset="-122"/>
                <a:cs typeface="Aptos" pitchFamily="34" charset="-120"/>
              </a:rPr>
              <a:t>Deployment concern: records must stay updated.</a:t>
            </a:r>
            <a:endParaRPr lang="en-US" sz="9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14</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Literature Synthesis: How the 10 Papers Fit Together</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Six research directions, not ten isolated summaries</a:t>
            </a:r>
            <a:endParaRPr lang="en-US" sz="1050" dirty="0"/>
          </a:p>
        </p:txBody>
      </p:sp>
      <p:sp>
        <p:nvSpPr>
          <p:cNvPr id="18" name="Shape 16"/>
          <p:cNvSpPr/>
          <p:nvPr/>
        </p:nvSpPr>
        <p:spPr>
          <a:xfrm>
            <a:off x="594360" y="141732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19" name="Shape 17"/>
          <p:cNvSpPr/>
          <p:nvPr/>
        </p:nvSpPr>
        <p:spPr>
          <a:xfrm>
            <a:off x="731520" y="1554480"/>
            <a:ext cx="384048" cy="384048"/>
          </a:xfrm>
          <a:prstGeom prst="ellipse">
            <a:avLst/>
          </a:prstGeom>
          <a:solidFill>
            <a:srgbClr val="00A7B5"/>
          </a:solidFill>
          <a:ln w="12700">
            <a:solidFill>
              <a:srgbClr val="65E4F5"/>
            </a:solidFill>
            <a:prstDash val="solid"/>
          </a:ln>
        </p:spPr>
        <p:txBody>
          <a:bodyPr/>
          <a:lstStyle/>
          <a:p>
            <a:endParaRPr lang="en-US"/>
          </a:p>
        </p:txBody>
      </p:sp>
      <p:sp>
        <p:nvSpPr>
          <p:cNvPr id="20" name="Text 18"/>
          <p:cNvSpPr/>
          <p:nvPr/>
        </p:nvSpPr>
        <p:spPr>
          <a:xfrm>
            <a:off x="731520" y="164592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21" name="Text 19"/>
          <p:cNvSpPr/>
          <p:nvPr/>
        </p:nvSpPr>
        <p:spPr>
          <a:xfrm>
            <a:off x="1252728" y="157276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Statistical / hypothesis-testing</a:t>
            </a:r>
            <a:endParaRPr lang="en-US" sz="1020" dirty="0"/>
          </a:p>
          <a:p>
            <a:pPr marL="0" indent="0">
              <a:buNone/>
            </a:pPr>
            <a:r>
              <a:rPr lang="en-US" sz="1020" b="1" dirty="0">
                <a:solidFill>
                  <a:srgbClr val="FFFFFF"/>
                </a:solidFill>
              </a:rPr>
              <a:t>impersonation detection</a:t>
            </a:r>
            <a:endParaRPr lang="en-US" sz="1020" dirty="0"/>
          </a:p>
        </p:txBody>
      </p:sp>
      <p:sp>
        <p:nvSpPr>
          <p:cNvPr id="22" name="Text 20"/>
          <p:cNvSpPr/>
          <p:nvPr/>
        </p:nvSpPr>
        <p:spPr>
          <a:xfrm>
            <a:off x="1252728" y="218541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Aman et al. [9] — LoS impersonation detection</a:t>
            </a:r>
            <a:endParaRPr lang="en-US" sz="720" dirty="0"/>
          </a:p>
        </p:txBody>
      </p:sp>
      <p:sp>
        <p:nvSpPr>
          <p:cNvPr id="23" name="Shape 21"/>
          <p:cNvSpPr/>
          <p:nvPr/>
        </p:nvSpPr>
        <p:spPr>
          <a:xfrm>
            <a:off x="4462272" y="141732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24" name="Shape 22"/>
          <p:cNvSpPr/>
          <p:nvPr/>
        </p:nvSpPr>
        <p:spPr>
          <a:xfrm>
            <a:off x="4599432" y="1554480"/>
            <a:ext cx="384048" cy="384048"/>
          </a:xfrm>
          <a:prstGeom prst="ellipse">
            <a:avLst/>
          </a:prstGeom>
          <a:solidFill>
            <a:srgbClr val="00A7B5"/>
          </a:solidFill>
          <a:ln w="12700">
            <a:solidFill>
              <a:srgbClr val="65E4F5"/>
            </a:solidFill>
            <a:prstDash val="solid"/>
          </a:ln>
        </p:spPr>
        <p:txBody>
          <a:bodyPr/>
          <a:lstStyle/>
          <a:p>
            <a:endParaRPr lang="en-US"/>
          </a:p>
        </p:txBody>
      </p:sp>
      <p:sp>
        <p:nvSpPr>
          <p:cNvPr id="25" name="Text 23"/>
          <p:cNvSpPr/>
          <p:nvPr/>
        </p:nvSpPr>
        <p:spPr>
          <a:xfrm>
            <a:off x="4599432" y="164592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26" name="Text 24"/>
          <p:cNvSpPr/>
          <p:nvPr/>
        </p:nvSpPr>
        <p:spPr>
          <a:xfrm>
            <a:off x="5120640" y="157276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Adaptive learning-based</a:t>
            </a:r>
            <a:endParaRPr lang="en-US" sz="1020" dirty="0"/>
          </a:p>
          <a:p>
            <a:pPr marL="0" indent="0">
              <a:buNone/>
            </a:pPr>
            <a:r>
              <a:rPr lang="en-US" sz="1020" b="1" dirty="0">
                <a:solidFill>
                  <a:srgbClr val="FFFFFF"/>
                </a:solidFill>
              </a:rPr>
              <a:t>authentication</a:t>
            </a:r>
            <a:endParaRPr lang="en-US" sz="1020" dirty="0"/>
          </a:p>
        </p:txBody>
      </p:sp>
      <p:sp>
        <p:nvSpPr>
          <p:cNvPr id="27" name="Text 25"/>
          <p:cNvSpPr/>
          <p:nvPr/>
        </p:nvSpPr>
        <p:spPr>
          <a:xfrm>
            <a:off x="5120640" y="218541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Xiao et al. [4] — RL/DRL adaptive PLA</a:t>
            </a:r>
            <a:endParaRPr lang="en-US" sz="720" dirty="0"/>
          </a:p>
        </p:txBody>
      </p:sp>
      <p:sp>
        <p:nvSpPr>
          <p:cNvPr id="28" name="Shape 26"/>
          <p:cNvSpPr/>
          <p:nvPr/>
        </p:nvSpPr>
        <p:spPr>
          <a:xfrm>
            <a:off x="8330184" y="141732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29" name="Shape 27"/>
          <p:cNvSpPr/>
          <p:nvPr/>
        </p:nvSpPr>
        <p:spPr>
          <a:xfrm>
            <a:off x="8467344" y="1554480"/>
            <a:ext cx="384048" cy="384048"/>
          </a:xfrm>
          <a:prstGeom prst="ellipse">
            <a:avLst/>
          </a:prstGeom>
          <a:solidFill>
            <a:srgbClr val="00A7B5"/>
          </a:solidFill>
          <a:ln w="12700">
            <a:solidFill>
              <a:srgbClr val="65E4F5"/>
            </a:solidFill>
            <a:prstDash val="solid"/>
          </a:ln>
        </p:spPr>
        <p:txBody>
          <a:bodyPr/>
          <a:lstStyle/>
          <a:p>
            <a:endParaRPr lang="en-US"/>
          </a:p>
        </p:txBody>
      </p:sp>
      <p:sp>
        <p:nvSpPr>
          <p:cNvPr id="30" name="Text 28"/>
          <p:cNvSpPr/>
          <p:nvPr/>
        </p:nvSpPr>
        <p:spPr>
          <a:xfrm>
            <a:off x="8467344" y="164592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31" name="Text 29"/>
          <p:cNvSpPr/>
          <p:nvPr/>
        </p:nvSpPr>
        <p:spPr>
          <a:xfrm>
            <a:off x="8988552" y="157276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Adversary-data-free</a:t>
            </a:r>
            <a:endParaRPr lang="en-US" sz="1020" dirty="0"/>
          </a:p>
          <a:p>
            <a:pPr marL="0" indent="0">
              <a:buNone/>
            </a:pPr>
            <a:r>
              <a:rPr lang="en-US" sz="1020" b="1" dirty="0">
                <a:solidFill>
                  <a:srgbClr val="FFFFFF"/>
                </a:solidFill>
              </a:rPr>
              <a:t>PLA</a:t>
            </a:r>
            <a:endParaRPr lang="en-US" sz="1020" dirty="0"/>
          </a:p>
        </p:txBody>
      </p:sp>
      <p:sp>
        <p:nvSpPr>
          <p:cNvPr id="32" name="Text 30"/>
          <p:cNvSpPr/>
          <p:nvPr/>
        </p:nvSpPr>
        <p:spPr>
          <a:xfrm>
            <a:off x="8988552" y="218541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Zhao et al. [1] — PLA without adversary training data</a:t>
            </a:r>
            <a:endParaRPr lang="en-US" sz="720" dirty="0"/>
          </a:p>
        </p:txBody>
      </p:sp>
      <p:sp>
        <p:nvSpPr>
          <p:cNvPr id="33" name="Shape 31"/>
          <p:cNvSpPr/>
          <p:nvPr/>
        </p:nvSpPr>
        <p:spPr>
          <a:xfrm>
            <a:off x="594360" y="342900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34" name="Shape 32"/>
          <p:cNvSpPr/>
          <p:nvPr/>
        </p:nvSpPr>
        <p:spPr>
          <a:xfrm>
            <a:off x="731520" y="3566160"/>
            <a:ext cx="384048" cy="384048"/>
          </a:xfrm>
          <a:prstGeom prst="ellipse">
            <a:avLst/>
          </a:prstGeom>
          <a:solidFill>
            <a:srgbClr val="00A7B5"/>
          </a:solidFill>
          <a:ln w="12700">
            <a:solidFill>
              <a:srgbClr val="65E4F5"/>
            </a:solidFill>
            <a:prstDash val="solid"/>
          </a:ln>
        </p:spPr>
        <p:txBody>
          <a:bodyPr/>
          <a:lstStyle/>
          <a:p>
            <a:endParaRPr lang="en-US"/>
          </a:p>
        </p:txBody>
      </p:sp>
      <p:sp>
        <p:nvSpPr>
          <p:cNvPr id="35" name="Text 33"/>
          <p:cNvSpPr/>
          <p:nvPr/>
        </p:nvSpPr>
        <p:spPr>
          <a:xfrm>
            <a:off x="731520" y="365760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36" name="Text 34"/>
          <p:cNvSpPr/>
          <p:nvPr/>
        </p:nvSpPr>
        <p:spPr>
          <a:xfrm>
            <a:off x="1252728" y="358444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Mobility-aware</a:t>
            </a:r>
            <a:endParaRPr lang="en-US" sz="1020" dirty="0"/>
          </a:p>
          <a:p>
            <a:pPr marL="0" indent="0">
              <a:buNone/>
            </a:pPr>
            <a:r>
              <a:rPr lang="en-US" sz="1020" b="1" dirty="0">
                <a:solidFill>
                  <a:srgbClr val="FFFFFF"/>
                </a:solidFill>
              </a:rPr>
              <a:t>authentication</a:t>
            </a:r>
            <a:endParaRPr lang="en-US" sz="1020" dirty="0"/>
          </a:p>
        </p:txBody>
      </p:sp>
      <p:sp>
        <p:nvSpPr>
          <p:cNvPr id="37" name="Text 35"/>
          <p:cNvSpPr/>
          <p:nvPr/>
        </p:nvSpPr>
        <p:spPr>
          <a:xfrm>
            <a:off x="1252728" y="419709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Casari et al. [10]; Ardizzon et al. [5]; Ventura et al. [6]</a:t>
            </a:r>
            <a:endParaRPr lang="en-US" sz="720" dirty="0"/>
          </a:p>
        </p:txBody>
      </p:sp>
      <p:sp>
        <p:nvSpPr>
          <p:cNvPr id="38" name="Shape 36"/>
          <p:cNvSpPr/>
          <p:nvPr/>
        </p:nvSpPr>
        <p:spPr>
          <a:xfrm>
            <a:off x="4462272" y="342900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39" name="Shape 37"/>
          <p:cNvSpPr/>
          <p:nvPr/>
        </p:nvSpPr>
        <p:spPr>
          <a:xfrm>
            <a:off x="4599432" y="3566160"/>
            <a:ext cx="384048" cy="384048"/>
          </a:xfrm>
          <a:prstGeom prst="ellipse">
            <a:avLst/>
          </a:prstGeom>
          <a:solidFill>
            <a:srgbClr val="00A7B5"/>
          </a:solidFill>
          <a:ln w="12700">
            <a:solidFill>
              <a:srgbClr val="65E4F5"/>
            </a:solidFill>
            <a:prstDash val="solid"/>
          </a:ln>
        </p:spPr>
        <p:txBody>
          <a:bodyPr/>
          <a:lstStyle/>
          <a:p>
            <a:endParaRPr lang="en-US"/>
          </a:p>
        </p:txBody>
      </p:sp>
      <p:sp>
        <p:nvSpPr>
          <p:cNvPr id="40" name="Text 38"/>
          <p:cNvSpPr/>
          <p:nvPr/>
        </p:nvSpPr>
        <p:spPr>
          <a:xfrm>
            <a:off x="4599432" y="365760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41" name="Text 39"/>
          <p:cNvSpPr/>
          <p:nvPr/>
        </p:nvSpPr>
        <p:spPr>
          <a:xfrm>
            <a:off x="5120640" y="358444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Cooperative</a:t>
            </a:r>
            <a:endParaRPr lang="en-US" sz="1020" dirty="0"/>
          </a:p>
          <a:p>
            <a:pPr marL="0" indent="0">
              <a:buNone/>
            </a:pPr>
            <a:r>
              <a:rPr lang="en-US" sz="1020" b="1" dirty="0">
                <a:solidFill>
                  <a:srgbClr val="FFFFFF"/>
                </a:solidFill>
              </a:rPr>
              <a:t>authentication</a:t>
            </a:r>
            <a:endParaRPr lang="en-US" sz="1020" dirty="0"/>
          </a:p>
        </p:txBody>
      </p:sp>
      <p:sp>
        <p:nvSpPr>
          <p:cNvPr id="42" name="Text 40"/>
          <p:cNvSpPr/>
          <p:nvPr/>
        </p:nvSpPr>
        <p:spPr>
          <a:xfrm>
            <a:off x="5120640" y="419709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Diamant et al. [7] — Cooperative authentication</a:t>
            </a:r>
            <a:endParaRPr lang="en-US" sz="720" dirty="0"/>
          </a:p>
        </p:txBody>
      </p:sp>
      <p:sp>
        <p:nvSpPr>
          <p:cNvPr id="43" name="Shape 41"/>
          <p:cNvSpPr/>
          <p:nvPr/>
        </p:nvSpPr>
        <p:spPr>
          <a:xfrm>
            <a:off x="8330184" y="3429000"/>
            <a:ext cx="3429000" cy="1536192"/>
          </a:xfrm>
          <a:prstGeom prst="roundRect">
            <a:avLst>
              <a:gd name="adj" fmla="val 7143"/>
            </a:avLst>
          </a:prstGeom>
          <a:solidFill>
            <a:srgbClr val="0D2B48"/>
          </a:solidFill>
          <a:ln w="12700">
            <a:solidFill>
              <a:srgbClr val="00A7B5"/>
            </a:solidFill>
            <a:prstDash val="solid"/>
          </a:ln>
        </p:spPr>
        <p:txBody>
          <a:bodyPr/>
          <a:lstStyle/>
          <a:p>
            <a:endParaRPr lang="en-US"/>
          </a:p>
        </p:txBody>
      </p:sp>
      <p:sp>
        <p:nvSpPr>
          <p:cNvPr id="44" name="Shape 42"/>
          <p:cNvSpPr/>
          <p:nvPr/>
        </p:nvSpPr>
        <p:spPr>
          <a:xfrm>
            <a:off x="8467344" y="3566160"/>
            <a:ext cx="384048" cy="384048"/>
          </a:xfrm>
          <a:prstGeom prst="ellipse">
            <a:avLst/>
          </a:prstGeom>
          <a:solidFill>
            <a:srgbClr val="00A7B5"/>
          </a:solidFill>
          <a:ln w="12700">
            <a:solidFill>
              <a:srgbClr val="65E4F5"/>
            </a:solidFill>
            <a:prstDash val="solid"/>
          </a:ln>
        </p:spPr>
        <p:txBody>
          <a:bodyPr/>
          <a:lstStyle/>
          <a:p>
            <a:endParaRPr lang="en-US"/>
          </a:p>
        </p:txBody>
      </p:sp>
      <p:sp>
        <p:nvSpPr>
          <p:cNvPr id="45" name="Text 43"/>
          <p:cNvSpPr/>
          <p:nvPr/>
        </p:nvSpPr>
        <p:spPr>
          <a:xfrm>
            <a:off x="8467344" y="3657600"/>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46" name="Text 44"/>
          <p:cNvSpPr/>
          <p:nvPr/>
        </p:nvSpPr>
        <p:spPr>
          <a:xfrm>
            <a:off x="8988552" y="3584448"/>
            <a:ext cx="2606040" cy="384048"/>
          </a:xfrm>
          <a:prstGeom prst="rect">
            <a:avLst/>
          </a:prstGeom>
          <a:noFill/>
          <a:ln/>
        </p:spPr>
        <p:txBody>
          <a:bodyPr wrap="square" lIns="0" tIns="0" rIns="0" bIns="0" rtlCol="0" anchor="ctr">
            <a:normAutofit/>
          </a:bodyPr>
          <a:lstStyle/>
          <a:p>
            <a:pPr marL="0" indent="0">
              <a:buNone/>
            </a:pPr>
            <a:r>
              <a:rPr lang="en-US" sz="1020" b="1" dirty="0">
                <a:solidFill>
                  <a:srgbClr val="FFFFFF"/>
                </a:solidFill>
              </a:rPr>
              <a:t>Time-reversal / database /</a:t>
            </a:r>
            <a:endParaRPr lang="en-US" sz="1020" dirty="0"/>
          </a:p>
          <a:p>
            <a:pPr marL="0" indent="0">
              <a:buNone/>
            </a:pPr>
            <a:r>
              <a:rPr lang="en-US" sz="1020" b="1" dirty="0">
                <a:solidFill>
                  <a:srgbClr val="FFFFFF"/>
                </a:solidFill>
              </a:rPr>
              <a:t>differential CIR authentication</a:t>
            </a:r>
            <a:endParaRPr lang="en-US" sz="1020" dirty="0"/>
          </a:p>
        </p:txBody>
      </p:sp>
      <p:sp>
        <p:nvSpPr>
          <p:cNvPr id="47" name="Text 45"/>
          <p:cNvSpPr/>
          <p:nvPr/>
        </p:nvSpPr>
        <p:spPr>
          <a:xfrm>
            <a:off x="8988552" y="4197096"/>
            <a:ext cx="2606040" cy="347472"/>
          </a:xfrm>
          <a:prstGeom prst="rect">
            <a:avLst/>
          </a:prstGeom>
          <a:noFill/>
          <a:ln/>
        </p:spPr>
        <p:txBody>
          <a:bodyPr wrap="square" lIns="0" tIns="0" rIns="0" bIns="0" rtlCol="0" anchor="ctr">
            <a:normAutofit/>
          </a:bodyPr>
          <a:lstStyle/>
          <a:p>
            <a:pPr marL="0" indent="0">
              <a:buNone/>
            </a:pPr>
            <a:r>
              <a:rPr lang="en-US" sz="720" dirty="0">
                <a:solidFill>
                  <a:srgbClr val="B9F7FF"/>
                </a:solidFill>
              </a:rPr>
              <a:t>Zhao et al. [8]; Shi et al. [2]; Zhao et al. [3]</a:t>
            </a:r>
            <a:endParaRPr lang="en-US" sz="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15</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Comparative Analysis: What Was Compared?</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The paper compares method assumptions, evidence, and deployment conditions</a:t>
            </a:r>
            <a:endParaRPr lang="en-US" sz="1050" dirty="0"/>
          </a:p>
        </p:txBody>
      </p:sp>
      <p:sp>
        <p:nvSpPr>
          <p:cNvPr id="18" name="Shape 16"/>
          <p:cNvSpPr/>
          <p:nvPr/>
        </p:nvSpPr>
        <p:spPr>
          <a:xfrm>
            <a:off x="640080" y="1353312"/>
            <a:ext cx="3657600" cy="3246120"/>
          </a:xfrm>
          <a:prstGeom prst="roundRect">
            <a:avLst>
              <a:gd name="adj" fmla="val 3099"/>
            </a:avLst>
          </a:prstGeom>
          <a:solidFill>
            <a:srgbClr val="0E2A45"/>
          </a:solidFill>
          <a:ln w="12700">
            <a:solidFill>
              <a:srgbClr val="1B5676">
                <a:alpha val="95000"/>
              </a:srgbClr>
            </a:solidFill>
            <a:prstDash val="solid"/>
          </a:ln>
        </p:spPr>
        <p:txBody>
          <a:bodyPr/>
          <a:lstStyle/>
          <a:p>
            <a:endParaRPr lang="en-US"/>
          </a:p>
        </p:txBody>
      </p:sp>
      <p:sp>
        <p:nvSpPr>
          <p:cNvPr id="19" name="Text 17"/>
          <p:cNvSpPr/>
          <p:nvPr/>
        </p:nvSpPr>
        <p:spPr>
          <a:xfrm>
            <a:off x="804672" y="1499616"/>
            <a:ext cx="332841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Technical View</a:t>
            </a:r>
            <a:endParaRPr lang="en-US" sz="1250" dirty="0"/>
          </a:p>
        </p:txBody>
      </p:sp>
      <p:sp>
        <p:nvSpPr>
          <p:cNvPr id="20" name="Text 18"/>
          <p:cNvSpPr/>
          <p:nvPr/>
        </p:nvSpPr>
        <p:spPr>
          <a:xfrm>
            <a:off x="822960" y="1865376"/>
            <a:ext cx="3310128" cy="2651760"/>
          </a:xfrm>
          <a:prstGeom prst="rect">
            <a:avLst/>
          </a:prstGeom>
          <a:noFill/>
          <a:ln/>
        </p:spPr>
        <p:txBody>
          <a:bodyPr wrap="square" lIns="508" tIns="508" rIns="508" bIns="508" rtlCol="0" anchor="t">
            <a:normAutofit/>
          </a:bodyPr>
          <a:lstStyle/>
          <a:p>
            <a:r>
              <a:rPr lang="en-US" sz="1300" dirty="0">
                <a:solidFill>
                  <a:srgbClr val="EAF7FB"/>
                </a:solidFill>
                <a:latin typeface="Aptos" pitchFamily="34" charset="0"/>
                <a:ea typeface="Aptos" pitchFamily="34" charset="-122"/>
                <a:cs typeface="Aptos" pitchFamily="34" charset="-120"/>
              </a:rPr>
              <a:t>Attack model</a:t>
            </a:r>
            <a:endParaRPr lang="en-US" sz="1300" dirty="0"/>
          </a:p>
          <a:p>
            <a:r>
              <a:rPr lang="en-US" sz="1300" dirty="0">
                <a:solidFill>
                  <a:srgbClr val="EAF7FB"/>
                </a:solidFill>
                <a:latin typeface="Aptos" pitchFamily="34" charset="0"/>
                <a:ea typeface="Aptos" pitchFamily="34" charset="-122"/>
                <a:cs typeface="Aptos" pitchFamily="34" charset="-120"/>
              </a:rPr>
              <a:t>PLA feature</a:t>
            </a:r>
            <a:endParaRPr lang="en-US" sz="1300" dirty="0"/>
          </a:p>
          <a:p>
            <a:r>
              <a:rPr lang="en-US" sz="1300" dirty="0">
                <a:solidFill>
                  <a:srgbClr val="EAF7FB"/>
                </a:solidFill>
                <a:latin typeface="Aptos" pitchFamily="34" charset="0"/>
                <a:ea typeface="Aptos" pitchFamily="34" charset="-122"/>
                <a:cs typeface="Aptos" pitchFamily="34" charset="-120"/>
              </a:rPr>
              <a:t>Decision method</a:t>
            </a:r>
            <a:endParaRPr lang="en-US" sz="1300" dirty="0"/>
          </a:p>
        </p:txBody>
      </p:sp>
      <p:sp>
        <p:nvSpPr>
          <p:cNvPr id="21" name="Shape 19"/>
          <p:cNvSpPr/>
          <p:nvPr/>
        </p:nvSpPr>
        <p:spPr>
          <a:xfrm>
            <a:off x="4526280" y="1353312"/>
            <a:ext cx="3657600" cy="3246120"/>
          </a:xfrm>
          <a:prstGeom prst="roundRect">
            <a:avLst>
              <a:gd name="adj" fmla="val 3099"/>
            </a:avLst>
          </a:prstGeom>
          <a:solidFill>
            <a:srgbClr val="0E2A45"/>
          </a:solidFill>
          <a:ln w="12700">
            <a:solidFill>
              <a:srgbClr val="1B5676">
                <a:alpha val="95000"/>
              </a:srgbClr>
            </a:solidFill>
            <a:prstDash val="solid"/>
          </a:ln>
        </p:spPr>
        <p:txBody>
          <a:bodyPr/>
          <a:lstStyle/>
          <a:p>
            <a:endParaRPr lang="en-US"/>
          </a:p>
        </p:txBody>
      </p:sp>
      <p:sp>
        <p:nvSpPr>
          <p:cNvPr id="22" name="Text 20"/>
          <p:cNvSpPr/>
          <p:nvPr/>
        </p:nvSpPr>
        <p:spPr>
          <a:xfrm>
            <a:off x="4690872" y="1499616"/>
            <a:ext cx="332841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Deployment View</a:t>
            </a:r>
            <a:endParaRPr lang="en-US" sz="1250" dirty="0"/>
          </a:p>
        </p:txBody>
      </p:sp>
      <p:sp>
        <p:nvSpPr>
          <p:cNvPr id="23" name="Text 21"/>
          <p:cNvSpPr/>
          <p:nvPr/>
        </p:nvSpPr>
        <p:spPr>
          <a:xfrm>
            <a:off x="4709160" y="1865376"/>
            <a:ext cx="3310128" cy="2651760"/>
          </a:xfrm>
          <a:prstGeom prst="rect">
            <a:avLst/>
          </a:prstGeom>
          <a:noFill/>
          <a:ln/>
        </p:spPr>
        <p:txBody>
          <a:bodyPr wrap="square" lIns="508" tIns="508" rIns="508" bIns="508" rtlCol="0" anchor="t">
            <a:normAutofit/>
          </a:bodyPr>
          <a:lstStyle/>
          <a:p>
            <a:r>
              <a:rPr lang="en-US" sz="1300" dirty="0">
                <a:solidFill>
                  <a:srgbClr val="EAF7FB"/>
                </a:solidFill>
                <a:latin typeface="Aptos" pitchFamily="34" charset="0"/>
                <a:ea typeface="Aptos" pitchFamily="34" charset="-122"/>
                <a:cs typeface="Aptos" pitchFamily="34" charset="-120"/>
              </a:rPr>
              <a:t>Adversary-data requirement</a:t>
            </a:r>
            <a:endParaRPr lang="en-US" sz="1300" dirty="0"/>
          </a:p>
          <a:p>
            <a:r>
              <a:rPr lang="en-US" sz="1300" dirty="0">
                <a:solidFill>
                  <a:srgbClr val="EAF7FB"/>
                </a:solidFill>
                <a:latin typeface="Aptos" pitchFamily="34" charset="0"/>
                <a:ea typeface="Aptos" pitchFamily="34" charset="-122"/>
                <a:cs typeface="Aptos" pitchFamily="34" charset="-120"/>
              </a:rPr>
              <a:t>Mobility support</a:t>
            </a:r>
            <a:endParaRPr lang="en-US" sz="1300" dirty="0"/>
          </a:p>
          <a:p>
            <a:r>
              <a:rPr lang="en-US" sz="1300" dirty="0">
                <a:solidFill>
                  <a:srgbClr val="EAF7FB"/>
                </a:solidFill>
                <a:latin typeface="Aptos" pitchFamily="34" charset="0"/>
                <a:ea typeface="Aptos" pitchFamily="34" charset="-122"/>
                <a:cs typeface="Aptos" pitchFamily="34" charset="-120"/>
              </a:rPr>
              <a:t>Evaluation type</a:t>
            </a:r>
            <a:endParaRPr lang="en-US" sz="1300" dirty="0"/>
          </a:p>
        </p:txBody>
      </p:sp>
      <p:sp>
        <p:nvSpPr>
          <p:cNvPr id="24" name="Shape 22"/>
          <p:cNvSpPr/>
          <p:nvPr/>
        </p:nvSpPr>
        <p:spPr>
          <a:xfrm>
            <a:off x="8412480" y="1353312"/>
            <a:ext cx="3154680" cy="3246120"/>
          </a:xfrm>
          <a:prstGeom prst="roundRect">
            <a:avLst>
              <a:gd name="adj" fmla="val 3188"/>
            </a:avLst>
          </a:prstGeom>
          <a:solidFill>
            <a:srgbClr val="0E2A45"/>
          </a:solidFill>
          <a:ln w="12700">
            <a:solidFill>
              <a:srgbClr val="1B5676">
                <a:alpha val="95000"/>
              </a:srgbClr>
            </a:solidFill>
            <a:prstDash val="solid"/>
          </a:ln>
        </p:spPr>
        <p:txBody>
          <a:bodyPr/>
          <a:lstStyle/>
          <a:p>
            <a:endParaRPr lang="en-US"/>
          </a:p>
        </p:txBody>
      </p:sp>
      <p:sp>
        <p:nvSpPr>
          <p:cNvPr id="25" name="Text 23"/>
          <p:cNvSpPr/>
          <p:nvPr/>
        </p:nvSpPr>
        <p:spPr>
          <a:xfrm>
            <a:off x="8577072" y="1499616"/>
            <a:ext cx="282549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Practical View</a:t>
            </a:r>
            <a:endParaRPr lang="en-US" sz="1250" dirty="0"/>
          </a:p>
        </p:txBody>
      </p:sp>
      <p:sp>
        <p:nvSpPr>
          <p:cNvPr id="26" name="Text 24"/>
          <p:cNvSpPr/>
          <p:nvPr/>
        </p:nvSpPr>
        <p:spPr>
          <a:xfrm>
            <a:off x="8595360" y="1865376"/>
            <a:ext cx="2807208" cy="2651760"/>
          </a:xfrm>
          <a:prstGeom prst="rect">
            <a:avLst/>
          </a:prstGeom>
          <a:noFill/>
          <a:ln/>
        </p:spPr>
        <p:txBody>
          <a:bodyPr wrap="square" lIns="508" tIns="508" rIns="508" bIns="508" rtlCol="0" anchor="t">
            <a:normAutofit/>
          </a:bodyPr>
          <a:lstStyle/>
          <a:p>
            <a:r>
              <a:rPr lang="en-US" sz="1300" dirty="0">
                <a:solidFill>
                  <a:srgbClr val="EAF7FB"/>
                </a:solidFill>
                <a:latin typeface="Aptos" pitchFamily="34" charset="0"/>
                <a:ea typeface="Aptos" pitchFamily="34" charset="-122"/>
                <a:cs typeface="Aptos" pitchFamily="34" charset="-120"/>
              </a:rPr>
              <a:t>Main strength</a:t>
            </a:r>
            <a:endParaRPr lang="en-US" sz="1300" dirty="0"/>
          </a:p>
          <a:p>
            <a:r>
              <a:rPr lang="en-US" sz="1300" dirty="0">
                <a:solidFill>
                  <a:srgbClr val="EAF7FB"/>
                </a:solidFill>
                <a:latin typeface="Aptos" pitchFamily="34" charset="0"/>
                <a:ea typeface="Aptos" pitchFamily="34" charset="-122"/>
                <a:cs typeface="Aptos" pitchFamily="34" charset="-120"/>
              </a:rPr>
              <a:t>Main limitation</a:t>
            </a:r>
            <a:endParaRPr lang="en-US" sz="1300" dirty="0"/>
          </a:p>
          <a:p>
            <a:r>
              <a:rPr lang="en-US" sz="1300" dirty="0">
                <a:solidFill>
                  <a:srgbClr val="EAF7FB"/>
                </a:solidFill>
                <a:latin typeface="Aptos" pitchFamily="34" charset="0"/>
                <a:ea typeface="Aptos" pitchFamily="34" charset="-122"/>
                <a:cs typeface="Aptos" pitchFamily="34" charset="-120"/>
              </a:rPr>
              <a:t>Deployment assumption</a:t>
            </a:r>
            <a:endParaRPr lang="en-US" sz="1300" dirty="0"/>
          </a:p>
        </p:txBody>
      </p:sp>
      <p:sp>
        <p:nvSpPr>
          <p:cNvPr id="27" name="Shape 25"/>
          <p:cNvSpPr/>
          <p:nvPr/>
        </p:nvSpPr>
        <p:spPr>
          <a:xfrm>
            <a:off x="2514600" y="4663440"/>
            <a:ext cx="0" cy="502920"/>
          </a:xfrm>
          <a:prstGeom prst="line">
            <a:avLst/>
          </a:prstGeom>
          <a:noFill/>
          <a:ln w="17780">
            <a:solidFill>
              <a:srgbClr val="65E4F5"/>
            </a:solidFill>
            <a:prstDash val="solid"/>
            <a:headEnd type="none"/>
            <a:tailEnd type="triangle"/>
          </a:ln>
        </p:spPr>
        <p:txBody>
          <a:bodyPr/>
          <a:lstStyle/>
          <a:p>
            <a:endParaRPr lang="en-US"/>
          </a:p>
        </p:txBody>
      </p:sp>
      <p:sp>
        <p:nvSpPr>
          <p:cNvPr id="28" name="Shape 26"/>
          <p:cNvSpPr/>
          <p:nvPr/>
        </p:nvSpPr>
        <p:spPr>
          <a:xfrm>
            <a:off x="6355080" y="4663440"/>
            <a:ext cx="0" cy="502920"/>
          </a:xfrm>
          <a:prstGeom prst="line">
            <a:avLst/>
          </a:prstGeom>
          <a:noFill/>
          <a:ln w="17780">
            <a:solidFill>
              <a:srgbClr val="65E4F5"/>
            </a:solidFill>
            <a:prstDash val="solid"/>
            <a:headEnd type="none"/>
            <a:tailEnd type="triangle"/>
          </a:ln>
        </p:spPr>
        <p:txBody>
          <a:bodyPr/>
          <a:lstStyle/>
          <a:p>
            <a:endParaRPr lang="en-US"/>
          </a:p>
        </p:txBody>
      </p:sp>
      <p:sp>
        <p:nvSpPr>
          <p:cNvPr id="29" name="Shape 27"/>
          <p:cNvSpPr/>
          <p:nvPr/>
        </p:nvSpPr>
        <p:spPr>
          <a:xfrm>
            <a:off x="10012680" y="4663440"/>
            <a:ext cx="0" cy="502920"/>
          </a:xfrm>
          <a:prstGeom prst="line">
            <a:avLst/>
          </a:prstGeom>
          <a:noFill/>
          <a:ln w="17780">
            <a:solidFill>
              <a:srgbClr val="65E4F5"/>
            </a:solidFill>
            <a:prstDash val="solid"/>
            <a:headEnd type="none"/>
            <a:tailEnd type="triangle"/>
          </a:ln>
        </p:spPr>
        <p:txBody>
          <a:bodyPr/>
          <a:lstStyle/>
          <a:p>
            <a:endParaRPr lang="en-US"/>
          </a:p>
        </p:txBody>
      </p:sp>
      <p:sp>
        <p:nvSpPr>
          <p:cNvPr id="30" name="Text 28"/>
          <p:cNvSpPr/>
          <p:nvPr/>
        </p:nvSpPr>
        <p:spPr>
          <a:xfrm>
            <a:off x="868680" y="5074920"/>
            <a:ext cx="10424160" cy="384048"/>
          </a:xfrm>
          <a:prstGeom prst="rect">
            <a:avLst/>
          </a:prstGeom>
          <a:noFill/>
          <a:ln/>
        </p:spPr>
        <p:txBody>
          <a:bodyPr wrap="square" lIns="0" tIns="0" rIns="0" bIns="0" rtlCol="0" anchor="ctr">
            <a:normAutofit/>
          </a:bodyPr>
          <a:lstStyle/>
          <a:p>
            <a:pPr marL="0" indent="0" algn="ctr">
              <a:buNone/>
            </a:pPr>
            <a:r>
              <a:rPr lang="en-US" sz="840" dirty="0">
                <a:solidFill>
                  <a:srgbClr val="B9F7FF"/>
                </a:solidFill>
              </a:rPr>
              <a:t>Examples used in the comparison: Aman et al. [9] — LoS impersonation detection; Xiao et al. [4] — RL/DRL adaptive authentication; Zhao et al. [1] — No adversary training data; Diamant et al. [7] — Cooperative authentication</a:t>
            </a:r>
            <a:endParaRPr lang="en-US" sz="840" dirty="0"/>
          </a:p>
        </p:txBody>
      </p:sp>
      <p:sp>
        <p:nvSpPr>
          <p:cNvPr id="31" name="Text 29"/>
          <p:cNvSpPr/>
          <p:nvPr/>
        </p:nvSpPr>
        <p:spPr>
          <a:xfrm>
            <a:off x="685800" y="5806440"/>
            <a:ext cx="10835640" cy="310896"/>
          </a:xfrm>
          <a:prstGeom prst="rect">
            <a:avLst/>
          </a:prstGeom>
          <a:noFill/>
          <a:ln/>
        </p:spPr>
        <p:txBody>
          <a:bodyPr wrap="square" lIns="0" tIns="0" rIns="0" bIns="0" rtlCol="0" anchor="ctr"/>
          <a:lstStyle/>
          <a:p>
            <a:pPr marL="0" indent="0" algn="ctr">
              <a:buNone/>
            </a:pPr>
            <a:r>
              <a:rPr lang="en-US" sz="1010" b="1" dirty="0">
                <a:solidFill>
                  <a:srgbClr val="FFFFFF"/>
                </a:solidFill>
              </a:rPr>
              <a:t>The reviewed studies use different models, features, metrics, and validation settings; therefore, direct numerical ranking would be misleading.</a:t>
            </a:r>
            <a:endParaRPr lang="en-US" sz="10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16</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Qualitative Comparison of PLA Method Families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Qualitative comparison only - methods are not directly ranked by accuracy</a:t>
            </a:r>
            <a:endParaRPr lang="en-US" sz="1050" dirty="0"/>
          </a:p>
        </p:txBody>
      </p:sp>
      <p:sp>
        <p:nvSpPr>
          <p:cNvPr id="18" name="Shape 16"/>
          <p:cNvSpPr/>
          <p:nvPr/>
        </p:nvSpPr>
        <p:spPr>
          <a:xfrm>
            <a:off x="320040" y="1170432"/>
            <a:ext cx="2423160" cy="347472"/>
          </a:xfrm>
          <a:prstGeom prst="rect">
            <a:avLst/>
          </a:prstGeom>
          <a:solidFill>
            <a:srgbClr val="00A7B5"/>
          </a:solidFill>
          <a:ln w="6350">
            <a:solidFill>
              <a:srgbClr val="06172A"/>
            </a:solidFill>
            <a:prstDash val="solid"/>
          </a:ln>
        </p:spPr>
        <p:txBody>
          <a:bodyPr/>
          <a:lstStyle/>
          <a:p>
            <a:endParaRPr lang="en-US"/>
          </a:p>
        </p:txBody>
      </p:sp>
      <p:sp>
        <p:nvSpPr>
          <p:cNvPr id="19" name="Text 17"/>
          <p:cNvSpPr/>
          <p:nvPr/>
        </p:nvSpPr>
        <p:spPr>
          <a:xfrm>
            <a:off x="356616" y="1252728"/>
            <a:ext cx="2350008" cy="146304"/>
          </a:xfrm>
          <a:prstGeom prst="rect">
            <a:avLst/>
          </a:prstGeom>
          <a:noFill/>
          <a:ln/>
        </p:spPr>
        <p:txBody>
          <a:bodyPr wrap="square" lIns="0" tIns="0" rIns="0" bIns="0" rtlCol="0" anchor="ctr">
            <a:normAutofit/>
          </a:bodyPr>
          <a:lstStyle/>
          <a:p>
            <a:pPr marL="0" indent="0" algn="l">
              <a:buNone/>
            </a:pPr>
            <a:r>
              <a:rPr lang="en-US" sz="770" b="1" dirty="0">
                <a:solidFill>
                  <a:srgbClr val="FFFFFF"/>
                </a:solidFill>
              </a:rPr>
              <a:t>Method Family</a:t>
            </a:r>
            <a:endParaRPr lang="en-US" sz="770" dirty="0"/>
          </a:p>
        </p:txBody>
      </p:sp>
      <p:sp>
        <p:nvSpPr>
          <p:cNvPr id="20" name="Shape 18"/>
          <p:cNvSpPr/>
          <p:nvPr/>
        </p:nvSpPr>
        <p:spPr>
          <a:xfrm>
            <a:off x="2743200" y="1170432"/>
            <a:ext cx="1051560" cy="347472"/>
          </a:xfrm>
          <a:prstGeom prst="rect">
            <a:avLst/>
          </a:prstGeom>
          <a:solidFill>
            <a:srgbClr val="00A7B5"/>
          </a:solidFill>
          <a:ln w="6350">
            <a:solidFill>
              <a:srgbClr val="06172A"/>
            </a:solidFill>
            <a:prstDash val="solid"/>
          </a:ln>
        </p:spPr>
        <p:txBody>
          <a:bodyPr/>
          <a:lstStyle/>
          <a:p>
            <a:endParaRPr lang="en-US"/>
          </a:p>
        </p:txBody>
      </p:sp>
      <p:sp>
        <p:nvSpPr>
          <p:cNvPr id="21" name="Text 19"/>
          <p:cNvSpPr/>
          <p:nvPr/>
        </p:nvSpPr>
        <p:spPr>
          <a:xfrm>
            <a:off x="2779776" y="1252728"/>
            <a:ext cx="978408" cy="146304"/>
          </a:xfrm>
          <a:prstGeom prst="rect">
            <a:avLst/>
          </a:prstGeom>
          <a:noFill/>
          <a:ln/>
        </p:spPr>
        <p:txBody>
          <a:bodyPr wrap="square" lIns="0" tIns="0" rIns="0" bIns="0" rtlCol="0" anchor="ctr">
            <a:normAutofit/>
          </a:bodyPr>
          <a:lstStyle/>
          <a:p>
            <a:pPr marL="0" indent="0" algn="ctr">
              <a:buNone/>
            </a:pPr>
            <a:r>
              <a:rPr lang="en-US" sz="770" b="1" dirty="0">
                <a:solidFill>
                  <a:srgbClr val="FFFFFF"/>
                </a:solidFill>
              </a:rPr>
              <a:t>Adaptability</a:t>
            </a:r>
            <a:endParaRPr lang="en-US" sz="770" dirty="0"/>
          </a:p>
        </p:txBody>
      </p:sp>
      <p:sp>
        <p:nvSpPr>
          <p:cNvPr id="22" name="Shape 20"/>
          <p:cNvSpPr/>
          <p:nvPr/>
        </p:nvSpPr>
        <p:spPr>
          <a:xfrm>
            <a:off x="3794760" y="1170432"/>
            <a:ext cx="1444752" cy="347472"/>
          </a:xfrm>
          <a:prstGeom prst="rect">
            <a:avLst/>
          </a:prstGeom>
          <a:solidFill>
            <a:srgbClr val="00A7B5"/>
          </a:solidFill>
          <a:ln w="6350">
            <a:solidFill>
              <a:srgbClr val="06172A"/>
            </a:solidFill>
            <a:prstDash val="solid"/>
          </a:ln>
        </p:spPr>
        <p:txBody>
          <a:bodyPr/>
          <a:lstStyle/>
          <a:p>
            <a:endParaRPr lang="en-US"/>
          </a:p>
        </p:txBody>
      </p:sp>
      <p:sp>
        <p:nvSpPr>
          <p:cNvPr id="23" name="Text 21"/>
          <p:cNvSpPr/>
          <p:nvPr/>
        </p:nvSpPr>
        <p:spPr>
          <a:xfrm>
            <a:off x="3831336" y="1252728"/>
            <a:ext cx="1371600" cy="146304"/>
          </a:xfrm>
          <a:prstGeom prst="rect">
            <a:avLst/>
          </a:prstGeom>
          <a:noFill/>
          <a:ln/>
        </p:spPr>
        <p:txBody>
          <a:bodyPr wrap="square" lIns="0" tIns="0" rIns="0" bIns="0" rtlCol="0" anchor="ctr">
            <a:normAutofit/>
          </a:bodyPr>
          <a:lstStyle/>
          <a:p>
            <a:pPr marL="0" indent="0" algn="ctr">
              <a:buNone/>
            </a:pPr>
            <a:r>
              <a:rPr lang="en-US" sz="770" b="1" dirty="0">
                <a:solidFill>
                  <a:srgbClr val="FFFFFF"/>
                </a:solidFill>
              </a:rPr>
              <a:t>Energy / Computation</a:t>
            </a:r>
            <a:endParaRPr lang="en-US" sz="770" dirty="0"/>
          </a:p>
        </p:txBody>
      </p:sp>
      <p:sp>
        <p:nvSpPr>
          <p:cNvPr id="24" name="Shape 22"/>
          <p:cNvSpPr/>
          <p:nvPr/>
        </p:nvSpPr>
        <p:spPr>
          <a:xfrm>
            <a:off x="5239512" y="1170432"/>
            <a:ext cx="1143000" cy="347472"/>
          </a:xfrm>
          <a:prstGeom prst="rect">
            <a:avLst/>
          </a:prstGeom>
          <a:solidFill>
            <a:srgbClr val="00A7B5"/>
          </a:solidFill>
          <a:ln w="6350">
            <a:solidFill>
              <a:srgbClr val="06172A"/>
            </a:solidFill>
            <a:prstDash val="solid"/>
          </a:ln>
        </p:spPr>
        <p:txBody>
          <a:bodyPr/>
          <a:lstStyle/>
          <a:p>
            <a:endParaRPr lang="en-US"/>
          </a:p>
        </p:txBody>
      </p:sp>
      <p:sp>
        <p:nvSpPr>
          <p:cNvPr id="25" name="Text 23"/>
          <p:cNvSpPr/>
          <p:nvPr/>
        </p:nvSpPr>
        <p:spPr>
          <a:xfrm>
            <a:off x="5276088" y="1252728"/>
            <a:ext cx="1069848" cy="146304"/>
          </a:xfrm>
          <a:prstGeom prst="rect">
            <a:avLst/>
          </a:prstGeom>
          <a:noFill/>
          <a:ln/>
        </p:spPr>
        <p:txBody>
          <a:bodyPr wrap="square" lIns="0" tIns="0" rIns="0" bIns="0" rtlCol="0" anchor="ctr">
            <a:normAutofit/>
          </a:bodyPr>
          <a:lstStyle/>
          <a:p>
            <a:pPr marL="0" indent="0" algn="ctr">
              <a:buNone/>
            </a:pPr>
            <a:r>
              <a:rPr lang="en-US" sz="770" b="1" dirty="0">
                <a:solidFill>
                  <a:srgbClr val="FFFFFF"/>
                </a:solidFill>
              </a:rPr>
              <a:t>Mobility</a:t>
            </a:r>
            <a:endParaRPr lang="en-US" sz="770" dirty="0"/>
          </a:p>
        </p:txBody>
      </p:sp>
      <p:sp>
        <p:nvSpPr>
          <p:cNvPr id="26" name="Shape 24"/>
          <p:cNvSpPr/>
          <p:nvPr/>
        </p:nvSpPr>
        <p:spPr>
          <a:xfrm>
            <a:off x="6382512" y="1170432"/>
            <a:ext cx="6400800" cy="347472"/>
          </a:xfrm>
          <a:prstGeom prst="rect">
            <a:avLst/>
          </a:prstGeom>
          <a:solidFill>
            <a:srgbClr val="00A7B5"/>
          </a:solidFill>
          <a:ln w="6350">
            <a:solidFill>
              <a:srgbClr val="06172A"/>
            </a:solidFill>
            <a:prstDash val="solid"/>
          </a:ln>
        </p:spPr>
        <p:txBody>
          <a:bodyPr/>
          <a:lstStyle/>
          <a:p>
            <a:endParaRPr lang="en-US"/>
          </a:p>
        </p:txBody>
      </p:sp>
      <p:sp>
        <p:nvSpPr>
          <p:cNvPr id="27" name="Text 25"/>
          <p:cNvSpPr/>
          <p:nvPr/>
        </p:nvSpPr>
        <p:spPr>
          <a:xfrm>
            <a:off x="6419088" y="1252728"/>
            <a:ext cx="6327648" cy="146304"/>
          </a:xfrm>
          <a:prstGeom prst="rect">
            <a:avLst/>
          </a:prstGeom>
          <a:noFill/>
          <a:ln/>
        </p:spPr>
        <p:txBody>
          <a:bodyPr wrap="square" lIns="0" tIns="0" rIns="0" bIns="0" rtlCol="0" anchor="ctr">
            <a:normAutofit/>
          </a:bodyPr>
          <a:lstStyle/>
          <a:p>
            <a:pPr marL="0" indent="0" algn="ctr">
              <a:buNone/>
            </a:pPr>
            <a:r>
              <a:rPr lang="en-US" sz="770" b="1" dirty="0">
                <a:solidFill>
                  <a:srgbClr val="FFFFFF"/>
                </a:solidFill>
              </a:rPr>
              <a:t>Deployment Concern</a:t>
            </a:r>
            <a:endParaRPr lang="en-US" sz="770" dirty="0"/>
          </a:p>
        </p:txBody>
      </p:sp>
      <p:sp>
        <p:nvSpPr>
          <p:cNvPr id="28" name="Shape 26"/>
          <p:cNvSpPr/>
          <p:nvPr/>
        </p:nvSpPr>
        <p:spPr>
          <a:xfrm>
            <a:off x="320040" y="1517904"/>
            <a:ext cx="24231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29" name="Text 27"/>
          <p:cNvSpPr/>
          <p:nvPr/>
        </p:nvSpPr>
        <p:spPr>
          <a:xfrm>
            <a:off x="393192" y="1591056"/>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RL/DRL-based PLA</a:t>
            </a:r>
            <a:endParaRPr lang="en-US" sz="760" dirty="0"/>
          </a:p>
        </p:txBody>
      </p:sp>
      <p:sp>
        <p:nvSpPr>
          <p:cNvPr id="30" name="Text 28"/>
          <p:cNvSpPr/>
          <p:nvPr/>
        </p:nvSpPr>
        <p:spPr>
          <a:xfrm>
            <a:off x="393192" y="1801368"/>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Xiao et al. [4] — RL/DRL PHY-layer authentication</a:t>
            </a:r>
            <a:endParaRPr lang="en-US" sz="560" dirty="0"/>
          </a:p>
        </p:txBody>
      </p:sp>
      <p:sp>
        <p:nvSpPr>
          <p:cNvPr id="31" name="Shape 29"/>
          <p:cNvSpPr/>
          <p:nvPr/>
        </p:nvSpPr>
        <p:spPr>
          <a:xfrm>
            <a:off x="2743200" y="1517904"/>
            <a:ext cx="10515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32" name="Shape 30"/>
          <p:cNvSpPr/>
          <p:nvPr/>
        </p:nvSpPr>
        <p:spPr>
          <a:xfrm>
            <a:off x="2889504" y="1700784"/>
            <a:ext cx="75895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33" name="Text 31"/>
          <p:cNvSpPr/>
          <p:nvPr/>
        </p:nvSpPr>
        <p:spPr>
          <a:xfrm>
            <a:off x="2889504" y="1732788"/>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34" name="Shape 32"/>
          <p:cNvSpPr/>
          <p:nvPr/>
        </p:nvSpPr>
        <p:spPr>
          <a:xfrm>
            <a:off x="3794760" y="1517904"/>
            <a:ext cx="1444752"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35" name="Shape 33"/>
          <p:cNvSpPr/>
          <p:nvPr/>
        </p:nvSpPr>
        <p:spPr>
          <a:xfrm>
            <a:off x="3941064" y="1700784"/>
            <a:ext cx="1152144"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36" name="Text 34"/>
          <p:cNvSpPr/>
          <p:nvPr/>
        </p:nvSpPr>
        <p:spPr>
          <a:xfrm>
            <a:off x="3941064" y="1732788"/>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37" name="Shape 35"/>
          <p:cNvSpPr/>
          <p:nvPr/>
        </p:nvSpPr>
        <p:spPr>
          <a:xfrm>
            <a:off x="5239512" y="1517904"/>
            <a:ext cx="11430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38" name="Shape 36"/>
          <p:cNvSpPr/>
          <p:nvPr/>
        </p:nvSpPr>
        <p:spPr>
          <a:xfrm>
            <a:off x="5385816" y="1700784"/>
            <a:ext cx="85039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39" name="Text 37"/>
          <p:cNvSpPr/>
          <p:nvPr/>
        </p:nvSpPr>
        <p:spPr>
          <a:xfrm>
            <a:off x="5385816" y="1732788"/>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40" name="Shape 38"/>
          <p:cNvSpPr/>
          <p:nvPr/>
        </p:nvSpPr>
        <p:spPr>
          <a:xfrm>
            <a:off x="6382512" y="1517904"/>
            <a:ext cx="64008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41" name="Text 39"/>
          <p:cNvSpPr/>
          <p:nvPr/>
        </p:nvSpPr>
        <p:spPr>
          <a:xfrm>
            <a:off x="6455664" y="1627632"/>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Adaptive but computationally demanding</a:t>
            </a:r>
            <a:endParaRPr lang="en-US" sz="710" dirty="0"/>
          </a:p>
        </p:txBody>
      </p:sp>
      <p:sp>
        <p:nvSpPr>
          <p:cNvPr id="42" name="Shape 40"/>
          <p:cNvSpPr/>
          <p:nvPr/>
        </p:nvSpPr>
        <p:spPr>
          <a:xfrm>
            <a:off x="320040" y="2098548"/>
            <a:ext cx="24231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43" name="Text 41"/>
          <p:cNvSpPr/>
          <p:nvPr/>
        </p:nvSpPr>
        <p:spPr>
          <a:xfrm>
            <a:off x="393192" y="2171700"/>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SVM without adversary data</a:t>
            </a:r>
            <a:endParaRPr lang="en-US" sz="760" dirty="0"/>
          </a:p>
        </p:txBody>
      </p:sp>
      <p:sp>
        <p:nvSpPr>
          <p:cNvPr id="44" name="Text 42"/>
          <p:cNvSpPr/>
          <p:nvPr/>
        </p:nvSpPr>
        <p:spPr>
          <a:xfrm>
            <a:off x="393192" y="2382012"/>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Zhao et al. [1] — PLA without adversary training data</a:t>
            </a:r>
            <a:endParaRPr lang="en-US" sz="560" dirty="0"/>
          </a:p>
        </p:txBody>
      </p:sp>
      <p:sp>
        <p:nvSpPr>
          <p:cNvPr id="45" name="Shape 43"/>
          <p:cNvSpPr/>
          <p:nvPr/>
        </p:nvSpPr>
        <p:spPr>
          <a:xfrm>
            <a:off x="2743200" y="2098548"/>
            <a:ext cx="10515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46" name="Shape 44"/>
          <p:cNvSpPr/>
          <p:nvPr/>
        </p:nvSpPr>
        <p:spPr>
          <a:xfrm>
            <a:off x="2889504" y="2281428"/>
            <a:ext cx="75895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47" name="Text 45"/>
          <p:cNvSpPr/>
          <p:nvPr/>
        </p:nvSpPr>
        <p:spPr>
          <a:xfrm>
            <a:off x="2889504" y="2313432"/>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48" name="Shape 46"/>
          <p:cNvSpPr/>
          <p:nvPr/>
        </p:nvSpPr>
        <p:spPr>
          <a:xfrm>
            <a:off x="3794760" y="2098548"/>
            <a:ext cx="1444752"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49" name="Shape 47"/>
          <p:cNvSpPr/>
          <p:nvPr/>
        </p:nvSpPr>
        <p:spPr>
          <a:xfrm>
            <a:off x="3941064" y="2281428"/>
            <a:ext cx="1152144" cy="246888"/>
          </a:xfrm>
          <a:prstGeom prst="roundRect">
            <a:avLst>
              <a:gd name="adj" fmla="val 22222"/>
            </a:avLst>
          </a:prstGeom>
          <a:solidFill>
            <a:srgbClr val="355B7A"/>
          </a:solidFill>
          <a:ln w="12700">
            <a:solidFill>
              <a:srgbClr val="355B7A">
                <a:alpha val="0"/>
              </a:srgbClr>
            </a:solidFill>
            <a:prstDash val="solid"/>
          </a:ln>
        </p:spPr>
        <p:txBody>
          <a:bodyPr/>
          <a:lstStyle/>
          <a:p>
            <a:endParaRPr lang="en-US"/>
          </a:p>
        </p:txBody>
      </p:sp>
      <p:sp>
        <p:nvSpPr>
          <p:cNvPr id="50" name="Text 48"/>
          <p:cNvSpPr/>
          <p:nvPr/>
        </p:nvSpPr>
        <p:spPr>
          <a:xfrm>
            <a:off x="3941064" y="2313432"/>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Low–Medium</a:t>
            </a:r>
            <a:endParaRPr lang="en-US" sz="680" dirty="0"/>
          </a:p>
        </p:txBody>
      </p:sp>
      <p:sp>
        <p:nvSpPr>
          <p:cNvPr id="51" name="Shape 49"/>
          <p:cNvSpPr/>
          <p:nvPr/>
        </p:nvSpPr>
        <p:spPr>
          <a:xfrm>
            <a:off x="5239512" y="2098548"/>
            <a:ext cx="11430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52" name="Shape 50"/>
          <p:cNvSpPr/>
          <p:nvPr/>
        </p:nvSpPr>
        <p:spPr>
          <a:xfrm>
            <a:off x="5385816" y="2281428"/>
            <a:ext cx="850392" cy="246888"/>
          </a:xfrm>
          <a:prstGeom prst="roundRect">
            <a:avLst>
              <a:gd name="adj" fmla="val 22222"/>
            </a:avLst>
          </a:prstGeom>
          <a:solidFill>
            <a:srgbClr val="355B7A"/>
          </a:solidFill>
          <a:ln w="12700">
            <a:solidFill>
              <a:srgbClr val="355B7A">
                <a:alpha val="0"/>
              </a:srgbClr>
            </a:solidFill>
            <a:prstDash val="solid"/>
          </a:ln>
        </p:spPr>
        <p:txBody>
          <a:bodyPr/>
          <a:lstStyle/>
          <a:p>
            <a:endParaRPr lang="en-US"/>
          </a:p>
        </p:txBody>
      </p:sp>
      <p:sp>
        <p:nvSpPr>
          <p:cNvPr id="53" name="Text 51"/>
          <p:cNvSpPr/>
          <p:nvPr/>
        </p:nvSpPr>
        <p:spPr>
          <a:xfrm>
            <a:off x="5385816" y="2313432"/>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Low–Medium</a:t>
            </a:r>
            <a:endParaRPr lang="en-US" sz="680" dirty="0"/>
          </a:p>
        </p:txBody>
      </p:sp>
      <p:sp>
        <p:nvSpPr>
          <p:cNvPr id="54" name="Shape 52"/>
          <p:cNvSpPr/>
          <p:nvPr/>
        </p:nvSpPr>
        <p:spPr>
          <a:xfrm>
            <a:off x="6382512" y="2098548"/>
            <a:ext cx="64008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55" name="Text 53"/>
          <p:cNvSpPr/>
          <p:nvPr/>
        </p:nvSpPr>
        <p:spPr>
          <a:xfrm>
            <a:off x="6455664" y="2208276"/>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Practical when adversary samples are unavailable; depends on reliable CIR records</a:t>
            </a:r>
            <a:endParaRPr lang="en-US" sz="710" dirty="0"/>
          </a:p>
        </p:txBody>
      </p:sp>
      <p:sp>
        <p:nvSpPr>
          <p:cNvPr id="56" name="Shape 54"/>
          <p:cNvSpPr/>
          <p:nvPr/>
        </p:nvSpPr>
        <p:spPr>
          <a:xfrm>
            <a:off x="320040" y="2679192"/>
            <a:ext cx="24231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57" name="Text 55"/>
          <p:cNvSpPr/>
          <p:nvPr/>
        </p:nvSpPr>
        <p:spPr>
          <a:xfrm>
            <a:off x="393192" y="2752344"/>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RNN/LSTM mobile PLA</a:t>
            </a:r>
            <a:endParaRPr lang="en-US" sz="760" dirty="0"/>
          </a:p>
        </p:txBody>
      </p:sp>
      <p:sp>
        <p:nvSpPr>
          <p:cNvPr id="58" name="Text 56"/>
          <p:cNvSpPr/>
          <p:nvPr/>
        </p:nvSpPr>
        <p:spPr>
          <a:xfrm>
            <a:off x="393192" y="2962656"/>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Ardizzon et al. [5] — RNN/LSTM mobile PLA</a:t>
            </a:r>
            <a:endParaRPr lang="en-US" sz="560" dirty="0"/>
          </a:p>
        </p:txBody>
      </p:sp>
      <p:sp>
        <p:nvSpPr>
          <p:cNvPr id="59" name="Shape 57"/>
          <p:cNvSpPr/>
          <p:nvPr/>
        </p:nvSpPr>
        <p:spPr>
          <a:xfrm>
            <a:off x="2743200" y="2679192"/>
            <a:ext cx="10515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60" name="Shape 58"/>
          <p:cNvSpPr/>
          <p:nvPr/>
        </p:nvSpPr>
        <p:spPr>
          <a:xfrm>
            <a:off x="2889504" y="2862072"/>
            <a:ext cx="75895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61" name="Text 59"/>
          <p:cNvSpPr/>
          <p:nvPr/>
        </p:nvSpPr>
        <p:spPr>
          <a:xfrm>
            <a:off x="2889504" y="2894076"/>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62" name="Shape 60"/>
          <p:cNvSpPr/>
          <p:nvPr/>
        </p:nvSpPr>
        <p:spPr>
          <a:xfrm>
            <a:off x="3794760" y="2679192"/>
            <a:ext cx="1444752"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63" name="Shape 61"/>
          <p:cNvSpPr/>
          <p:nvPr/>
        </p:nvSpPr>
        <p:spPr>
          <a:xfrm>
            <a:off x="3941064" y="2862072"/>
            <a:ext cx="1152144"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64" name="Text 62"/>
          <p:cNvSpPr/>
          <p:nvPr/>
        </p:nvSpPr>
        <p:spPr>
          <a:xfrm>
            <a:off x="3941064" y="2894076"/>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65" name="Shape 63"/>
          <p:cNvSpPr/>
          <p:nvPr/>
        </p:nvSpPr>
        <p:spPr>
          <a:xfrm>
            <a:off x="5239512" y="2679192"/>
            <a:ext cx="11430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66" name="Shape 64"/>
          <p:cNvSpPr/>
          <p:nvPr/>
        </p:nvSpPr>
        <p:spPr>
          <a:xfrm>
            <a:off x="5385816" y="2862072"/>
            <a:ext cx="85039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67" name="Text 65"/>
          <p:cNvSpPr/>
          <p:nvPr/>
        </p:nvSpPr>
        <p:spPr>
          <a:xfrm>
            <a:off x="5385816" y="2894076"/>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68" name="Shape 66"/>
          <p:cNvSpPr/>
          <p:nvPr/>
        </p:nvSpPr>
        <p:spPr>
          <a:xfrm>
            <a:off x="6382512" y="2679192"/>
            <a:ext cx="64008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69" name="Text 67"/>
          <p:cNvSpPr/>
          <p:nvPr/>
        </p:nvSpPr>
        <p:spPr>
          <a:xfrm>
            <a:off x="6455664" y="2788920"/>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Strong for mobility but needs training and tuning</a:t>
            </a:r>
            <a:endParaRPr lang="en-US" sz="710" dirty="0"/>
          </a:p>
        </p:txBody>
      </p:sp>
      <p:sp>
        <p:nvSpPr>
          <p:cNvPr id="70" name="Shape 68"/>
          <p:cNvSpPr/>
          <p:nvPr/>
        </p:nvSpPr>
        <p:spPr>
          <a:xfrm>
            <a:off x="320040" y="3259836"/>
            <a:ext cx="24231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71" name="Text 69"/>
          <p:cNvSpPr/>
          <p:nvPr/>
        </p:nvSpPr>
        <p:spPr>
          <a:xfrm>
            <a:off x="393192" y="3332988"/>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CNN/location tracking</a:t>
            </a:r>
            <a:endParaRPr lang="en-US" sz="760" dirty="0"/>
          </a:p>
        </p:txBody>
      </p:sp>
      <p:sp>
        <p:nvSpPr>
          <p:cNvPr id="72" name="Text 70"/>
          <p:cNvSpPr/>
          <p:nvPr/>
        </p:nvSpPr>
        <p:spPr>
          <a:xfrm>
            <a:off x="393192" y="3543300"/>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Ventura et al. [6] — Location-tracking authentication</a:t>
            </a:r>
            <a:endParaRPr lang="en-US" sz="560" dirty="0"/>
          </a:p>
        </p:txBody>
      </p:sp>
      <p:sp>
        <p:nvSpPr>
          <p:cNvPr id="73" name="Shape 71"/>
          <p:cNvSpPr/>
          <p:nvPr/>
        </p:nvSpPr>
        <p:spPr>
          <a:xfrm>
            <a:off x="2743200" y="3259836"/>
            <a:ext cx="10515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74" name="Shape 72"/>
          <p:cNvSpPr/>
          <p:nvPr/>
        </p:nvSpPr>
        <p:spPr>
          <a:xfrm>
            <a:off x="2889504" y="3442716"/>
            <a:ext cx="75895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75" name="Text 73"/>
          <p:cNvSpPr/>
          <p:nvPr/>
        </p:nvSpPr>
        <p:spPr>
          <a:xfrm>
            <a:off x="2889504" y="3474720"/>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76" name="Shape 74"/>
          <p:cNvSpPr/>
          <p:nvPr/>
        </p:nvSpPr>
        <p:spPr>
          <a:xfrm>
            <a:off x="3794760" y="3259836"/>
            <a:ext cx="1444752"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77" name="Shape 75"/>
          <p:cNvSpPr/>
          <p:nvPr/>
        </p:nvSpPr>
        <p:spPr>
          <a:xfrm>
            <a:off x="3941064" y="3442716"/>
            <a:ext cx="1152144"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78" name="Text 76"/>
          <p:cNvSpPr/>
          <p:nvPr/>
        </p:nvSpPr>
        <p:spPr>
          <a:xfrm>
            <a:off x="3941064" y="3474720"/>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79" name="Shape 77"/>
          <p:cNvSpPr/>
          <p:nvPr/>
        </p:nvSpPr>
        <p:spPr>
          <a:xfrm>
            <a:off x="5239512" y="3259836"/>
            <a:ext cx="11430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80" name="Shape 78"/>
          <p:cNvSpPr/>
          <p:nvPr/>
        </p:nvSpPr>
        <p:spPr>
          <a:xfrm>
            <a:off x="5385816" y="3442716"/>
            <a:ext cx="85039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81" name="Text 79"/>
          <p:cNvSpPr/>
          <p:nvPr/>
        </p:nvSpPr>
        <p:spPr>
          <a:xfrm>
            <a:off x="5385816" y="3474720"/>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82" name="Shape 80"/>
          <p:cNvSpPr/>
          <p:nvPr/>
        </p:nvSpPr>
        <p:spPr>
          <a:xfrm>
            <a:off x="6382512" y="3259836"/>
            <a:ext cx="64008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83" name="Text 81"/>
          <p:cNvSpPr/>
          <p:nvPr/>
        </p:nvSpPr>
        <p:spPr>
          <a:xfrm>
            <a:off x="6455664" y="3369564"/>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Promising for mobility but localization-dependent</a:t>
            </a:r>
            <a:endParaRPr lang="en-US" sz="710" dirty="0"/>
          </a:p>
        </p:txBody>
      </p:sp>
      <p:sp>
        <p:nvSpPr>
          <p:cNvPr id="84" name="Shape 82"/>
          <p:cNvSpPr/>
          <p:nvPr/>
        </p:nvSpPr>
        <p:spPr>
          <a:xfrm>
            <a:off x="320040" y="3840480"/>
            <a:ext cx="24231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85" name="Text 83"/>
          <p:cNvSpPr/>
          <p:nvPr/>
        </p:nvSpPr>
        <p:spPr>
          <a:xfrm>
            <a:off x="393192" y="3913632"/>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Cooperative authentication</a:t>
            </a:r>
            <a:endParaRPr lang="en-US" sz="760" dirty="0"/>
          </a:p>
        </p:txBody>
      </p:sp>
      <p:sp>
        <p:nvSpPr>
          <p:cNvPr id="86" name="Text 84"/>
          <p:cNvSpPr/>
          <p:nvPr/>
        </p:nvSpPr>
        <p:spPr>
          <a:xfrm>
            <a:off x="393192" y="4123944"/>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Diamant et al. [7] — Cooperative authentication</a:t>
            </a:r>
            <a:endParaRPr lang="en-US" sz="560" dirty="0"/>
          </a:p>
        </p:txBody>
      </p:sp>
      <p:sp>
        <p:nvSpPr>
          <p:cNvPr id="87" name="Shape 85"/>
          <p:cNvSpPr/>
          <p:nvPr/>
        </p:nvSpPr>
        <p:spPr>
          <a:xfrm>
            <a:off x="2743200" y="3840480"/>
            <a:ext cx="10515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88" name="Shape 86"/>
          <p:cNvSpPr/>
          <p:nvPr/>
        </p:nvSpPr>
        <p:spPr>
          <a:xfrm>
            <a:off x="2889504" y="4023360"/>
            <a:ext cx="75895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89" name="Text 87"/>
          <p:cNvSpPr/>
          <p:nvPr/>
        </p:nvSpPr>
        <p:spPr>
          <a:xfrm>
            <a:off x="2889504" y="4055364"/>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90" name="Shape 88"/>
          <p:cNvSpPr/>
          <p:nvPr/>
        </p:nvSpPr>
        <p:spPr>
          <a:xfrm>
            <a:off x="3794760" y="3840480"/>
            <a:ext cx="1444752"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91" name="Shape 89"/>
          <p:cNvSpPr/>
          <p:nvPr/>
        </p:nvSpPr>
        <p:spPr>
          <a:xfrm>
            <a:off x="3941064" y="4023360"/>
            <a:ext cx="1152144" cy="246888"/>
          </a:xfrm>
          <a:prstGeom prst="roundRect">
            <a:avLst>
              <a:gd name="adj" fmla="val 22222"/>
            </a:avLst>
          </a:prstGeom>
          <a:solidFill>
            <a:srgbClr val="355B7A"/>
          </a:solidFill>
          <a:ln w="12700">
            <a:solidFill>
              <a:srgbClr val="355B7A">
                <a:alpha val="0"/>
              </a:srgbClr>
            </a:solidFill>
            <a:prstDash val="solid"/>
          </a:ln>
        </p:spPr>
        <p:txBody>
          <a:bodyPr/>
          <a:lstStyle/>
          <a:p>
            <a:endParaRPr lang="en-US"/>
          </a:p>
        </p:txBody>
      </p:sp>
      <p:sp>
        <p:nvSpPr>
          <p:cNvPr id="92" name="Text 90"/>
          <p:cNvSpPr/>
          <p:nvPr/>
        </p:nvSpPr>
        <p:spPr>
          <a:xfrm>
            <a:off x="3941064" y="4055364"/>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Medium–High</a:t>
            </a:r>
            <a:endParaRPr lang="en-US" sz="680" dirty="0"/>
          </a:p>
        </p:txBody>
      </p:sp>
      <p:sp>
        <p:nvSpPr>
          <p:cNvPr id="93" name="Shape 91"/>
          <p:cNvSpPr/>
          <p:nvPr/>
        </p:nvSpPr>
        <p:spPr>
          <a:xfrm>
            <a:off x="5239512" y="3840480"/>
            <a:ext cx="11430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94" name="Shape 92"/>
          <p:cNvSpPr/>
          <p:nvPr/>
        </p:nvSpPr>
        <p:spPr>
          <a:xfrm>
            <a:off x="5385816" y="4023360"/>
            <a:ext cx="85039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95" name="Text 93"/>
          <p:cNvSpPr/>
          <p:nvPr/>
        </p:nvSpPr>
        <p:spPr>
          <a:xfrm>
            <a:off x="5385816" y="4055364"/>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96" name="Shape 94"/>
          <p:cNvSpPr/>
          <p:nvPr/>
        </p:nvSpPr>
        <p:spPr>
          <a:xfrm>
            <a:off x="6382512" y="3840480"/>
            <a:ext cx="64008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97" name="Text 95"/>
          <p:cNvSpPr/>
          <p:nvPr/>
        </p:nvSpPr>
        <p:spPr>
          <a:xfrm>
            <a:off x="6455664" y="3950208"/>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Useful where trusted helper nodes are available</a:t>
            </a:r>
            <a:endParaRPr lang="en-US" sz="710" dirty="0"/>
          </a:p>
        </p:txBody>
      </p:sp>
      <p:sp>
        <p:nvSpPr>
          <p:cNvPr id="98" name="Shape 96"/>
          <p:cNvSpPr/>
          <p:nvPr/>
        </p:nvSpPr>
        <p:spPr>
          <a:xfrm>
            <a:off x="320040" y="4421124"/>
            <a:ext cx="24231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99" name="Text 97"/>
          <p:cNvSpPr/>
          <p:nvPr/>
        </p:nvSpPr>
        <p:spPr>
          <a:xfrm>
            <a:off x="393192" y="4494276"/>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Time-reversal PLA</a:t>
            </a:r>
            <a:endParaRPr lang="en-US" sz="760" dirty="0"/>
          </a:p>
        </p:txBody>
      </p:sp>
      <p:sp>
        <p:nvSpPr>
          <p:cNvPr id="100" name="Text 98"/>
          <p:cNvSpPr/>
          <p:nvPr/>
        </p:nvSpPr>
        <p:spPr>
          <a:xfrm>
            <a:off x="393192" y="4704588"/>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Zhao et al. [8] — Time-reversal PLA</a:t>
            </a:r>
            <a:endParaRPr lang="en-US" sz="560" dirty="0"/>
          </a:p>
        </p:txBody>
      </p:sp>
      <p:sp>
        <p:nvSpPr>
          <p:cNvPr id="101" name="Shape 99"/>
          <p:cNvSpPr/>
          <p:nvPr/>
        </p:nvSpPr>
        <p:spPr>
          <a:xfrm>
            <a:off x="2743200" y="4421124"/>
            <a:ext cx="105156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102" name="Shape 100"/>
          <p:cNvSpPr/>
          <p:nvPr/>
        </p:nvSpPr>
        <p:spPr>
          <a:xfrm>
            <a:off x="2889504" y="4604004"/>
            <a:ext cx="75895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103" name="Text 101"/>
          <p:cNvSpPr/>
          <p:nvPr/>
        </p:nvSpPr>
        <p:spPr>
          <a:xfrm>
            <a:off x="2889504" y="4636008"/>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104" name="Shape 102"/>
          <p:cNvSpPr/>
          <p:nvPr/>
        </p:nvSpPr>
        <p:spPr>
          <a:xfrm>
            <a:off x="3794760" y="4421124"/>
            <a:ext cx="1444752"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105" name="Shape 103"/>
          <p:cNvSpPr/>
          <p:nvPr/>
        </p:nvSpPr>
        <p:spPr>
          <a:xfrm>
            <a:off x="3941064" y="4604004"/>
            <a:ext cx="1152144"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106" name="Text 104"/>
          <p:cNvSpPr/>
          <p:nvPr/>
        </p:nvSpPr>
        <p:spPr>
          <a:xfrm>
            <a:off x="3941064" y="4636008"/>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107" name="Shape 105"/>
          <p:cNvSpPr/>
          <p:nvPr/>
        </p:nvSpPr>
        <p:spPr>
          <a:xfrm>
            <a:off x="5239512" y="4421124"/>
            <a:ext cx="11430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108" name="Shape 106"/>
          <p:cNvSpPr/>
          <p:nvPr/>
        </p:nvSpPr>
        <p:spPr>
          <a:xfrm>
            <a:off x="5385816" y="4604004"/>
            <a:ext cx="850392" cy="246888"/>
          </a:xfrm>
          <a:prstGeom prst="roundRect">
            <a:avLst>
              <a:gd name="adj" fmla="val 22222"/>
            </a:avLst>
          </a:prstGeom>
          <a:solidFill>
            <a:srgbClr val="355B7A"/>
          </a:solidFill>
          <a:ln w="12700">
            <a:solidFill>
              <a:srgbClr val="355B7A">
                <a:alpha val="0"/>
              </a:srgbClr>
            </a:solidFill>
            <a:prstDash val="solid"/>
          </a:ln>
        </p:spPr>
        <p:txBody>
          <a:bodyPr/>
          <a:lstStyle/>
          <a:p>
            <a:endParaRPr lang="en-US"/>
          </a:p>
        </p:txBody>
      </p:sp>
      <p:sp>
        <p:nvSpPr>
          <p:cNvPr id="109" name="Text 107"/>
          <p:cNvSpPr/>
          <p:nvPr/>
        </p:nvSpPr>
        <p:spPr>
          <a:xfrm>
            <a:off x="5385816" y="4636008"/>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Low–Medium</a:t>
            </a:r>
            <a:endParaRPr lang="en-US" sz="680" dirty="0"/>
          </a:p>
        </p:txBody>
      </p:sp>
      <p:sp>
        <p:nvSpPr>
          <p:cNvPr id="110" name="Shape 108"/>
          <p:cNvSpPr/>
          <p:nvPr/>
        </p:nvSpPr>
        <p:spPr>
          <a:xfrm>
            <a:off x="6382512" y="4421124"/>
            <a:ext cx="6400800" cy="580644"/>
          </a:xfrm>
          <a:prstGeom prst="rect">
            <a:avLst/>
          </a:prstGeom>
          <a:solidFill>
            <a:srgbClr val="0B243D"/>
          </a:solidFill>
          <a:ln w="4445">
            <a:solidFill>
              <a:srgbClr val="1B5676">
                <a:alpha val="90000"/>
              </a:srgbClr>
            </a:solidFill>
            <a:prstDash val="solid"/>
          </a:ln>
        </p:spPr>
        <p:txBody>
          <a:bodyPr/>
          <a:lstStyle/>
          <a:p>
            <a:endParaRPr lang="en-US"/>
          </a:p>
        </p:txBody>
      </p:sp>
      <p:sp>
        <p:nvSpPr>
          <p:cNvPr id="111" name="Text 109"/>
          <p:cNvSpPr/>
          <p:nvPr/>
        </p:nvSpPr>
        <p:spPr>
          <a:xfrm>
            <a:off x="6455664" y="4530852"/>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Physically grounded but depends on CIR/time-reversal estimation</a:t>
            </a:r>
            <a:endParaRPr lang="en-US" sz="710" dirty="0"/>
          </a:p>
        </p:txBody>
      </p:sp>
      <p:sp>
        <p:nvSpPr>
          <p:cNvPr id="112" name="Shape 110"/>
          <p:cNvSpPr/>
          <p:nvPr/>
        </p:nvSpPr>
        <p:spPr>
          <a:xfrm>
            <a:off x="320040" y="5001768"/>
            <a:ext cx="24231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113" name="Text 111"/>
          <p:cNvSpPr/>
          <p:nvPr/>
        </p:nvSpPr>
        <p:spPr>
          <a:xfrm>
            <a:off x="393192" y="5074920"/>
            <a:ext cx="2286000" cy="164592"/>
          </a:xfrm>
          <a:prstGeom prst="rect">
            <a:avLst/>
          </a:prstGeom>
          <a:noFill/>
          <a:ln/>
        </p:spPr>
        <p:txBody>
          <a:bodyPr wrap="square" lIns="0" tIns="0" rIns="0" bIns="0" rtlCol="0" anchor="ctr">
            <a:normAutofit/>
          </a:bodyPr>
          <a:lstStyle/>
          <a:p>
            <a:pPr marL="0" indent="0">
              <a:buNone/>
            </a:pPr>
            <a:r>
              <a:rPr lang="en-US" sz="760" b="1" dirty="0">
                <a:solidFill>
                  <a:srgbClr val="FFFFFF"/>
                </a:solidFill>
              </a:rPr>
              <a:t>Database/differential CIR PLA</a:t>
            </a:r>
            <a:endParaRPr lang="en-US" sz="760" dirty="0"/>
          </a:p>
        </p:txBody>
      </p:sp>
      <p:sp>
        <p:nvSpPr>
          <p:cNvPr id="114" name="Text 112"/>
          <p:cNvSpPr/>
          <p:nvPr/>
        </p:nvSpPr>
        <p:spPr>
          <a:xfrm>
            <a:off x="393192" y="5285232"/>
            <a:ext cx="2286000" cy="201168"/>
          </a:xfrm>
          <a:prstGeom prst="rect">
            <a:avLst/>
          </a:prstGeom>
          <a:noFill/>
          <a:ln/>
        </p:spPr>
        <p:txBody>
          <a:bodyPr wrap="square" lIns="0" tIns="0" rIns="0" bIns="0" rtlCol="0" anchor="ctr">
            <a:normAutofit/>
          </a:bodyPr>
          <a:lstStyle/>
          <a:p>
            <a:pPr marL="0" indent="0">
              <a:buNone/>
            </a:pPr>
            <a:r>
              <a:rPr lang="en-US" sz="560" dirty="0">
                <a:solidFill>
                  <a:srgbClr val="B9F7FF"/>
                </a:solidFill>
              </a:rPr>
              <a:t>Shi et al. [2] — Database-based PLA; Zhao et al. [3] — Differential CIR feature-based PLA</a:t>
            </a:r>
            <a:endParaRPr lang="en-US" sz="560" dirty="0"/>
          </a:p>
        </p:txBody>
      </p:sp>
      <p:sp>
        <p:nvSpPr>
          <p:cNvPr id="115" name="Shape 113"/>
          <p:cNvSpPr/>
          <p:nvPr/>
        </p:nvSpPr>
        <p:spPr>
          <a:xfrm>
            <a:off x="2743200" y="5001768"/>
            <a:ext cx="105156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116" name="Shape 114"/>
          <p:cNvSpPr/>
          <p:nvPr/>
        </p:nvSpPr>
        <p:spPr>
          <a:xfrm>
            <a:off x="2889504" y="5184648"/>
            <a:ext cx="758952" cy="246888"/>
          </a:xfrm>
          <a:prstGeom prst="roundRect">
            <a:avLst>
              <a:gd name="adj" fmla="val 22222"/>
            </a:avLst>
          </a:prstGeom>
          <a:solidFill>
            <a:srgbClr val="00A7B5"/>
          </a:solidFill>
          <a:ln w="12700">
            <a:solidFill>
              <a:srgbClr val="00A7B5">
                <a:alpha val="0"/>
              </a:srgbClr>
            </a:solidFill>
            <a:prstDash val="solid"/>
          </a:ln>
        </p:spPr>
        <p:txBody>
          <a:bodyPr/>
          <a:lstStyle/>
          <a:p>
            <a:endParaRPr lang="en-US"/>
          </a:p>
        </p:txBody>
      </p:sp>
      <p:sp>
        <p:nvSpPr>
          <p:cNvPr id="117" name="Text 115"/>
          <p:cNvSpPr/>
          <p:nvPr/>
        </p:nvSpPr>
        <p:spPr>
          <a:xfrm>
            <a:off x="2889504" y="5216652"/>
            <a:ext cx="75895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High</a:t>
            </a:r>
            <a:endParaRPr lang="en-US" sz="680" dirty="0"/>
          </a:p>
        </p:txBody>
      </p:sp>
      <p:sp>
        <p:nvSpPr>
          <p:cNvPr id="118" name="Shape 116"/>
          <p:cNvSpPr/>
          <p:nvPr/>
        </p:nvSpPr>
        <p:spPr>
          <a:xfrm>
            <a:off x="3794760" y="5001768"/>
            <a:ext cx="1444752"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119" name="Shape 117"/>
          <p:cNvSpPr/>
          <p:nvPr/>
        </p:nvSpPr>
        <p:spPr>
          <a:xfrm>
            <a:off x="3941064" y="5184648"/>
            <a:ext cx="1152144"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120" name="Text 118"/>
          <p:cNvSpPr/>
          <p:nvPr/>
        </p:nvSpPr>
        <p:spPr>
          <a:xfrm>
            <a:off x="3941064" y="5216652"/>
            <a:ext cx="1152144"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121" name="Shape 119"/>
          <p:cNvSpPr/>
          <p:nvPr/>
        </p:nvSpPr>
        <p:spPr>
          <a:xfrm>
            <a:off x="5239512" y="5001768"/>
            <a:ext cx="11430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122" name="Shape 120"/>
          <p:cNvSpPr/>
          <p:nvPr/>
        </p:nvSpPr>
        <p:spPr>
          <a:xfrm>
            <a:off x="5385816" y="5184648"/>
            <a:ext cx="850392" cy="246888"/>
          </a:xfrm>
          <a:prstGeom prst="roundRect">
            <a:avLst>
              <a:gd name="adj" fmla="val 22222"/>
            </a:avLst>
          </a:prstGeom>
          <a:solidFill>
            <a:srgbClr val="2F6F95"/>
          </a:solidFill>
          <a:ln w="12700">
            <a:solidFill>
              <a:srgbClr val="2F6F95">
                <a:alpha val="0"/>
              </a:srgbClr>
            </a:solidFill>
            <a:prstDash val="solid"/>
          </a:ln>
        </p:spPr>
        <p:txBody>
          <a:bodyPr/>
          <a:lstStyle/>
          <a:p>
            <a:endParaRPr lang="en-US"/>
          </a:p>
        </p:txBody>
      </p:sp>
      <p:sp>
        <p:nvSpPr>
          <p:cNvPr id="123" name="Text 121"/>
          <p:cNvSpPr/>
          <p:nvPr/>
        </p:nvSpPr>
        <p:spPr>
          <a:xfrm>
            <a:off x="5385816" y="5216652"/>
            <a:ext cx="850392" cy="155448"/>
          </a:xfrm>
          <a:prstGeom prst="rect">
            <a:avLst/>
          </a:prstGeom>
          <a:noFill/>
          <a:ln/>
        </p:spPr>
        <p:txBody>
          <a:bodyPr wrap="square" lIns="0" tIns="0" rIns="0" bIns="0" rtlCol="0" anchor="ctr"/>
          <a:lstStyle/>
          <a:p>
            <a:pPr marL="0" indent="0" algn="ctr">
              <a:buNone/>
            </a:pPr>
            <a:r>
              <a:rPr lang="en-US" sz="680" b="1" dirty="0">
                <a:solidFill>
                  <a:srgbClr val="FFFFFF"/>
                </a:solidFill>
                <a:latin typeface="Aptos" pitchFamily="34" charset="0"/>
                <a:ea typeface="Aptos" pitchFamily="34" charset="-122"/>
                <a:cs typeface="Aptos" pitchFamily="34" charset="-120"/>
              </a:rPr>
              <a:t>Medium</a:t>
            </a:r>
            <a:endParaRPr lang="en-US" sz="680" dirty="0"/>
          </a:p>
        </p:txBody>
      </p:sp>
      <p:sp>
        <p:nvSpPr>
          <p:cNvPr id="124" name="Shape 122"/>
          <p:cNvSpPr/>
          <p:nvPr/>
        </p:nvSpPr>
        <p:spPr>
          <a:xfrm>
            <a:off x="6382512" y="5001768"/>
            <a:ext cx="6400800" cy="580644"/>
          </a:xfrm>
          <a:prstGeom prst="rect">
            <a:avLst/>
          </a:prstGeom>
          <a:solidFill>
            <a:srgbClr val="0E2A45"/>
          </a:solidFill>
          <a:ln w="4445">
            <a:solidFill>
              <a:srgbClr val="1B5676">
                <a:alpha val="90000"/>
              </a:srgbClr>
            </a:solidFill>
            <a:prstDash val="solid"/>
          </a:ln>
        </p:spPr>
        <p:txBody>
          <a:bodyPr/>
          <a:lstStyle/>
          <a:p>
            <a:endParaRPr lang="en-US"/>
          </a:p>
        </p:txBody>
      </p:sp>
      <p:sp>
        <p:nvSpPr>
          <p:cNvPr id="125" name="Text 123"/>
          <p:cNvSpPr/>
          <p:nvPr/>
        </p:nvSpPr>
        <p:spPr>
          <a:xfrm>
            <a:off x="6455664" y="5111496"/>
            <a:ext cx="6254496" cy="347472"/>
          </a:xfrm>
          <a:prstGeom prst="rect">
            <a:avLst/>
          </a:prstGeom>
          <a:noFill/>
          <a:ln/>
        </p:spPr>
        <p:txBody>
          <a:bodyPr wrap="square" lIns="0" tIns="0" rIns="0" bIns="0" rtlCol="0" anchor="ctr">
            <a:normAutofit/>
          </a:bodyPr>
          <a:lstStyle/>
          <a:p>
            <a:pPr marL="0" indent="0">
              <a:buNone/>
            </a:pPr>
            <a:r>
              <a:rPr lang="en-US" sz="710" dirty="0">
                <a:solidFill>
                  <a:srgbClr val="EAF7FB"/>
                </a:solidFill>
              </a:rPr>
              <a:t>Suitable for dynamic channels but needs database maintenance</a:t>
            </a:r>
            <a:endParaRPr lang="en-US" sz="710" dirty="0"/>
          </a:p>
        </p:txBody>
      </p:sp>
      <p:sp>
        <p:nvSpPr>
          <p:cNvPr id="126" name="Text 124"/>
          <p:cNvSpPr/>
          <p:nvPr/>
        </p:nvSpPr>
        <p:spPr>
          <a:xfrm>
            <a:off x="411480" y="5989320"/>
            <a:ext cx="11064240" cy="228600"/>
          </a:xfrm>
          <a:prstGeom prst="rect">
            <a:avLst/>
          </a:prstGeom>
          <a:noFill/>
          <a:ln/>
        </p:spPr>
        <p:txBody>
          <a:bodyPr wrap="square" lIns="0" tIns="0" rIns="0" bIns="0" rtlCol="0" anchor="ctr"/>
          <a:lstStyle/>
          <a:p>
            <a:pPr marL="0" indent="0" algn="ctr">
              <a:buNone/>
            </a:pPr>
            <a:r>
              <a:rPr lang="en-US" sz="840" b="1" dirty="0">
                <a:solidFill>
                  <a:srgbClr val="B9F7FF"/>
                </a:solidFill>
              </a:rPr>
              <a:t>Qualitative comparison only — methods are not directly ranked by accuracy because evaluation settings differ.</a:t>
            </a:r>
            <a:endParaRPr lang="en-US" sz="8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17</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Taxonomy of Reviewed Techniques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A multidimensional view avoids forcing overlapping methods into one category</a:t>
            </a:r>
            <a:endParaRPr lang="en-US" sz="1050" dirty="0"/>
          </a:p>
        </p:txBody>
      </p:sp>
      <p:sp>
        <p:nvSpPr>
          <p:cNvPr id="18" name="Shape 16"/>
          <p:cNvSpPr/>
          <p:nvPr/>
        </p:nvSpPr>
        <p:spPr>
          <a:xfrm>
            <a:off x="594360" y="1325880"/>
            <a:ext cx="3520440" cy="4297680"/>
          </a:xfrm>
          <a:prstGeom prst="roundRect">
            <a:avLst>
              <a:gd name="adj" fmla="val 2857"/>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758952" y="1472184"/>
            <a:ext cx="31912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1. Physical-layer feature source</a:t>
            </a:r>
            <a:endParaRPr lang="en-US" sz="1250" dirty="0"/>
          </a:p>
        </p:txBody>
      </p:sp>
      <p:sp>
        <p:nvSpPr>
          <p:cNvPr id="20" name="Text 18"/>
          <p:cNvSpPr/>
          <p:nvPr/>
        </p:nvSpPr>
        <p:spPr>
          <a:xfrm>
            <a:off x="777240" y="1837944"/>
            <a:ext cx="3172968" cy="3703320"/>
          </a:xfrm>
          <a:prstGeom prst="rect">
            <a:avLst/>
          </a:prstGeom>
          <a:noFill/>
          <a:ln/>
        </p:spPr>
        <p:txBody>
          <a:bodyPr wrap="square" lIns="508" tIns="508" rIns="508" bIns="508" rtlCol="0" anchor="t">
            <a:normAutofit/>
          </a:bodyPr>
          <a:lstStyle/>
          <a:p>
            <a:r>
              <a:rPr lang="en-US" sz="1220" dirty="0">
                <a:solidFill>
                  <a:srgbClr val="EAF7FB"/>
                </a:solidFill>
                <a:latin typeface="Aptos" pitchFamily="34" charset="0"/>
                <a:ea typeface="Aptos" pitchFamily="34" charset="-122"/>
                <a:cs typeface="Aptos" pitchFamily="34" charset="-120"/>
              </a:rPr>
              <a:t>CIR / PDP</a:t>
            </a:r>
            <a:endParaRPr lang="en-US" sz="1220" dirty="0"/>
          </a:p>
          <a:p>
            <a:r>
              <a:rPr lang="en-US" sz="1220" dirty="0">
                <a:solidFill>
                  <a:srgbClr val="EAF7FB"/>
                </a:solidFill>
                <a:latin typeface="Aptos" pitchFamily="34" charset="0"/>
                <a:ea typeface="Aptos" pitchFamily="34" charset="-122"/>
                <a:cs typeface="Aptos" pitchFamily="34" charset="-120"/>
              </a:rPr>
              <a:t>Location / AoA / delay</a:t>
            </a:r>
            <a:endParaRPr lang="en-US" sz="1220" dirty="0"/>
          </a:p>
          <a:p>
            <a:r>
              <a:rPr lang="en-US" sz="1220" dirty="0">
                <a:solidFill>
                  <a:srgbClr val="EAF7FB"/>
                </a:solidFill>
                <a:latin typeface="Aptos" pitchFamily="34" charset="0"/>
                <a:ea typeface="Aptos" pitchFamily="34" charset="-122"/>
                <a:cs typeface="Aptos" pitchFamily="34" charset="-120"/>
              </a:rPr>
              <a:t>Time-reversal response</a:t>
            </a:r>
            <a:endParaRPr lang="en-US" sz="1220" dirty="0"/>
          </a:p>
          <a:p>
            <a:r>
              <a:rPr lang="en-US" sz="1220" dirty="0">
                <a:solidFill>
                  <a:srgbClr val="EAF7FB"/>
                </a:solidFill>
                <a:latin typeface="Aptos" pitchFamily="34" charset="0"/>
                <a:ea typeface="Aptos" pitchFamily="34" charset="-122"/>
                <a:cs typeface="Aptos" pitchFamily="34" charset="-120"/>
              </a:rPr>
              <a:t>Historical / differential CIR</a:t>
            </a:r>
            <a:endParaRPr lang="en-US" sz="1220" dirty="0"/>
          </a:p>
        </p:txBody>
      </p:sp>
      <p:sp>
        <p:nvSpPr>
          <p:cNvPr id="21" name="Shape 19"/>
          <p:cNvSpPr/>
          <p:nvPr/>
        </p:nvSpPr>
        <p:spPr>
          <a:xfrm>
            <a:off x="4343400" y="1325880"/>
            <a:ext cx="3520440" cy="4297680"/>
          </a:xfrm>
          <a:prstGeom prst="roundRect">
            <a:avLst>
              <a:gd name="adj" fmla="val 2857"/>
            </a:avLst>
          </a:prstGeom>
          <a:solidFill>
            <a:srgbClr val="0A243D"/>
          </a:solidFill>
          <a:ln w="12700">
            <a:solidFill>
              <a:srgbClr val="1B5676">
                <a:alpha val="95000"/>
              </a:srgbClr>
            </a:solidFill>
            <a:prstDash val="solid"/>
          </a:ln>
        </p:spPr>
        <p:txBody>
          <a:bodyPr/>
          <a:lstStyle/>
          <a:p>
            <a:endParaRPr lang="en-US"/>
          </a:p>
        </p:txBody>
      </p:sp>
      <p:sp>
        <p:nvSpPr>
          <p:cNvPr id="22" name="Text 20"/>
          <p:cNvSpPr/>
          <p:nvPr/>
        </p:nvSpPr>
        <p:spPr>
          <a:xfrm>
            <a:off x="4507992" y="1472184"/>
            <a:ext cx="31912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2. Decision mechanism</a:t>
            </a:r>
            <a:endParaRPr lang="en-US" sz="1250" dirty="0"/>
          </a:p>
        </p:txBody>
      </p:sp>
      <p:sp>
        <p:nvSpPr>
          <p:cNvPr id="23" name="Text 21"/>
          <p:cNvSpPr/>
          <p:nvPr/>
        </p:nvSpPr>
        <p:spPr>
          <a:xfrm>
            <a:off x="4526280" y="1837944"/>
            <a:ext cx="3172968" cy="3703320"/>
          </a:xfrm>
          <a:prstGeom prst="rect">
            <a:avLst/>
          </a:prstGeom>
          <a:noFill/>
          <a:ln/>
        </p:spPr>
        <p:txBody>
          <a:bodyPr wrap="square" lIns="508" tIns="508" rIns="508" bIns="508" rtlCol="0" anchor="t">
            <a:normAutofit/>
          </a:bodyPr>
          <a:lstStyle/>
          <a:p>
            <a:r>
              <a:rPr lang="en-US" sz="1080" dirty="0">
                <a:solidFill>
                  <a:srgbClr val="EAF7FB"/>
                </a:solidFill>
                <a:latin typeface="Aptos" pitchFamily="34" charset="0"/>
                <a:ea typeface="Aptos" pitchFamily="34" charset="-122"/>
                <a:cs typeface="Aptos" pitchFamily="34" charset="-120"/>
              </a:rPr>
              <a:t>Hypothesis testing / ML estimation</a:t>
            </a:r>
            <a:endParaRPr lang="en-US" sz="1080" dirty="0"/>
          </a:p>
          <a:p>
            <a:r>
              <a:rPr lang="en-US" sz="1080" dirty="0">
                <a:solidFill>
                  <a:srgbClr val="EAF7FB"/>
                </a:solidFill>
                <a:latin typeface="Aptos" pitchFamily="34" charset="0"/>
                <a:ea typeface="Aptos" pitchFamily="34" charset="-122"/>
                <a:cs typeface="Aptos" pitchFamily="34" charset="-120"/>
              </a:rPr>
              <a:t>RL / DRL</a:t>
            </a:r>
            <a:endParaRPr lang="en-US" sz="1080" dirty="0"/>
          </a:p>
          <a:p>
            <a:r>
              <a:rPr lang="en-US" sz="1080" dirty="0">
                <a:solidFill>
                  <a:srgbClr val="EAF7FB"/>
                </a:solidFill>
                <a:latin typeface="Aptos" pitchFamily="34" charset="0"/>
                <a:ea typeface="Aptos" pitchFamily="34" charset="-122"/>
                <a:cs typeface="Aptos" pitchFamily="34" charset="-120"/>
              </a:rPr>
              <a:t>SVM / classification</a:t>
            </a:r>
            <a:endParaRPr lang="en-US" sz="1080" dirty="0"/>
          </a:p>
          <a:p>
            <a:r>
              <a:rPr lang="en-US" sz="1080" dirty="0">
                <a:solidFill>
                  <a:srgbClr val="EAF7FB"/>
                </a:solidFill>
                <a:latin typeface="Aptos" pitchFamily="34" charset="0"/>
                <a:ea typeface="Aptos" pitchFamily="34" charset="-122"/>
                <a:cs typeface="Aptos" pitchFamily="34" charset="-120"/>
              </a:rPr>
              <a:t>RNN / LSTM prediction</a:t>
            </a:r>
            <a:endParaRPr lang="en-US" sz="1080" dirty="0"/>
          </a:p>
          <a:p>
            <a:r>
              <a:rPr lang="en-US" sz="1080" dirty="0">
                <a:solidFill>
                  <a:srgbClr val="EAF7FB"/>
                </a:solidFill>
                <a:latin typeface="Aptos" pitchFamily="34" charset="0"/>
                <a:ea typeface="Aptos" pitchFamily="34" charset="-122"/>
                <a:cs typeface="Aptos" pitchFamily="34" charset="-120"/>
              </a:rPr>
              <a:t>CNN localization</a:t>
            </a:r>
            <a:endParaRPr lang="en-US" sz="1080" dirty="0"/>
          </a:p>
          <a:p>
            <a:r>
              <a:rPr lang="en-US" sz="1080" dirty="0">
                <a:solidFill>
                  <a:srgbClr val="EAF7FB"/>
                </a:solidFill>
                <a:latin typeface="Aptos" pitchFamily="34" charset="0"/>
                <a:ea typeface="Aptos" pitchFamily="34" charset="-122"/>
                <a:cs typeface="Aptos" pitchFamily="34" charset="-120"/>
              </a:rPr>
              <a:t>Cooperative belief fusion</a:t>
            </a:r>
            <a:endParaRPr lang="en-US" sz="1080" dirty="0"/>
          </a:p>
        </p:txBody>
      </p:sp>
      <p:sp>
        <p:nvSpPr>
          <p:cNvPr id="24" name="Shape 22"/>
          <p:cNvSpPr/>
          <p:nvPr/>
        </p:nvSpPr>
        <p:spPr>
          <a:xfrm>
            <a:off x="8092440" y="1325880"/>
            <a:ext cx="3520440" cy="4297680"/>
          </a:xfrm>
          <a:prstGeom prst="roundRect">
            <a:avLst>
              <a:gd name="adj" fmla="val 2857"/>
            </a:avLst>
          </a:prstGeom>
          <a:solidFill>
            <a:srgbClr val="0A243D"/>
          </a:solidFill>
          <a:ln w="12700">
            <a:solidFill>
              <a:srgbClr val="1B5676">
                <a:alpha val="95000"/>
              </a:srgbClr>
            </a:solidFill>
            <a:prstDash val="solid"/>
          </a:ln>
        </p:spPr>
        <p:txBody>
          <a:bodyPr/>
          <a:lstStyle/>
          <a:p>
            <a:endParaRPr lang="en-US"/>
          </a:p>
        </p:txBody>
      </p:sp>
      <p:sp>
        <p:nvSpPr>
          <p:cNvPr id="25" name="Text 23"/>
          <p:cNvSpPr/>
          <p:nvPr/>
        </p:nvSpPr>
        <p:spPr>
          <a:xfrm>
            <a:off x="8257032" y="1472184"/>
            <a:ext cx="31912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3. Deployment condition</a:t>
            </a:r>
            <a:endParaRPr lang="en-US" sz="1250" dirty="0"/>
          </a:p>
        </p:txBody>
      </p:sp>
      <p:sp>
        <p:nvSpPr>
          <p:cNvPr id="26" name="Text 24"/>
          <p:cNvSpPr/>
          <p:nvPr/>
        </p:nvSpPr>
        <p:spPr>
          <a:xfrm>
            <a:off x="8275320" y="1837944"/>
            <a:ext cx="3172968" cy="3703320"/>
          </a:xfrm>
          <a:prstGeom prst="rect">
            <a:avLst/>
          </a:prstGeom>
          <a:noFill/>
          <a:ln/>
        </p:spPr>
        <p:txBody>
          <a:bodyPr wrap="square" lIns="508" tIns="508" rIns="508" bIns="508" rtlCol="0" anchor="t">
            <a:normAutofit/>
          </a:bodyPr>
          <a:lstStyle/>
          <a:p>
            <a:r>
              <a:rPr lang="en-US" sz="1220" dirty="0">
                <a:solidFill>
                  <a:srgbClr val="EAF7FB"/>
                </a:solidFill>
                <a:latin typeface="Aptos" pitchFamily="34" charset="0"/>
                <a:ea typeface="Aptos" pitchFamily="34" charset="-122"/>
                <a:cs typeface="Aptos" pitchFamily="34" charset="-120"/>
              </a:rPr>
              <a:t>Resource-constrained nodes</a:t>
            </a:r>
            <a:endParaRPr lang="en-US" sz="1220" dirty="0"/>
          </a:p>
          <a:p>
            <a:r>
              <a:rPr lang="en-US" sz="1220" dirty="0">
                <a:solidFill>
                  <a:srgbClr val="EAF7FB"/>
                </a:solidFill>
                <a:latin typeface="Aptos" pitchFamily="34" charset="0"/>
                <a:ea typeface="Aptos" pitchFamily="34" charset="-122"/>
                <a:cs typeface="Aptos" pitchFamily="34" charset="-120"/>
              </a:rPr>
              <a:t>Mobile nodes</a:t>
            </a:r>
            <a:endParaRPr lang="en-US" sz="1220" dirty="0"/>
          </a:p>
          <a:p>
            <a:r>
              <a:rPr lang="en-US" sz="1220" dirty="0">
                <a:solidFill>
                  <a:srgbClr val="EAF7FB"/>
                </a:solidFill>
                <a:latin typeface="Aptos" pitchFamily="34" charset="0"/>
                <a:ea typeface="Aptos" pitchFamily="34" charset="-122"/>
                <a:cs typeface="Aptos" pitchFamily="34" charset="-120"/>
              </a:rPr>
              <a:t>Dynamic channels</a:t>
            </a:r>
            <a:endParaRPr lang="en-US" sz="1220" dirty="0"/>
          </a:p>
          <a:p>
            <a:r>
              <a:rPr lang="en-US" sz="1220" dirty="0">
                <a:solidFill>
                  <a:srgbClr val="EAF7FB"/>
                </a:solidFill>
                <a:latin typeface="Aptos" pitchFamily="34" charset="0"/>
                <a:ea typeface="Aptos" pitchFamily="34" charset="-122"/>
                <a:cs typeface="Aptos" pitchFamily="34" charset="-120"/>
              </a:rPr>
              <a:t>Multi-receiver cooperative settings</a:t>
            </a:r>
            <a:endParaRPr lang="en-US" sz="1220" dirty="0"/>
          </a:p>
        </p:txBody>
      </p:sp>
      <p:sp>
        <p:nvSpPr>
          <p:cNvPr id="27" name="Text 25"/>
          <p:cNvSpPr/>
          <p:nvPr/>
        </p:nvSpPr>
        <p:spPr>
          <a:xfrm>
            <a:off x="502920" y="5989320"/>
            <a:ext cx="11155680" cy="228600"/>
          </a:xfrm>
          <a:prstGeom prst="rect">
            <a:avLst/>
          </a:prstGeom>
          <a:noFill/>
          <a:ln/>
        </p:spPr>
        <p:txBody>
          <a:bodyPr wrap="square" lIns="0" tIns="0" rIns="0" bIns="0" rtlCol="0" anchor="ctr">
            <a:normAutofit/>
          </a:bodyPr>
          <a:lstStyle/>
          <a:p>
            <a:pPr marL="0" indent="0" algn="ctr">
              <a:buNone/>
            </a:pPr>
            <a:r>
              <a:rPr lang="en-US" sz="660" dirty="0">
                <a:solidFill>
                  <a:srgbClr val="AFC8D8"/>
                </a:solidFill>
              </a:rPr>
              <a:t>Mapped across: Zhao et al. [1], Shi et al. [2], Zhao et al. [3], Xiao et al. [4], Ardizzon et al. [5], Ventura et al. [6], Diamant et al. [7], Zhao et al. [8], Aman et al. [9], Casari et al. [10]</a:t>
            </a:r>
            <a:endParaRPr lang="en-US" sz="6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18</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Challenges and Limitations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PLA is promising, but deployment readiness still depends on several constraints</a:t>
            </a:r>
            <a:endParaRPr lang="en-US" sz="1050" dirty="0"/>
          </a:p>
        </p:txBody>
      </p:sp>
      <p:sp>
        <p:nvSpPr>
          <p:cNvPr id="18" name="Shape 16"/>
          <p:cNvSpPr/>
          <p:nvPr/>
        </p:nvSpPr>
        <p:spPr>
          <a:xfrm>
            <a:off x="685800" y="141732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19" name="Text 17"/>
          <p:cNvSpPr/>
          <p:nvPr/>
        </p:nvSpPr>
        <p:spPr>
          <a:xfrm>
            <a:off x="850392" y="158191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Benchmarks</a:t>
            </a:r>
            <a:endParaRPr lang="en-US" sz="1250" dirty="0"/>
          </a:p>
        </p:txBody>
      </p:sp>
      <p:sp>
        <p:nvSpPr>
          <p:cNvPr id="20" name="Text 18"/>
          <p:cNvSpPr/>
          <p:nvPr/>
        </p:nvSpPr>
        <p:spPr>
          <a:xfrm>
            <a:off x="850392" y="198424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Limited common datasets + heterogeneous evaluation</a:t>
            </a:r>
            <a:endParaRPr lang="en-US" sz="940" dirty="0"/>
          </a:p>
        </p:txBody>
      </p:sp>
      <p:sp>
        <p:nvSpPr>
          <p:cNvPr id="21" name="Shape 19"/>
          <p:cNvSpPr/>
          <p:nvPr/>
        </p:nvSpPr>
        <p:spPr>
          <a:xfrm>
            <a:off x="4434840" y="141732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22" name="Text 20"/>
          <p:cNvSpPr/>
          <p:nvPr/>
        </p:nvSpPr>
        <p:spPr>
          <a:xfrm>
            <a:off x="4599432" y="158191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Mobility</a:t>
            </a:r>
            <a:endParaRPr lang="en-US" sz="1250" dirty="0"/>
          </a:p>
        </p:txBody>
      </p:sp>
      <p:sp>
        <p:nvSpPr>
          <p:cNvPr id="23" name="Text 21"/>
          <p:cNvSpPr/>
          <p:nvPr/>
        </p:nvSpPr>
        <p:spPr>
          <a:xfrm>
            <a:off x="4599432" y="198424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False alarms from legitimate movement</a:t>
            </a:r>
            <a:endParaRPr lang="en-US" sz="940" dirty="0"/>
          </a:p>
        </p:txBody>
      </p:sp>
      <p:sp>
        <p:nvSpPr>
          <p:cNvPr id="24" name="Shape 22"/>
          <p:cNvSpPr/>
          <p:nvPr/>
        </p:nvSpPr>
        <p:spPr>
          <a:xfrm>
            <a:off x="8183880" y="141732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25" name="Text 23"/>
          <p:cNvSpPr/>
          <p:nvPr/>
        </p:nvSpPr>
        <p:spPr>
          <a:xfrm>
            <a:off x="8348472" y="158191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Trade-off</a:t>
            </a:r>
            <a:endParaRPr lang="en-US" sz="1250" dirty="0"/>
          </a:p>
        </p:txBody>
      </p:sp>
      <p:sp>
        <p:nvSpPr>
          <p:cNvPr id="26" name="Text 24"/>
          <p:cNvSpPr/>
          <p:nvPr/>
        </p:nvSpPr>
        <p:spPr>
          <a:xfrm>
            <a:off x="8348472" y="198424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False acceptance vs false rejection</a:t>
            </a:r>
            <a:endParaRPr lang="en-US" sz="940" dirty="0"/>
          </a:p>
        </p:txBody>
      </p:sp>
      <p:sp>
        <p:nvSpPr>
          <p:cNvPr id="27" name="Shape 25"/>
          <p:cNvSpPr/>
          <p:nvPr/>
        </p:nvSpPr>
        <p:spPr>
          <a:xfrm>
            <a:off x="685800" y="329184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28" name="Text 26"/>
          <p:cNvSpPr/>
          <p:nvPr/>
        </p:nvSpPr>
        <p:spPr>
          <a:xfrm>
            <a:off x="850392" y="345643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Adversary data</a:t>
            </a:r>
            <a:endParaRPr lang="en-US" sz="1250" dirty="0"/>
          </a:p>
        </p:txBody>
      </p:sp>
      <p:sp>
        <p:nvSpPr>
          <p:cNvPr id="29" name="Text 27"/>
          <p:cNvSpPr/>
          <p:nvPr/>
        </p:nvSpPr>
        <p:spPr>
          <a:xfrm>
            <a:off x="850392" y="385876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Realistic attack samples are scarce</a:t>
            </a:r>
            <a:endParaRPr lang="en-US" sz="940" dirty="0"/>
          </a:p>
        </p:txBody>
      </p:sp>
      <p:sp>
        <p:nvSpPr>
          <p:cNvPr id="30" name="Shape 28"/>
          <p:cNvSpPr/>
          <p:nvPr/>
        </p:nvSpPr>
        <p:spPr>
          <a:xfrm>
            <a:off x="4434840" y="329184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31" name="Text 29"/>
          <p:cNvSpPr/>
          <p:nvPr/>
        </p:nvSpPr>
        <p:spPr>
          <a:xfrm>
            <a:off x="4599432" y="345643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Overhead</a:t>
            </a:r>
            <a:endParaRPr lang="en-US" sz="1250" dirty="0"/>
          </a:p>
        </p:txBody>
      </p:sp>
      <p:sp>
        <p:nvSpPr>
          <p:cNvPr id="32" name="Text 30"/>
          <p:cNvSpPr/>
          <p:nvPr/>
        </p:nvSpPr>
        <p:spPr>
          <a:xfrm>
            <a:off x="4599432" y="385876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Energy, computation, memory, communication cost</a:t>
            </a:r>
            <a:endParaRPr lang="en-US" sz="940" dirty="0"/>
          </a:p>
        </p:txBody>
      </p:sp>
      <p:sp>
        <p:nvSpPr>
          <p:cNvPr id="33" name="Shape 31"/>
          <p:cNvSpPr/>
          <p:nvPr/>
        </p:nvSpPr>
        <p:spPr>
          <a:xfrm>
            <a:off x="8183880" y="3291840"/>
            <a:ext cx="3246120" cy="1325880"/>
          </a:xfrm>
          <a:prstGeom prst="roundRect">
            <a:avLst>
              <a:gd name="adj" fmla="val 8276"/>
            </a:avLst>
          </a:prstGeom>
          <a:solidFill>
            <a:srgbClr val="0E2A45"/>
          </a:solidFill>
          <a:ln w="12700">
            <a:solidFill>
              <a:srgbClr val="1B5676"/>
            </a:solidFill>
            <a:prstDash val="solid"/>
          </a:ln>
        </p:spPr>
        <p:txBody>
          <a:bodyPr/>
          <a:lstStyle/>
          <a:p>
            <a:endParaRPr lang="en-US"/>
          </a:p>
        </p:txBody>
      </p:sp>
      <p:sp>
        <p:nvSpPr>
          <p:cNvPr id="34" name="Text 32"/>
          <p:cNvSpPr/>
          <p:nvPr/>
        </p:nvSpPr>
        <p:spPr>
          <a:xfrm>
            <a:off x="8348472" y="3456432"/>
            <a:ext cx="2880360" cy="201168"/>
          </a:xfrm>
          <a:prstGeom prst="rect">
            <a:avLst/>
          </a:prstGeom>
          <a:noFill/>
          <a:ln/>
        </p:spPr>
        <p:txBody>
          <a:bodyPr wrap="square" lIns="0" tIns="0" rIns="0" bIns="0" rtlCol="0" anchor="ctr"/>
          <a:lstStyle/>
          <a:p>
            <a:pPr marL="0" indent="0">
              <a:buNone/>
            </a:pPr>
            <a:r>
              <a:rPr lang="en-US" sz="1250" b="1" dirty="0">
                <a:solidFill>
                  <a:srgbClr val="B9F7FF"/>
                </a:solidFill>
              </a:rPr>
              <a:t>Assumptions</a:t>
            </a:r>
            <a:endParaRPr lang="en-US" sz="1250" dirty="0"/>
          </a:p>
        </p:txBody>
      </p:sp>
      <p:sp>
        <p:nvSpPr>
          <p:cNvPr id="35" name="Text 33"/>
          <p:cNvSpPr/>
          <p:nvPr/>
        </p:nvSpPr>
        <p:spPr>
          <a:xfrm>
            <a:off x="8348472" y="3858768"/>
            <a:ext cx="2880360" cy="292608"/>
          </a:xfrm>
          <a:prstGeom prst="rect">
            <a:avLst/>
          </a:prstGeom>
          <a:noFill/>
          <a:ln/>
        </p:spPr>
        <p:txBody>
          <a:bodyPr wrap="square" lIns="0" tIns="0" rIns="0" bIns="0" rtlCol="0" anchor="ctr">
            <a:normAutofit/>
          </a:bodyPr>
          <a:lstStyle/>
          <a:p>
            <a:pPr marL="0" indent="0">
              <a:buNone/>
            </a:pPr>
            <a:r>
              <a:rPr lang="en-US" sz="940" dirty="0">
                <a:solidFill>
                  <a:srgbClr val="EAF7FB"/>
                </a:solidFill>
              </a:rPr>
              <a:t>Database aging, channel drift, trusted nodes, localization, scalability</a:t>
            </a:r>
            <a:endParaRPr lang="en-US" sz="940" dirty="0"/>
          </a:p>
        </p:txBody>
      </p:sp>
      <p:sp>
        <p:nvSpPr>
          <p:cNvPr id="36" name="Text 34"/>
          <p:cNvSpPr/>
          <p:nvPr/>
        </p:nvSpPr>
        <p:spPr>
          <a:xfrm>
            <a:off x="1005840" y="5715000"/>
            <a:ext cx="10149840" cy="292608"/>
          </a:xfrm>
          <a:prstGeom prst="rect">
            <a:avLst/>
          </a:prstGeom>
          <a:noFill/>
          <a:ln/>
        </p:spPr>
        <p:txBody>
          <a:bodyPr wrap="square" lIns="0" tIns="0" rIns="0" bIns="0" rtlCol="0" anchor="ctr"/>
          <a:lstStyle/>
          <a:p>
            <a:pPr marL="0" indent="0" algn="ctr">
              <a:buNone/>
            </a:pPr>
            <a:r>
              <a:rPr lang="en-US" sz="1120" b="1" dirty="0">
                <a:solidFill>
                  <a:srgbClr val="B9F7FF"/>
                </a:solidFill>
              </a:rPr>
              <a:t>These limitations appear across the reviewed studies and explain why no single PLA method dominates all IoUT deployments.</a:t>
            </a:r>
            <a:endParaRPr lang="en-US" sz="11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19</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Recommendations and Future Research Directions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Toward lightweight, adaptive, benchmarked, explainable, and hybrid defense</a:t>
            </a:r>
            <a:endParaRPr lang="en-US" sz="1050" dirty="0"/>
          </a:p>
        </p:txBody>
      </p:sp>
      <p:sp>
        <p:nvSpPr>
          <p:cNvPr id="18" name="Shape 16"/>
          <p:cNvSpPr/>
          <p:nvPr/>
        </p:nvSpPr>
        <p:spPr>
          <a:xfrm>
            <a:off x="594360" y="1325880"/>
            <a:ext cx="5440680" cy="4389120"/>
          </a:xfrm>
          <a:prstGeom prst="roundRect">
            <a:avLst>
              <a:gd name="adj" fmla="val 2292"/>
            </a:avLst>
          </a:prstGeom>
          <a:solidFill>
            <a:srgbClr val="0A243D"/>
          </a:solidFill>
          <a:ln w="12700">
            <a:solidFill>
              <a:srgbClr val="1B5676">
                <a:alpha val="95000"/>
              </a:srgbClr>
            </a:solidFill>
            <a:prstDash val="solid"/>
          </a:ln>
        </p:spPr>
        <p:txBody>
          <a:bodyPr/>
          <a:lstStyle/>
          <a:p>
            <a:endParaRPr lang="en-US"/>
          </a:p>
        </p:txBody>
      </p:sp>
      <p:sp>
        <p:nvSpPr>
          <p:cNvPr id="19" name="Text 17"/>
          <p:cNvSpPr/>
          <p:nvPr/>
        </p:nvSpPr>
        <p:spPr>
          <a:xfrm>
            <a:off x="758952" y="1472184"/>
            <a:ext cx="511149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Recommendations</a:t>
            </a:r>
            <a:endParaRPr lang="en-US" sz="1250" dirty="0"/>
          </a:p>
        </p:txBody>
      </p:sp>
      <p:sp>
        <p:nvSpPr>
          <p:cNvPr id="20" name="Text 18"/>
          <p:cNvSpPr/>
          <p:nvPr/>
        </p:nvSpPr>
        <p:spPr>
          <a:xfrm>
            <a:off x="777240" y="1837944"/>
            <a:ext cx="5093208" cy="3794760"/>
          </a:xfrm>
          <a:prstGeom prst="rect">
            <a:avLst/>
          </a:prstGeom>
          <a:noFill/>
          <a:ln/>
        </p:spPr>
        <p:txBody>
          <a:bodyPr wrap="square" lIns="508" tIns="508" rIns="508" bIns="508" rtlCol="0" anchor="t">
            <a:normAutofit/>
          </a:bodyPr>
          <a:lstStyle/>
          <a:p>
            <a:r>
              <a:rPr lang="en-US" sz="890" dirty="0">
                <a:solidFill>
                  <a:srgbClr val="EAF7FB"/>
                </a:solidFill>
                <a:latin typeface="Aptos" pitchFamily="34" charset="0"/>
                <a:ea typeface="Aptos" pitchFamily="34" charset="-122"/>
                <a:cs typeface="Aptos" pitchFamily="34" charset="-120"/>
              </a:rPr>
              <a:t>Use lightweight and energy-aware authentication models.</a:t>
            </a:r>
            <a:endParaRPr lang="en-US" sz="890" dirty="0"/>
          </a:p>
          <a:p>
            <a:r>
              <a:rPr lang="en-US" sz="890" dirty="0">
                <a:solidFill>
                  <a:srgbClr val="EAF7FB"/>
                </a:solidFill>
                <a:latin typeface="Aptos" pitchFamily="34" charset="0"/>
                <a:ea typeface="Aptos" pitchFamily="34" charset="-122"/>
                <a:cs typeface="Aptos" pitchFamily="34" charset="-120"/>
              </a:rPr>
              <a:t>Use adaptive thresholds and channel-history-aware PLA.</a:t>
            </a:r>
            <a:endParaRPr lang="en-US" sz="890" dirty="0"/>
          </a:p>
          <a:p>
            <a:r>
              <a:rPr lang="en-US" sz="890" dirty="0">
                <a:solidFill>
                  <a:srgbClr val="EAF7FB"/>
                </a:solidFill>
                <a:latin typeface="Aptos" pitchFamily="34" charset="0"/>
                <a:ea typeface="Aptos" pitchFamily="34" charset="-122"/>
                <a:cs typeface="Aptos" pitchFamily="34" charset="-120"/>
              </a:rPr>
              <a:t>Design mobility-aware prediction and trajectory-consistency checks.</a:t>
            </a:r>
            <a:endParaRPr lang="en-US" sz="890" dirty="0"/>
          </a:p>
          <a:p>
            <a:r>
              <a:rPr lang="en-US" sz="890" dirty="0">
                <a:solidFill>
                  <a:srgbClr val="EAF7FB"/>
                </a:solidFill>
                <a:latin typeface="Aptos" pitchFamily="34" charset="0"/>
                <a:ea typeface="Aptos" pitchFamily="34" charset="-122"/>
                <a:cs typeface="Aptos" pitchFamily="34" charset="-120"/>
              </a:rPr>
              <a:t>Prefer adversary-data-free approaches when attacker samples are unavailable.</a:t>
            </a:r>
            <a:endParaRPr lang="en-US" sz="890" dirty="0"/>
          </a:p>
          <a:p>
            <a:r>
              <a:rPr lang="en-US" sz="890" dirty="0">
                <a:solidFill>
                  <a:srgbClr val="EAF7FB"/>
                </a:solidFill>
                <a:latin typeface="Aptos" pitchFamily="34" charset="0"/>
                <a:ea typeface="Aptos" pitchFamily="34" charset="-122"/>
                <a:cs typeface="Aptos" pitchFamily="34" charset="-120"/>
              </a:rPr>
              <a:t>Improve benchmarking and evaluation fairness.</a:t>
            </a:r>
            <a:endParaRPr lang="en-US" sz="890" dirty="0"/>
          </a:p>
          <a:p>
            <a:r>
              <a:rPr lang="en-US" sz="890" dirty="0">
                <a:solidFill>
                  <a:srgbClr val="EAF7FB"/>
                </a:solidFill>
                <a:latin typeface="Aptos" pitchFamily="34" charset="0"/>
                <a:ea typeface="Aptos" pitchFamily="34" charset="-122"/>
                <a:cs typeface="Aptos" pitchFamily="34" charset="-120"/>
              </a:rPr>
              <a:t>Combine PLA with lightweight cryptography where feasible.</a:t>
            </a:r>
            <a:endParaRPr lang="en-US" sz="890" dirty="0"/>
          </a:p>
          <a:p>
            <a:r>
              <a:rPr lang="en-US" sz="890" dirty="0">
                <a:solidFill>
                  <a:srgbClr val="EAF7FB"/>
                </a:solidFill>
                <a:latin typeface="Aptos" pitchFamily="34" charset="0"/>
                <a:ea typeface="Aptos" pitchFamily="34" charset="-122"/>
                <a:cs typeface="Aptos" pitchFamily="34" charset="-120"/>
              </a:rPr>
              <a:t>Add explainable authentication decisions.</a:t>
            </a:r>
            <a:endParaRPr lang="en-US" sz="890" dirty="0"/>
          </a:p>
        </p:txBody>
      </p:sp>
      <p:sp>
        <p:nvSpPr>
          <p:cNvPr id="21" name="Shape 19"/>
          <p:cNvSpPr/>
          <p:nvPr/>
        </p:nvSpPr>
        <p:spPr>
          <a:xfrm>
            <a:off x="6355080" y="1325880"/>
            <a:ext cx="5257800" cy="4389120"/>
          </a:xfrm>
          <a:prstGeom prst="roundRect">
            <a:avLst>
              <a:gd name="adj" fmla="val 2292"/>
            </a:avLst>
          </a:prstGeom>
          <a:solidFill>
            <a:srgbClr val="0A243D"/>
          </a:solidFill>
          <a:ln w="12700">
            <a:solidFill>
              <a:srgbClr val="1B5676">
                <a:alpha val="95000"/>
              </a:srgbClr>
            </a:solidFill>
            <a:prstDash val="solid"/>
          </a:ln>
        </p:spPr>
        <p:txBody>
          <a:bodyPr/>
          <a:lstStyle/>
          <a:p>
            <a:endParaRPr lang="en-US"/>
          </a:p>
        </p:txBody>
      </p:sp>
      <p:sp>
        <p:nvSpPr>
          <p:cNvPr id="22" name="Text 20"/>
          <p:cNvSpPr/>
          <p:nvPr/>
        </p:nvSpPr>
        <p:spPr>
          <a:xfrm>
            <a:off x="6519672" y="1472184"/>
            <a:ext cx="492861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Future research directions</a:t>
            </a:r>
            <a:endParaRPr lang="en-US" sz="1250" dirty="0"/>
          </a:p>
        </p:txBody>
      </p:sp>
      <p:sp>
        <p:nvSpPr>
          <p:cNvPr id="23" name="Text 21"/>
          <p:cNvSpPr/>
          <p:nvPr/>
        </p:nvSpPr>
        <p:spPr>
          <a:xfrm>
            <a:off x="6537960" y="1837944"/>
            <a:ext cx="4910328" cy="3794760"/>
          </a:xfrm>
          <a:prstGeom prst="rect">
            <a:avLst/>
          </a:prstGeom>
          <a:noFill/>
          <a:ln/>
        </p:spPr>
        <p:txBody>
          <a:bodyPr wrap="square" lIns="508" tIns="508" rIns="508" bIns="508" rtlCol="0" anchor="t">
            <a:normAutofit/>
          </a:bodyPr>
          <a:lstStyle/>
          <a:p>
            <a:r>
              <a:rPr lang="en-US" sz="890" dirty="0">
                <a:solidFill>
                  <a:srgbClr val="EAF7FB"/>
                </a:solidFill>
                <a:latin typeface="Aptos" pitchFamily="34" charset="0"/>
                <a:ea typeface="Aptos" pitchFamily="34" charset="-122"/>
                <a:cs typeface="Aptos" pitchFamily="34" charset="-120"/>
              </a:rPr>
              <a:t>Benchmark datasets and reproducibility.</a:t>
            </a:r>
            <a:endParaRPr lang="en-US" sz="890" dirty="0"/>
          </a:p>
          <a:p>
            <a:r>
              <a:rPr lang="en-US" sz="890" dirty="0">
                <a:solidFill>
                  <a:srgbClr val="EAF7FB"/>
                </a:solidFill>
                <a:latin typeface="Aptos" pitchFamily="34" charset="0"/>
                <a:ea typeface="Aptos" pitchFamily="34" charset="-122"/>
                <a:cs typeface="Aptos" pitchFamily="34" charset="-120"/>
              </a:rPr>
              <a:t>Online/adaptive learning without normalizing attacker behavior.</a:t>
            </a:r>
            <a:endParaRPr lang="en-US" sz="890" dirty="0"/>
          </a:p>
          <a:p>
            <a:r>
              <a:rPr lang="en-US" sz="890" dirty="0">
                <a:solidFill>
                  <a:srgbClr val="EAF7FB"/>
                </a:solidFill>
                <a:latin typeface="Aptos" pitchFamily="34" charset="0"/>
                <a:ea typeface="Aptos" pitchFamily="34" charset="-122"/>
                <a:cs typeface="Aptos" pitchFamily="34" charset="-120"/>
              </a:rPr>
              <a:t>Cross-environment transfer learning.</a:t>
            </a:r>
            <a:endParaRPr lang="en-US" sz="890" dirty="0"/>
          </a:p>
          <a:p>
            <a:r>
              <a:rPr lang="en-US" sz="890" dirty="0">
                <a:solidFill>
                  <a:srgbClr val="EAF7FB"/>
                </a:solidFill>
                <a:latin typeface="Aptos" pitchFamily="34" charset="0"/>
                <a:ea typeface="Aptos" pitchFamily="34" charset="-122"/>
                <a:cs typeface="Aptos" pitchFamily="34" charset="-120"/>
              </a:rPr>
              <a:t>Federated/distributed learning as a future direction, not a proven result.</a:t>
            </a:r>
            <a:endParaRPr lang="en-US" sz="890" dirty="0"/>
          </a:p>
          <a:p>
            <a:r>
              <a:rPr lang="en-US" sz="890" dirty="0">
                <a:solidFill>
                  <a:srgbClr val="EAF7FB"/>
                </a:solidFill>
                <a:latin typeface="Aptos" pitchFamily="34" charset="0"/>
                <a:ea typeface="Aptos" pitchFamily="34" charset="-122"/>
                <a:cs typeface="Aptos" pitchFamily="34" charset="-120"/>
              </a:rPr>
              <a:t>Mobility-aware hybrid authentication.</a:t>
            </a:r>
            <a:endParaRPr lang="en-US" sz="890" dirty="0"/>
          </a:p>
          <a:p>
            <a:r>
              <a:rPr lang="en-US" sz="890" dirty="0">
                <a:solidFill>
                  <a:srgbClr val="EAF7FB"/>
                </a:solidFill>
                <a:latin typeface="Aptos" pitchFamily="34" charset="0"/>
                <a:ea typeface="Aptos" pitchFamily="34" charset="-122"/>
                <a:cs typeface="Aptos" pitchFamily="34" charset="-120"/>
              </a:rPr>
              <a:t>Energy-aware model compression.</a:t>
            </a:r>
            <a:endParaRPr lang="en-US" sz="890" dirty="0"/>
          </a:p>
          <a:p>
            <a:r>
              <a:rPr lang="en-US" sz="890" dirty="0">
                <a:solidFill>
                  <a:srgbClr val="EAF7FB"/>
                </a:solidFill>
                <a:latin typeface="Aptos" pitchFamily="34" charset="0"/>
                <a:ea typeface="Aptos" pitchFamily="34" charset="-122"/>
                <a:cs typeface="Aptos" pitchFamily="34" charset="-120"/>
              </a:rPr>
              <a:t>Robustness against model drift, poisoning, and adaptive spoofers.</a:t>
            </a:r>
            <a:endParaRPr lang="en-US" sz="890" dirty="0"/>
          </a:p>
        </p:txBody>
      </p:sp>
      <p:sp>
        <p:nvSpPr>
          <p:cNvPr id="24" name="Text 22"/>
          <p:cNvSpPr/>
          <p:nvPr/>
        </p:nvSpPr>
        <p:spPr>
          <a:xfrm>
            <a:off x="685800" y="5870448"/>
            <a:ext cx="10835640" cy="292608"/>
          </a:xfrm>
          <a:prstGeom prst="rect">
            <a:avLst/>
          </a:prstGeom>
          <a:noFill/>
          <a:ln/>
        </p:spPr>
        <p:txBody>
          <a:bodyPr wrap="square" lIns="0" tIns="0" rIns="0" bIns="0" rtlCol="0" anchor="ctr"/>
          <a:lstStyle/>
          <a:p>
            <a:pPr marL="0" indent="0" algn="ctr">
              <a:buNone/>
            </a:pPr>
            <a:r>
              <a:rPr lang="en-US" sz="1050" b="1" dirty="0">
                <a:solidFill>
                  <a:srgbClr val="B9F7FF"/>
                </a:solidFill>
              </a:rPr>
              <a:t>Main takeaway: Practical spoofing defense should be lightweight, adaptive, mobility-aware, explainable, benchmarked, and hybrid.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20</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How This Research is Useful for Students and Society</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Final main content slide</a:t>
            </a:r>
            <a:endParaRPr lang="en-US" sz="1050" dirty="0"/>
          </a:p>
        </p:txBody>
      </p:sp>
      <p:sp>
        <p:nvSpPr>
          <p:cNvPr id="18" name="Shape 16"/>
          <p:cNvSpPr/>
          <p:nvPr/>
        </p:nvSpPr>
        <p:spPr>
          <a:xfrm>
            <a:off x="685800" y="1417320"/>
            <a:ext cx="5120640" cy="3566160"/>
          </a:xfrm>
          <a:prstGeom prst="roundRect">
            <a:avLst>
              <a:gd name="adj" fmla="val 2821"/>
            </a:avLst>
          </a:prstGeom>
          <a:solidFill>
            <a:srgbClr val="0E2A45"/>
          </a:solidFill>
          <a:ln w="12700">
            <a:solidFill>
              <a:srgbClr val="1B5676">
                <a:alpha val="95000"/>
              </a:srgbClr>
            </a:solidFill>
            <a:prstDash val="solid"/>
          </a:ln>
        </p:spPr>
        <p:txBody>
          <a:bodyPr/>
          <a:lstStyle/>
          <a:p>
            <a:endParaRPr lang="en-US"/>
          </a:p>
        </p:txBody>
      </p:sp>
      <p:sp>
        <p:nvSpPr>
          <p:cNvPr id="19" name="Text 17"/>
          <p:cNvSpPr/>
          <p:nvPr/>
        </p:nvSpPr>
        <p:spPr>
          <a:xfrm>
            <a:off x="850392" y="1563624"/>
            <a:ext cx="47914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For students</a:t>
            </a:r>
            <a:endParaRPr lang="en-US" sz="1250" dirty="0"/>
          </a:p>
        </p:txBody>
      </p:sp>
      <p:sp>
        <p:nvSpPr>
          <p:cNvPr id="20" name="Text 18"/>
          <p:cNvSpPr/>
          <p:nvPr/>
        </p:nvSpPr>
        <p:spPr>
          <a:xfrm>
            <a:off x="868680" y="1929384"/>
            <a:ext cx="4773168" cy="2971800"/>
          </a:xfrm>
          <a:prstGeom prst="rect">
            <a:avLst/>
          </a:prstGeom>
          <a:noFill/>
          <a:ln/>
        </p:spPr>
        <p:txBody>
          <a:bodyPr wrap="square" lIns="508" tIns="508" rIns="508" bIns="508" rtlCol="0" anchor="t">
            <a:normAutofit/>
          </a:bodyPr>
          <a:lstStyle/>
          <a:p>
            <a:r>
              <a:rPr lang="en-US" sz="1080" dirty="0">
                <a:solidFill>
                  <a:srgbClr val="EAF7FB"/>
                </a:solidFill>
                <a:latin typeface="Aptos" pitchFamily="34" charset="0"/>
                <a:ea typeface="Aptos" pitchFamily="34" charset="-122"/>
                <a:cs typeface="Aptos" pitchFamily="34" charset="-120"/>
              </a:rPr>
              <a:t>Understand IoT security beyond normal terrestrial networks.</a:t>
            </a:r>
            <a:endParaRPr lang="en-US" sz="1080" dirty="0"/>
          </a:p>
          <a:p>
            <a:r>
              <a:rPr lang="en-US" sz="1080" dirty="0">
                <a:solidFill>
                  <a:srgbClr val="EAF7FB"/>
                </a:solidFill>
                <a:latin typeface="Aptos" pitchFamily="34" charset="0"/>
                <a:ea typeface="Aptos" pitchFamily="34" charset="-122"/>
                <a:cs typeface="Aptos" pitchFamily="34" charset="-120"/>
              </a:rPr>
              <a:t>Connect information security, machine learning, signal processing, and networking.</a:t>
            </a:r>
            <a:endParaRPr lang="en-US" sz="1080" dirty="0"/>
          </a:p>
          <a:p>
            <a:r>
              <a:rPr lang="en-US" sz="1080" dirty="0">
                <a:solidFill>
                  <a:srgbClr val="EAF7FB"/>
                </a:solidFill>
                <a:latin typeface="Aptos" pitchFamily="34" charset="0"/>
                <a:ea typeface="Aptos" pitchFamily="34" charset="-122"/>
                <a:cs typeface="Aptos" pitchFamily="34" charset="-120"/>
              </a:rPr>
              <a:t>Learn how to critically compare research papers.</a:t>
            </a:r>
            <a:endParaRPr lang="en-US" sz="1080" dirty="0"/>
          </a:p>
          <a:p>
            <a:r>
              <a:rPr lang="en-US" sz="1080" dirty="0">
                <a:solidFill>
                  <a:srgbClr val="EAF7FB"/>
                </a:solidFill>
                <a:latin typeface="Aptos" pitchFamily="34" charset="0"/>
                <a:ea typeface="Aptos" pitchFamily="34" charset="-122"/>
                <a:cs typeface="Aptos" pitchFamily="34" charset="-120"/>
              </a:rPr>
              <a:t>Build awareness of real deployment constraints: energy, delay, mobility, and scalability.</a:t>
            </a:r>
            <a:endParaRPr lang="en-US" sz="1080" dirty="0"/>
          </a:p>
        </p:txBody>
      </p:sp>
      <p:sp>
        <p:nvSpPr>
          <p:cNvPr id="21" name="Shape 19"/>
          <p:cNvSpPr/>
          <p:nvPr/>
        </p:nvSpPr>
        <p:spPr>
          <a:xfrm>
            <a:off x="6400800" y="1417320"/>
            <a:ext cx="5120640" cy="3566160"/>
          </a:xfrm>
          <a:prstGeom prst="roundRect">
            <a:avLst>
              <a:gd name="adj" fmla="val 2821"/>
            </a:avLst>
          </a:prstGeom>
          <a:solidFill>
            <a:srgbClr val="0E2A45"/>
          </a:solidFill>
          <a:ln w="12700">
            <a:solidFill>
              <a:srgbClr val="1B5676">
                <a:alpha val="95000"/>
              </a:srgbClr>
            </a:solidFill>
            <a:prstDash val="solid"/>
          </a:ln>
        </p:spPr>
        <p:txBody>
          <a:bodyPr/>
          <a:lstStyle/>
          <a:p>
            <a:endParaRPr lang="en-US"/>
          </a:p>
        </p:txBody>
      </p:sp>
      <p:sp>
        <p:nvSpPr>
          <p:cNvPr id="22" name="Text 20"/>
          <p:cNvSpPr/>
          <p:nvPr/>
        </p:nvSpPr>
        <p:spPr>
          <a:xfrm>
            <a:off x="6565392" y="1563624"/>
            <a:ext cx="4791456" cy="256032"/>
          </a:xfrm>
          <a:prstGeom prst="rect">
            <a:avLst/>
          </a:prstGeom>
          <a:noFill/>
          <a:ln/>
        </p:spPr>
        <p:txBody>
          <a:bodyPr wrap="square" lIns="0" tIns="0" rIns="0" bIns="0" rtlCol="0" anchor="ctr"/>
          <a:lstStyle/>
          <a:p>
            <a:pPr marL="0" indent="0">
              <a:buNone/>
            </a:pPr>
            <a:r>
              <a:rPr lang="en-US" sz="1250" b="1" dirty="0">
                <a:solidFill>
                  <a:srgbClr val="B9F7FF"/>
                </a:solidFill>
                <a:latin typeface="Aptos Display" pitchFamily="34" charset="0"/>
                <a:ea typeface="Aptos Display" pitchFamily="34" charset="-122"/>
                <a:cs typeface="Aptos Display" pitchFamily="34" charset="-120"/>
              </a:rPr>
              <a:t>For society</a:t>
            </a:r>
            <a:endParaRPr lang="en-US" sz="1250" dirty="0"/>
          </a:p>
        </p:txBody>
      </p:sp>
      <p:sp>
        <p:nvSpPr>
          <p:cNvPr id="23" name="Text 21"/>
          <p:cNvSpPr/>
          <p:nvPr/>
        </p:nvSpPr>
        <p:spPr>
          <a:xfrm>
            <a:off x="6583680" y="1929384"/>
            <a:ext cx="4773168" cy="2971800"/>
          </a:xfrm>
          <a:prstGeom prst="rect">
            <a:avLst/>
          </a:prstGeom>
          <a:noFill/>
          <a:ln/>
        </p:spPr>
        <p:txBody>
          <a:bodyPr wrap="square" lIns="508" tIns="508" rIns="508" bIns="508" rtlCol="0" anchor="t">
            <a:normAutofit/>
          </a:bodyPr>
          <a:lstStyle/>
          <a:p>
            <a:r>
              <a:rPr lang="en-US" sz="1080" dirty="0">
                <a:solidFill>
                  <a:srgbClr val="EAF7FB"/>
                </a:solidFill>
                <a:latin typeface="Aptos" pitchFamily="34" charset="0"/>
                <a:ea typeface="Aptos" pitchFamily="34" charset="-122"/>
                <a:cs typeface="Aptos" pitchFamily="34" charset="-120"/>
              </a:rPr>
              <a:t>Support safer marine monitoring and disaster-warning systems.</a:t>
            </a:r>
            <a:endParaRPr lang="en-US" sz="1080" dirty="0"/>
          </a:p>
          <a:p>
            <a:r>
              <a:rPr lang="en-US" sz="1080" dirty="0">
                <a:solidFill>
                  <a:srgbClr val="EAF7FB"/>
                </a:solidFill>
                <a:latin typeface="Aptos" pitchFamily="34" charset="0"/>
                <a:ea typeface="Aptos" pitchFamily="34" charset="-122"/>
                <a:cs typeface="Aptos" pitchFamily="34" charset="-120"/>
              </a:rPr>
              <a:t>Help protect underwater infrastructure and environmental sensing.</a:t>
            </a:r>
            <a:endParaRPr lang="en-US" sz="1080" dirty="0"/>
          </a:p>
          <a:p>
            <a:r>
              <a:rPr lang="en-US" sz="1080" dirty="0">
                <a:solidFill>
                  <a:srgbClr val="EAF7FB"/>
                </a:solidFill>
                <a:latin typeface="Aptos" pitchFamily="34" charset="0"/>
                <a:ea typeface="Aptos" pitchFamily="34" charset="-122"/>
                <a:cs typeface="Aptos" pitchFamily="34" charset="-120"/>
              </a:rPr>
              <a:t>Reduce risk of false data entering underwater decision systems.</a:t>
            </a:r>
            <a:endParaRPr lang="en-US" sz="1080" dirty="0"/>
          </a:p>
          <a:p>
            <a:r>
              <a:rPr lang="en-US" sz="1080" dirty="0">
                <a:solidFill>
                  <a:srgbClr val="EAF7FB"/>
                </a:solidFill>
                <a:latin typeface="Aptos" pitchFamily="34" charset="0"/>
                <a:ea typeface="Aptos" pitchFamily="34" charset="-122"/>
                <a:cs typeface="Aptos" pitchFamily="34" charset="-120"/>
              </a:rPr>
              <a:t>Encourage secure and sustainable underwater technology.</a:t>
            </a:r>
            <a:endParaRPr lang="en-US" sz="1080" dirty="0"/>
          </a:p>
        </p:txBody>
      </p:sp>
      <p:sp>
        <p:nvSpPr>
          <p:cNvPr id="24" name="Shape 22"/>
          <p:cNvSpPr/>
          <p:nvPr/>
        </p:nvSpPr>
        <p:spPr>
          <a:xfrm>
            <a:off x="1463040" y="5532120"/>
            <a:ext cx="9235440" cy="438912"/>
          </a:xfrm>
          <a:prstGeom prst="roundRect">
            <a:avLst>
              <a:gd name="adj" fmla="val 20833"/>
            </a:avLst>
          </a:prstGeom>
          <a:solidFill>
            <a:srgbClr val="00A7B5"/>
          </a:solidFill>
          <a:ln w="12700">
            <a:solidFill>
              <a:srgbClr val="65E4F5"/>
            </a:solidFill>
            <a:prstDash val="solid"/>
          </a:ln>
        </p:spPr>
        <p:txBody>
          <a:bodyPr/>
          <a:lstStyle/>
          <a:p>
            <a:endParaRPr lang="en-US"/>
          </a:p>
        </p:txBody>
      </p:sp>
      <p:sp>
        <p:nvSpPr>
          <p:cNvPr id="25" name="Text 23"/>
          <p:cNvSpPr/>
          <p:nvPr/>
        </p:nvSpPr>
        <p:spPr>
          <a:xfrm>
            <a:off x="1664208" y="5660136"/>
            <a:ext cx="8823960" cy="164592"/>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rPr>
              <a:t>“Securing underwater networks means protecting the trustworthiness of future ocean monitoring, exploration, and safety systems.”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6172A"/>
          </a:solidFill>
          <a:ln w="12700">
            <a:solidFill>
              <a:srgbClr val="06172A"/>
            </a:solidFill>
            <a:prstDash val="solid"/>
          </a:ln>
        </p:spPr>
        <p:txBody>
          <a:bodyPr/>
          <a:lstStyle/>
          <a:p>
            <a:endParaRPr lang="en-US"/>
          </a:p>
        </p:txBody>
      </p:sp>
      <p:sp>
        <p:nvSpPr>
          <p:cNvPr id="3" name="Shape 1"/>
          <p:cNvSpPr/>
          <p:nvPr/>
        </p:nvSpPr>
        <p:spPr>
          <a:xfrm>
            <a:off x="-1188720" y="4389120"/>
            <a:ext cx="6858000" cy="2194560"/>
          </a:xfrm>
          <a:prstGeom prst="arc">
            <a:avLst/>
          </a:prstGeom>
          <a:noFill/>
          <a:ln w="8890">
            <a:solidFill>
              <a:srgbClr val="1B5676">
                <a:alpha val="45000"/>
              </a:srgbClr>
            </a:solidFill>
            <a:prstDash val="solid"/>
          </a:ln>
        </p:spPr>
        <p:txBody>
          <a:bodyPr/>
          <a:lstStyle/>
          <a:p>
            <a:endParaRPr lang="en-US"/>
          </a:p>
        </p:txBody>
      </p:sp>
      <p:sp>
        <p:nvSpPr>
          <p:cNvPr id="4" name="Shape 2"/>
          <p:cNvSpPr/>
          <p:nvPr/>
        </p:nvSpPr>
        <p:spPr>
          <a:xfrm>
            <a:off x="-1005840" y="4645152"/>
            <a:ext cx="6858000" cy="2194560"/>
          </a:xfrm>
          <a:prstGeom prst="arc">
            <a:avLst/>
          </a:prstGeom>
          <a:noFill/>
          <a:ln w="8890">
            <a:solidFill>
              <a:srgbClr val="0B3552">
                <a:alpha val="45000"/>
              </a:srgbClr>
            </a:solidFill>
            <a:prstDash val="solid"/>
          </a:ln>
        </p:spPr>
        <p:txBody>
          <a:bodyPr/>
          <a:lstStyle/>
          <a:p>
            <a:endParaRPr lang="en-US"/>
          </a:p>
        </p:txBody>
      </p:sp>
      <p:sp>
        <p:nvSpPr>
          <p:cNvPr id="5" name="Shape 3"/>
          <p:cNvSpPr/>
          <p:nvPr/>
        </p:nvSpPr>
        <p:spPr>
          <a:xfrm>
            <a:off x="-822960" y="4901184"/>
            <a:ext cx="6858000" cy="2194560"/>
          </a:xfrm>
          <a:prstGeom prst="arc">
            <a:avLst/>
          </a:prstGeom>
          <a:noFill/>
          <a:ln w="8890">
            <a:solidFill>
              <a:srgbClr val="1B5676">
                <a:alpha val="45000"/>
              </a:srgbClr>
            </a:solidFill>
            <a:prstDash val="solid"/>
          </a:ln>
        </p:spPr>
        <p:txBody>
          <a:bodyPr/>
          <a:lstStyle/>
          <a:p>
            <a:endParaRPr lang="en-US"/>
          </a:p>
        </p:txBody>
      </p:sp>
      <p:sp>
        <p:nvSpPr>
          <p:cNvPr id="6" name="Shape 4"/>
          <p:cNvSpPr/>
          <p:nvPr/>
        </p:nvSpPr>
        <p:spPr>
          <a:xfrm>
            <a:off x="-640080" y="5157216"/>
            <a:ext cx="6858000" cy="2194560"/>
          </a:xfrm>
          <a:prstGeom prst="arc">
            <a:avLst/>
          </a:prstGeom>
          <a:noFill/>
          <a:ln w="8890">
            <a:solidFill>
              <a:srgbClr val="0B3552">
                <a:alpha val="45000"/>
              </a:srgbClr>
            </a:solidFill>
            <a:prstDash val="solid"/>
          </a:ln>
        </p:spPr>
        <p:txBody>
          <a:bodyPr/>
          <a:lstStyle/>
          <a:p>
            <a:endParaRPr lang="en-US"/>
          </a:p>
        </p:txBody>
      </p:sp>
      <p:sp>
        <p:nvSpPr>
          <p:cNvPr id="7" name="Shape 5"/>
          <p:cNvSpPr/>
          <p:nvPr/>
        </p:nvSpPr>
        <p:spPr>
          <a:xfrm>
            <a:off x="-457200" y="5413248"/>
            <a:ext cx="6858000" cy="2194560"/>
          </a:xfrm>
          <a:prstGeom prst="arc">
            <a:avLst/>
          </a:prstGeom>
          <a:noFill/>
          <a:ln w="8890">
            <a:solidFill>
              <a:srgbClr val="1B5676">
                <a:alpha val="45000"/>
              </a:srgbClr>
            </a:solidFill>
            <a:prstDash val="solid"/>
          </a:ln>
        </p:spPr>
        <p:txBody>
          <a:bodyPr/>
          <a:lstStyle/>
          <a:p>
            <a:endParaRPr lang="en-US"/>
          </a:p>
        </p:txBody>
      </p:sp>
      <p:sp>
        <p:nvSpPr>
          <p:cNvPr id="8" name="Shape 6"/>
          <p:cNvSpPr/>
          <p:nvPr/>
        </p:nvSpPr>
        <p:spPr>
          <a:xfrm>
            <a:off x="-274320" y="5669280"/>
            <a:ext cx="6858000" cy="2194560"/>
          </a:xfrm>
          <a:prstGeom prst="arc">
            <a:avLst/>
          </a:prstGeom>
          <a:noFill/>
          <a:ln w="8890">
            <a:solidFill>
              <a:srgbClr val="0B3552">
                <a:alpha val="45000"/>
              </a:srgbClr>
            </a:solidFill>
            <a:prstDash val="solid"/>
          </a:ln>
        </p:spPr>
        <p:txBody>
          <a:bodyPr/>
          <a:lstStyle/>
          <a:p>
            <a:endParaRPr lang="en-US"/>
          </a:p>
        </p:txBody>
      </p:sp>
      <p:sp>
        <p:nvSpPr>
          <p:cNvPr id="9" name="Shape 7"/>
          <p:cNvSpPr/>
          <p:nvPr/>
        </p:nvSpPr>
        <p:spPr>
          <a:xfrm>
            <a:off x="7498080" y="365760"/>
            <a:ext cx="4297680" cy="1417320"/>
          </a:xfrm>
          <a:prstGeom prst="arc">
            <a:avLst/>
          </a:prstGeom>
          <a:noFill/>
          <a:ln w="7620">
            <a:solidFill>
              <a:srgbClr val="1B5676">
                <a:alpha val="35000"/>
              </a:srgbClr>
            </a:solidFill>
            <a:prstDash val="solid"/>
          </a:ln>
        </p:spPr>
        <p:txBody>
          <a:bodyPr/>
          <a:lstStyle/>
          <a:p>
            <a:endParaRPr lang="en-US"/>
          </a:p>
        </p:txBody>
      </p:sp>
      <p:sp>
        <p:nvSpPr>
          <p:cNvPr id="10" name="Shape 8"/>
          <p:cNvSpPr/>
          <p:nvPr/>
        </p:nvSpPr>
        <p:spPr>
          <a:xfrm>
            <a:off x="7699248" y="512064"/>
            <a:ext cx="4297680" cy="1417320"/>
          </a:xfrm>
          <a:prstGeom prst="arc">
            <a:avLst/>
          </a:prstGeom>
          <a:noFill/>
          <a:ln w="7620">
            <a:solidFill>
              <a:srgbClr val="1B5676">
                <a:alpha val="35000"/>
              </a:srgbClr>
            </a:solidFill>
            <a:prstDash val="solid"/>
          </a:ln>
        </p:spPr>
        <p:txBody>
          <a:bodyPr/>
          <a:lstStyle/>
          <a:p>
            <a:endParaRPr lang="en-US"/>
          </a:p>
        </p:txBody>
      </p:sp>
      <p:sp>
        <p:nvSpPr>
          <p:cNvPr id="11" name="Shape 9"/>
          <p:cNvSpPr/>
          <p:nvPr/>
        </p:nvSpPr>
        <p:spPr>
          <a:xfrm>
            <a:off x="7900416" y="658368"/>
            <a:ext cx="4297680" cy="1417320"/>
          </a:xfrm>
          <a:prstGeom prst="arc">
            <a:avLst/>
          </a:prstGeom>
          <a:noFill/>
          <a:ln w="7620">
            <a:solidFill>
              <a:srgbClr val="1B5676">
                <a:alpha val="35000"/>
              </a:srgbClr>
            </a:solidFill>
            <a:prstDash val="solid"/>
          </a:ln>
        </p:spPr>
        <p:txBody>
          <a:bodyPr/>
          <a:lstStyle/>
          <a:p>
            <a:endParaRPr lang="en-US"/>
          </a:p>
        </p:txBody>
      </p:sp>
      <p:sp>
        <p:nvSpPr>
          <p:cNvPr id="12" name="Shape 10"/>
          <p:cNvSpPr/>
          <p:nvPr/>
        </p:nvSpPr>
        <p:spPr>
          <a:xfrm>
            <a:off x="8101584" y="804672"/>
            <a:ext cx="4297680" cy="1417320"/>
          </a:xfrm>
          <a:prstGeom prst="arc">
            <a:avLst/>
          </a:prstGeom>
          <a:noFill/>
          <a:ln w="7620">
            <a:solidFill>
              <a:srgbClr val="1B5676">
                <a:alpha val="35000"/>
              </a:srgbClr>
            </a:solidFill>
            <a:prstDash val="solid"/>
          </a:ln>
        </p:spPr>
        <p:txBody>
          <a:bodyPr/>
          <a:lstStyle/>
          <a:p>
            <a:endParaRPr lang="en-US"/>
          </a:p>
        </p:txBody>
      </p:sp>
      <p:sp>
        <p:nvSpPr>
          <p:cNvPr id="13" name="Text 11"/>
          <p:cNvSpPr/>
          <p:nvPr/>
        </p:nvSpPr>
        <p:spPr>
          <a:xfrm>
            <a:off x="365760" y="109728"/>
            <a:ext cx="7040880" cy="228600"/>
          </a:xfrm>
          <a:prstGeom prst="rect">
            <a:avLst/>
          </a:prstGeom>
          <a:noFill/>
          <a:ln/>
        </p:spPr>
        <p:txBody>
          <a:bodyPr wrap="square" lIns="0" tIns="0" rIns="0" bIns="0" rtlCol="0" anchor="ctr"/>
          <a:lstStyle/>
          <a:p>
            <a:pPr marL="0" indent="0">
              <a:buNone/>
            </a:pPr>
            <a:r>
              <a:rPr lang="en-US" sz="860" dirty="0">
                <a:solidFill>
                  <a:srgbClr val="AFC8D8"/>
                </a:solidFill>
                <a:latin typeface="Aptos" pitchFamily="34" charset="0"/>
                <a:ea typeface="Aptos" pitchFamily="34" charset="-122"/>
                <a:cs typeface="Aptos" pitchFamily="34" charset="-120"/>
              </a:rPr>
              <a:t>IoUT Spoofing Defense | PLA Comparative Review</a:t>
            </a:r>
            <a:endParaRPr lang="en-US" sz="860" dirty="0"/>
          </a:p>
        </p:txBody>
      </p:sp>
      <p:sp>
        <p:nvSpPr>
          <p:cNvPr id="14" name="Text 12"/>
          <p:cNvSpPr/>
          <p:nvPr/>
        </p:nvSpPr>
        <p:spPr>
          <a:xfrm>
            <a:off x="11475720" y="109728"/>
            <a:ext cx="320040" cy="228600"/>
          </a:xfrm>
          <a:prstGeom prst="rect">
            <a:avLst/>
          </a:prstGeom>
          <a:noFill/>
          <a:ln/>
        </p:spPr>
        <p:txBody>
          <a:bodyPr wrap="square" lIns="0" tIns="0" rIns="0" bIns="0" rtlCol="0" anchor="ctr"/>
          <a:lstStyle/>
          <a:p>
            <a:pPr marL="0" indent="0" algn="r">
              <a:buNone/>
            </a:pPr>
            <a:r>
              <a:rPr lang="en-US" sz="860" dirty="0">
                <a:solidFill>
                  <a:srgbClr val="65E4F5"/>
                </a:solidFill>
                <a:latin typeface="Aptos" pitchFamily="34" charset="0"/>
                <a:ea typeface="Aptos" pitchFamily="34" charset="-122"/>
                <a:cs typeface="Aptos" pitchFamily="34" charset="-120"/>
              </a:rPr>
              <a:t>21</a:t>
            </a:r>
            <a:endParaRPr lang="en-US" sz="860" dirty="0"/>
          </a:p>
        </p:txBody>
      </p:sp>
      <p:sp>
        <p:nvSpPr>
          <p:cNvPr id="15" name="Shape 13"/>
          <p:cNvSpPr/>
          <p:nvPr/>
        </p:nvSpPr>
        <p:spPr>
          <a:xfrm>
            <a:off x="365760" y="438912"/>
            <a:ext cx="11430000" cy="0"/>
          </a:xfrm>
          <a:prstGeom prst="line">
            <a:avLst/>
          </a:prstGeom>
          <a:noFill/>
          <a:ln w="7620">
            <a:solidFill>
              <a:srgbClr val="1B5676">
                <a:alpha val="65000"/>
              </a:srgbClr>
            </a:solidFill>
            <a:prstDash val="solid"/>
          </a:ln>
        </p:spPr>
        <p:txBody>
          <a:bodyPr/>
          <a:lstStyle/>
          <a:p>
            <a:endParaRPr lang="en-US"/>
          </a:p>
        </p:txBody>
      </p:sp>
      <p:sp>
        <p:nvSpPr>
          <p:cNvPr id="16" name="Text 14"/>
          <p:cNvSpPr/>
          <p:nvPr/>
        </p:nvSpPr>
        <p:spPr>
          <a:xfrm>
            <a:off x="502920" y="621792"/>
            <a:ext cx="7680960" cy="41148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Appendix — References</a:t>
            </a:r>
            <a:endParaRPr lang="en-US" sz="2400" dirty="0"/>
          </a:p>
        </p:txBody>
      </p:sp>
      <p:sp>
        <p:nvSpPr>
          <p:cNvPr id="17" name="Text 15"/>
          <p:cNvSpPr/>
          <p:nvPr/>
        </p:nvSpPr>
        <p:spPr>
          <a:xfrm>
            <a:off x="530352" y="1078992"/>
            <a:ext cx="7498080" cy="292608"/>
          </a:xfrm>
          <a:prstGeom prst="rect">
            <a:avLst/>
          </a:prstGeom>
          <a:noFill/>
          <a:ln/>
        </p:spPr>
        <p:txBody>
          <a:bodyPr wrap="square" lIns="0" tIns="0" rIns="0" bIns="0" rtlCol="0" anchor="ctr"/>
          <a:lstStyle/>
          <a:p>
            <a:pPr marL="0" indent="0">
              <a:buNone/>
            </a:pPr>
            <a:r>
              <a:rPr lang="en-US" sz="1050" dirty="0">
                <a:solidFill>
                  <a:srgbClr val="B9F7FF"/>
                </a:solidFill>
                <a:latin typeface="Aptos" pitchFamily="34" charset="0"/>
                <a:ea typeface="Aptos" pitchFamily="34" charset="-122"/>
                <a:cs typeface="Aptos" pitchFamily="34" charset="-120"/>
              </a:rPr>
              <a:t>Reviewed studies from the uploaded paper</a:t>
            </a:r>
            <a:endParaRPr lang="en-US" sz="1050" dirty="0"/>
          </a:p>
        </p:txBody>
      </p:sp>
      <p:sp>
        <p:nvSpPr>
          <p:cNvPr id="18" name="Shape 16"/>
          <p:cNvSpPr/>
          <p:nvPr/>
        </p:nvSpPr>
        <p:spPr>
          <a:xfrm>
            <a:off x="685800" y="1234440"/>
            <a:ext cx="10881360" cy="4526280"/>
          </a:xfrm>
          <a:prstGeom prst="roundRect">
            <a:avLst>
              <a:gd name="adj" fmla="val 2222"/>
            </a:avLst>
          </a:prstGeom>
          <a:solidFill>
            <a:srgbClr val="0E2A45"/>
          </a:solidFill>
          <a:ln w="12700">
            <a:solidFill>
              <a:srgbClr val="1B5676">
                <a:alpha val="95000"/>
              </a:srgbClr>
            </a:solidFill>
            <a:prstDash val="solid"/>
          </a:ln>
        </p:spPr>
        <p:txBody>
          <a:bodyPr/>
          <a:lstStyle/>
          <a:p>
            <a:endParaRPr lang="en-US"/>
          </a:p>
        </p:txBody>
      </p:sp>
      <p:sp>
        <p:nvSpPr>
          <p:cNvPr id="19" name="Text 17"/>
          <p:cNvSpPr/>
          <p:nvPr/>
        </p:nvSpPr>
        <p:spPr>
          <a:xfrm>
            <a:off x="850392" y="1380744"/>
            <a:ext cx="10552176" cy="256032"/>
          </a:xfrm>
          <a:prstGeom prst="rect">
            <a:avLst/>
          </a:prstGeom>
          <a:noFill/>
          <a:ln/>
        </p:spPr>
        <p:txBody>
          <a:bodyPr wrap="square" lIns="0" tIns="0" rIns="0" bIns="0" rtlCol="0" anchor="ctr"/>
          <a:lstStyle/>
          <a:p>
            <a:pPr marL="0" indent="0">
              <a:buNone/>
            </a:pPr>
            <a:r>
              <a:rPr lang="en-US" sz="1200" b="1" dirty="0">
                <a:solidFill>
                  <a:srgbClr val="B9F7FF"/>
                </a:solidFill>
                <a:latin typeface="Aptos Display" pitchFamily="34" charset="0"/>
                <a:ea typeface="Aptos Display" pitchFamily="34" charset="-122"/>
                <a:cs typeface="Aptos Display" pitchFamily="34" charset="-120"/>
              </a:rPr>
              <a:t>Compact citation key</a:t>
            </a:r>
            <a:endParaRPr lang="en-US" sz="1200" dirty="0"/>
          </a:p>
        </p:txBody>
      </p:sp>
      <p:sp>
        <p:nvSpPr>
          <p:cNvPr id="20" name="Text 18"/>
          <p:cNvSpPr/>
          <p:nvPr/>
        </p:nvSpPr>
        <p:spPr>
          <a:xfrm>
            <a:off x="868680" y="1746504"/>
            <a:ext cx="10533888" cy="3931920"/>
          </a:xfrm>
          <a:prstGeom prst="rect">
            <a:avLst/>
          </a:prstGeom>
          <a:noFill/>
          <a:ln/>
        </p:spPr>
        <p:txBody>
          <a:bodyPr wrap="square" lIns="508" tIns="508" rIns="508" bIns="508" rtlCol="0" anchor="t">
            <a:normAutofit/>
          </a:bodyPr>
          <a:lstStyle/>
          <a:p>
            <a:r>
              <a:rPr lang="en-US" sz="880" dirty="0">
                <a:solidFill>
                  <a:srgbClr val="EAF7FB"/>
                </a:solidFill>
                <a:latin typeface="Aptos" pitchFamily="34" charset="0"/>
                <a:ea typeface="Aptos" pitchFamily="34" charset="-122"/>
                <a:cs typeface="Aptos" pitchFamily="34" charset="-120"/>
              </a:rPr>
              <a:t>Zhao et al. [1] — PLA without adversary training data; IEEE Sensors Journal, 2023.</a:t>
            </a:r>
            <a:endParaRPr lang="en-US" sz="880" dirty="0"/>
          </a:p>
          <a:p>
            <a:r>
              <a:rPr lang="en-US" sz="880" dirty="0">
                <a:solidFill>
                  <a:srgbClr val="EAF7FB"/>
                </a:solidFill>
                <a:latin typeface="Aptos" pitchFamily="34" charset="0"/>
                <a:ea typeface="Aptos" pitchFamily="34" charset="-122"/>
                <a:cs typeface="Aptos" pitchFamily="34" charset="-120"/>
              </a:rPr>
              <a:t>Shi et al. [2] — Database-based PLA for dynamic underwater acoustic networks; OCEANS 2023.</a:t>
            </a:r>
            <a:endParaRPr lang="en-US" sz="880" dirty="0"/>
          </a:p>
          <a:p>
            <a:r>
              <a:rPr lang="en-US" sz="880" dirty="0">
                <a:solidFill>
                  <a:srgbClr val="EAF7FB"/>
                </a:solidFill>
                <a:latin typeface="Aptos" pitchFamily="34" charset="0"/>
                <a:ea typeface="Aptos" pitchFamily="34" charset="-122"/>
                <a:cs typeface="Aptos" pitchFamily="34" charset="-120"/>
              </a:rPr>
              <a:t>Zhao et al. [3] — Differential CIR feature-based PLA; IEEE Sensors Journal, 2025.</a:t>
            </a:r>
            <a:endParaRPr lang="en-US" sz="880" dirty="0"/>
          </a:p>
          <a:p>
            <a:r>
              <a:rPr lang="en-US" sz="880" dirty="0">
                <a:solidFill>
                  <a:srgbClr val="EAF7FB"/>
                </a:solidFill>
                <a:latin typeface="Aptos" pitchFamily="34" charset="0"/>
                <a:ea typeface="Aptos" pitchFamily="34" charset="-122"/>
                <a:cs typeface="Aptos" pitchFamily="34" charset="-120"/>
              </a:rPr>
              <a:t>Xiao et al. [4] — RL/DRL learning-based PHY-layer authentication; IEEE Communications Letters, 2019.</a:t>
            </a:r>
            <a:endParaRPr lang="en-US" sz="880" dirty="0"/>
          </a:p>
          <a:p>
            <a:r>
              <a:rPr lang="en-US" sz="880" dirty="0">
                <a:solidFill>
                  <a:srgbClr val="EAF7FB"/>
                </a:solidFill>
                <a:latin typeface="Aptos" pitchFamily="34" charset="0"/>
                <a:ea typeface="Aptos" pitchFamily="34" charset="-122"/>
                <a:cs typeface="Aptos" pitchFamily="34" charset="-120"/>
              </a:rPr>
              <a:t>Ardizzon et al. [5] — RNN/LSTM mobile PLA; Computer Networks, 2024.</a:t>
            </a:r>
            <a:endParaRPr lang="en-US" sz="880" dirty="0"/>
          </a:p>
          <a:p>
            <a:r>
              <a:rPr lang="en-US" sz="880" dirty="0">
                <a:solidFill>
                  <a:srgbClr val="EAF7FB"/>
                </a:solidFill>
                <a:latin typeface="Aptos" pitchFamily="34" charset="0"/>
                <a:ea typeface="Aptos" pitchFamily="34" charset="-122"/>
                <a:cs typeface="Aptos" pitchFamily="34" charset="-120"/>
              </a:rPr>
              <a:t>Ventura et al. [6] — Location-tracking authentication; arXiv preprint, 2024.</a:t>
            </a:r>
            <a:endParaRPr lang="en-US" sz="880" dirty="0"/>
          </a:p>
          <a:p>
            <a:r>
              <a:rPr lang="en-US" sz="880" dirty="0">
                <a:solidFill>
                  <a:srgbClr val="EAF7FB"/>
                </a:solidFill>
                <a:latin typeface="Aptos" pitchFamily="34" charset="0"/>
                <a:ea typeface="Aptos" pitchFamily="34" charset="-122"/>
                <a:cs typeface="Aptos" pitchFamily="34" charset="-120"/>
              </a:rPr>
              <a:t>Diamant et al. [7] — Cooperative authentication; IEEE Transactions on Wireless Communications, 2019.</a:t>
            </a:r>
            <a:endParaRPr lang="en-US" sz="880" dirty="0"/>
          </a:p>
          <a:p>
            <a:r>
              <a:rPr lang="en-US" sz="880" dirty="0">
                <a:solidFill>
                  <a:srgbClr val="EAF7FB"/>
                </a:solidFill>
                <a:latin typeface="Aptos" pitchFamily="34" charset="0"/>
                <a:ea typeface="Aptos" pitchFamily="34" charset="-122"/>
                <a:cs typeface="Aptos" pitchFamily="34" charset="-120"/>
              </a:rPr>
              <a:t>Zhao et al. [8] — Time-reversal PLA; IEEE Sensors Journal, 2022.</a:t>
            </a:r>
            <a:endParaRPr lang="en-US" sz="880" dirty="0"/>
          </a:p>
          <a:p>
            <a:r>
              <a:rPr lang="en-US" sz="880" dirty="0">
                <a:solidFill>
                  <a:srgbClr val="EAF7FB"/>
                </a:solidFill>
                <a:latin typeface="Aptos" pitchFamily="34" charset="0"/>
                <a:ea typeface="Aptos" pitchFamily="34" charset="-122"/>
                <a:cs typeface="Aptos" pitchFamily="34" charset="-120"/>
              </a:rPr>
              <a:t>Aman et al. [9] — LoS impersonation detection; IEEE Access, 2018.</a:t>
            </a:r>
            <a:endParaRPr lang="en-US" sz="880" dirty="0"/>
          </a:p>
          <a:p>
            <a:r>
              <a:rPr lang="en-US" sz="880" dirty="0">
                <a:solidFill>
                  <a:srgbClr val="EAF7FB"/>
                </a:solidFill>
                <a:latin typeface="Aptos" pitchFamily="34" charset="0"/>
                <a:ea typeface="Aptos" pitchFamily="34" charset="-122"/>
                <a:cs typeface="Aptos" pitchFamily="34" charset="-120"/>
              </a:rPr>
              <a:t>Casari et al. [10] — Mobility-aware PLA with mobile devices; WUWNet, 2022.</a:t>
            </a:r>
            <a:endParaRPr lang="en-US" sz="880" dirty="0"/>
          </a:p>
        </p:txBody>
      </p:sp>
      <p:sp>
        <p:nvSpPr>
          <p:cNvPr id="21" name="Text 19"/>
          <p:cNvSpPr/>
          <p:nvPr/>
        </p:nvSpPr>
        <p:spPr>
          <a:xfrm>
            <a:off x="1280160" y="5943600"/>
            <a:ext cx="9692640" cy="228600"/>
          </a:xfrm>
          <a:prstGeom prst="rect">
            <a:avLst/>
          </a:prstGeom>
          <a:noFill/>
          <a:ln/>
        </p:spPr>
        <p:txBody>
          <a:bodyPr wrap="square" lIns="0" tIns="0" rIns="0" bIns="0" rtlCol="0" anchor="ctr"/>
          <a:lstStyle/>
          <a:p>
            <a:pPr marL="0" indent="0" algn="ctr">
              <a:buNone/>
            </a:pPr>
            <a:r>
              <a:rPr lang="en-US" sz="900" b="1" dirty="0">
                <a:solidFill>
                  <a:srgbClr val="B9F7FF"/>
                </a:solidFill>
              </a:rPr>
              <a:t>Use this slide only as backup for viva questions; the main presentation ends on Slide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4796</Words>
  <Application>Microsoft Office PowerPoint</Application>
  <PresentationFormat>Widescreen</PresentationFormat>
  <Paragraphs>464</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Introduction to Information Security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and Prevention of Spoofing Attacks in the Internet of Underwater Things</dc:title>
  <dc:subject>Updated presentation with labeled citations, research questions, comparison matrix, and qualitative table</dc:subject>
  <dc:creator>OpenAI</dc:creator>
  <cp:lastModifiedBy>SEHRISH SIDDIQUE</cp:lastModifiedBy>
  <cp:revision>2</cp:revision>
  <dcterms:created xsi:type="dcterms:W3CDTF">2026-06-08T10:27:54Z</dcterms:created>
  <dcterms:modified xsi:type="dcterms:W3CDTF">2026-06-08T19:49:17Z</dcterms:modified>
</cp:coreProperties>
</file>